
<file path=[Content_Types].xml><?xml version="1.0" encoding="utf-8"?>
<Types xmlns="http://schemas.openxmlformats.org/package/2006/content-types">
  <Default Extension="png" ContentType="image/png"/>
  <Default Extension="jpeg" ContentType="image/jpeg"/>
  <Default Extension="emf" ContentType="image/x-emf"/>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9"/>
  </p:notesMasterIdLst>
  <p:handoutMasterIdLst>
    <p:handoutMasterId r:id="rId40"/>
  </p:handoutMasterIdLst>
  <p:sldIdLst>
    <p:sldId id="256" r:id="rId2"/>
    <p:sldId id="284" r:id="rId3"/>
    <p:sldId id="289" r:id="rId4"/>
    <p:sldId id="286" r:id="rId5"/>
    <p:sldId id="285" r:id="rId6"/>
    <p:sldId id="287" r:id="rId7"/>
    <p:sldId id="261" r:id="rId8"/>
    <p:sldId id="303" r:id="rId9"/>
    <p:sldId id="288" r:id="rId10"/>
    <p:sldId id="309" r:id="rId11"/>
    <p:sldId id="304" r:id="rId12"/>
    <p:sldId id="265" r:id="rId13"/>
    <p:sldId id="301" r:id="rId14"/>
    <p:sldId id="266" r:id="rId15"/>
    <p:sldId id="302" r:id="rId16"/>
    <p:sldId id="267" r:id="rId17"/>
    <p:sldId id="268" r:id="rId18"/>
    <p:sldId id="310" r:id="rId19"/>
    <p:sldId id="277" r:id="rId20"/>
    <p:sldId id="305" r:id="rId21"/>
    <p:sldId id="306" r:id="rId22"/>
    <p:sldId id="279" r:id="rId23"/>
    <p:sldId id="308" r:id="rId24"/>
    <p:sldId id="307" r:id="rId25"/>
    <p:sldId id="296" r:id="rId26"/>
    <p:sldId id="311" r:id="rId27"/>
    <p:sldId id="298" r:id="rId28"/>
    <p:sldId id="299" r:id="rId29"/>
    <p:sldId id="293" r:id="rId30"/>
    <p:sldId id="276" r:id="rId31"/>
    <p:sldId id="312" r:id="rId32"/>
    <p:sldId id="297" r:id="rId33"/>
    <p:sldId id="300" r:id="rId34"/>
    <p:sldId id="314" r:id="rId35"/>
    <p:sldId id="315" r:id="rId36"/>
    <p:sldId id="281" r:id="rId37"/>
    <p:sldId id="280" r:id="rId38"/>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73">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uteur"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866"/>
    <p:restoredTop sz="88789" autoAdjust="0"/>
  </p:normalViewPr>
  <p:slideViewPr>
    <p:cSldViewPr snapToGrid="0" showGuides="1">
      <p:cViewPr>
        <p:scale>
          <a:sx n="93" d="100"/>
          <a:sy n="93" d="100"/>
        </p:scale>
        <p:origin x="-1498" y="-85"/>
      </p:cViewPr>
      <p:guideLst>
        <p:guide orient="horz" pos="2173"/>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fr-FR"/>
          </a:p>
        </p:txBody>
      </p:sp>
      <p:sp>
        <p:nvSpPr>
          <p:cNvPr id="3" name="Espace réservé de la date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EAC6992A-9BFB-42D1-8034-60232A45E64D}" type="datetimeFigureOut">
              <a:rPr lang="fr-FR" smtClean="0"/>
              <a:t>26/05/2019</a:t>
            </a:fld>
            <a:endParaRPr lang="fr-FR"/>
          </a:p>
        </p:txBody>
      </p:sp>
      <p:sp>
        <p:nvSpPr>
          <p:cNvPr id="4" name="Espace réservé du pied de page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D59A552F-37DF-4C0B-9E13-8F1FB6A375E9}" type="slidenum">
              <a:rPr lang="fr-FR" smtClean="0"/>
              <a:t>‹nº›</a:t>
            </a:fld>
            <a:endParaRPr lang="fr-FR"/>
          </a:p>
        </p:txBody>
      </p:sp>
    </p:spTree>
    <p:extLst>
      <p:ext uri="{BB962C8B-B14F-4D97-AF65-F5344CB8AC3E}">
        <p14:creationId xmlns:p14="http://schemas.microsoft.com/office/powerpoint/2010/main" val="24747877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Espace réservé de la date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72B1F79F-3ED8-422E-9351-119744863ED2}" type="datetimeFigureOut">
              <a:rPr lang="en-US" smtClean="0"/>
              <a:t>5/26/2019</a:t>
            </a:fld>
            <a:endParaRPr lang="en-US"/>
          </a:p>
        </p:txBody>
      </p:sp>
      <p:sp>
        <p:nvSpPr>
          <p:cNvPr id="4" name="Espace réservé de l'image des diapositives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Espace réservé des commentaires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Espace réservé du pied de page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Espace réservé du numéro de diapositive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955D2AD8-DB2F-49C5-B1EF-97CA679841A3}" type="slidenum">
              <a:rPr lang="en-US" smtClean="0"/>
              <a:t>‹nº›</a:t>
            </a:fld>
            <a:endParaRPr lang="en-US"/>
          </a:p>
        </p:txBody>
      </p:sp>
    </p:spTree>
    <p:extLst>
      <p:ext uri="{BB962C8B-B14F-4D97-AF65-F5344CB8AC3E}">
        <p14:creationId xmlns:p14="http://schemas.microsoft.com/office/powerpoint/2010/main" val="32427581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8" Type="http://schemas.openxmlformats.org/officeDocument/2006/relationships/hyperlink" Target="https://en.wikipedia.org/wiki/Hurricane_Wilma" TargetMode="External"/><Relationship Id="rId3" Type="http://schemas.openxmlformats.org/officeDocument/2006/relationships/hyperlink" Target="https://en.wikipedia.org/wiki/Atlantic_hurricane" TargetMode="External"/><Relationship Id="rId7" Type="http://schemas.openxmlformats.org/officeDocument/2006/relationships/hyperlink" Target="https://en.wikipedia.org/wiki/List_of_the_most_intense_tropical_cyclones#North_Atlantic_Ocean" TargetMode="External"/><Relationship Id="rId2" Type="http://schemas.openxmlformats.org/officeDocument/2006/relationships/slide" Target="../slides/slide16.xml"/><Relationship Id="rId1" Type="http://schemas.openxmlformats.org/officeDocument/2006/relationships/notesMaster" Target="../notesMasters/notesMaster1.xml"/><Relationship Id="rId6" Type="http://schemas.openxmlformats.org/officeDocument/2006/relationships/hyperlink" Target="https://en.wikipedia.org/wiki/2005_Atlantic_hurricane_season" TargetMode="External"/><Relationship Id="rId5" Type="http://schemas.openxmlformats.org/officeDocument/2006/relationships/hyperlink" Target="https://en.wikipedia.org/wiki/Gulf_of_Mexico" TargetMode="External"/><Relationship Id="rId4" Type="http://schemas.openxmlformats.org/officeDocument/2006/relationships/hyperlink" Target="https://en.wikipedia.org/wiki/Tropical_cyclone" TargetMode="External"/><Relationship Id="rId9" Type="http://schemas.openxmlformats.org/officeDocument/2006/relationships/hyperlink" Target="https://en.wikipedia.org/wiki/Hurricane_Katrina"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8" Type="http://schemas.openxmlformats.org/officeDocument/2006/relationships/hyperlink" Target="https://en.wikipedia.org/wiki/Epizootic" TargetMode="External"/><Relationship Id="rId13" Type="http://schemas.openxmlformats.org/officeDocument/2006/relationships/hyperlink" Target="https://en.wikipedia.org/wiki/British_Rally_Championship" TargetMode="External"/><Relationship Id="rId3" Type="http://schemas.openxmlformats.org/officeDocument/2006/relationships/hyperlink" Target="https://www.researchgate.net/publication/5454878_Economic_Costs_of_the_Foot_and_Mouth_Disease_Outbreak_in_the_United_Kingdom_in_2001" TargetMode="External"/><Relationship Id="rId7" Type="http://schemas.openxmlformats.org/officeDocument/2006/relationships/hyperlink" Target="https://en.wikipedia.org/wiki/Tourism" TargetMode="External"/><Relationship Id="rId12" Type="http://schemas.openxmlformats.org/officeDocument/2006/relationships/hyperlink" Target="https://en.wikipedia.org/wiki/Cheltenham_Festival" TargetMode="External"/><Relationship Id="rId2" Type="http://schemas.openxmlformats.org/officeDocument/2006/relationships/slide" Target="../slides/slide29.xml"/><Relationship Id="rId1" Type="http://schemas.openxmlformats.org/officeDocument/2006/relationships/notesMaster" Target="../notesMasters/notesMaster1.xml"/><Relationship Id="rId6" Type="http://schemas.openxmlformats.org/officeDocument/2006/relationships/hyperlink" Target="https://en.wikipedia.org/wiki/Agriculture" TargetMode="External"/><Relationship Id="rId11" Type="http://schemas.openxmlformats.org/officeDocument/2006/relationships/hyperlink" Target="https://en.wikipedia.org/wiki/Lake_District" TargetMode="External"/><Relationship Id="rId5" Type="http://schemas.openxmlformats.org/officeDocument/2006/relationships/hyperlink" Target="https://en.wikipedia.org/wiki/United_Kingdom" TargetMode="External"/><Relationship Id="rId10" Type="http://schemas.openxmlformats.org/officeDocument/2006/relationships/hyperlink" Target="https://en.wikipedia.org/wiki/Cumbria" TargetMode="External"/><Relationship Id="rId4" Type="http://schemas.openxmlformats.org/officeDocument/2006/relationships/hyperlink" Target="https://en.wikipedia.org/wiki/Foot-and-mouth_disease" TargetMode="External"/><Relationship Id="rId9" Type="http://schemas.openxmlformats.org/officeDocument/2006/relationships/hyperlink" Target="https://en.wikipedia.org/wiki/2001_United_Kingdom_foot-and-mouth_outbreak#cite_note-1" TargetMode="External"/><Relationship Id="rId14" Type="http://schemas.openxmlformats.org/officeDocument/2006/relationships/hyperlink" Target="https://en.wikipedia.org/wiki/2001_UK_General_Election"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955D2AD8-DB2F-49C5-B1EF-97CA679841A3}" type="slidenum">
              <a:rPr lang="en-US" smtClean="0"/>
              <a:t>13</a:t>
            </a:fld>
            <a:endParaRPr lang="en-US"/>
          </a:p>
        </p:txBody>
      </p:sp>
    </p:spTree>
    <p:extLst>
      <p:ext uri="{BB962C8B-B14F-4D97-AF65-F5344CB8AC3E}">
        <p14:creationId xmlns:p14="http://schemas.microsoft.com/office/powerpoint/2010/main" val="27503659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noChangeAspect="1" noChangeArrowheads="1" noTextEdit="1"/>
          </p:cNvSpPr>
          <p:nvPr>
            <p:ph type="sldImg"/>
          </p:nvPr>
        </p:nvSpPr>
        <p:spPr>
          <a:ln/>
        </p:spPr>
      </p:sp>
      <p:sp>
        <p:nvSpPr>
          <p:cNvPr id="7065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altLang="en-US" dirty="0"/>
              <a:t>75% des produits naturels utilisés en pharmacopée moderne ont les mêmes utilisations en médecine traditionnelle &gt;20% de la pharmacopée actuelle provient de sources végétales</a:t>
            </a:r>
          </a:p>
          <a:p>
            <a:endParaRPr lang="fr-FR" altLang="en-US" dirty="0"/>
          </a:p>
          <a:p>
            <a:r>
              <a:rPr lang="fr-FR" altLang="en-US" dirty="0" err="1"/>
              <a:t>Jewel</a:t>
            </a:r>
            <a:r>
              <a:rPr lang="fr-FR" altLang="en-US" dirty="0"/>
              <a:t> </a:t>
            </a:r>
            <a:r>
              <a:rPr lang="fr-FR" altLang="en-US" dirty="0" err="1"/>
              <a:t>beetles</a:t>
            </a:r>
            <a:r>
              <a:rPr lang="fr-FR" altLang="en-US" dirty="0"/>
              <a:t> of the </a:t>
            </a:r>
            <a:r>
              <a:rPr lang="fr-FR" altLang="en-US" dirty="0" err="1"/>
              <a:t>genus</a:t>
            </a:r>
            <a:r>
              <a:rPr lang="fr-FR" altLang="en-US" dirty="0"/>
              <a:t> </a:t>
            </a:r>
            <a:r>
              <a:rPr lang="fr-FR" altLang="en-US" dirty="0" err="1"/>
              <a:t>Melanophila</a:t>
            </a:r>
            <a:r>
              <a:rPr lang="fr-FR" altLang="en-US" dirty="0"/>
              <a:t> </a:t>
            </a:r>
            <a:r>
              <a:rPr lang="fr-FR" altLang="en-US" dirty="0" err="1"/>
              <a:t>need</a:t>
            </a:r>
            <a:r>
              <a:rPr lang="fr-FR" altLang="en-US" dirty="0"/>
              <a:t> the </a:t>
            </a:r>
            <a:r>
              <a:rPr lang="fr-FR" altLang="en-US" dirty="0" err="1"/>
              <a:t>bast</a:t>
            </a:r>
            <a:r>
              <a:rPr lang="fr-FR" altLang="en-US" dirty="0"/>
              <a:t> and the </a:t>
            </a:r>
            <a:r>
              <a:rPr lang="fr-FR" altLang="en-US" dirty="0" err="1"/>
              <a:t>wood</a:t>
            </a:r>
            <a:r>
              <a:rPr lang="fr-FR" altLang="en-US" dirty="0"/>
              <a:t> of </a:t>
            </a:r>
            <a:r>
              <a:rPr lang="fr-FR" altLang="en-US" dirty="0" err="1"/>
              <a:t>recently</a:t>
            </a:r>
            <a:r>
              <a:rPr lang="fr-FR" altLang="en-US" dirty="0"/>
              <a:t> </a:t>
            </a:r>
            <a:r>
              <a:rPr lang="fr-FR" altLang="en-US" dirty="0" err="1"/>
              <a:t>burnt</a:t>
            </a:r>
            <a:r>
              <a:rPr lang="fr-FR" altLang="en-US" dirty="0"/>
              <a:t> </a:t>
            </a:r>
            <a:r>
              <a:rPr lang="fr-FR" altLang="en-US" dirty="0" err="1"/>
              <a:t>trees</a:t>
            </a:r>
            <a:r>
              <a:rPr lang="fr-FR" altLang="en-US" dirty="0"/>
              <a:t> as a </a:t>
            </a:r>
            <a:r>
              <a:rPr lang="fr-FR" altLang="en-US" dirty="0" err="1"/>
              <a:t>food</a:t>
            </a:r>
            <a:r>
              <a:rPr lang="fr-FR" altLang="en-US" dirty="0"/>
              <a:t> source for </a:t>
            </a:r>
            <a:r>
              <a:rPr lang="fr-FR" altLang="en-US" dirty="0" err="1"/>
              <a:t>their</a:t>
            </a:r>
            <a:r>
              <a:rPr lang="fr-FR" altLang="en-US" dirty="0"/>
              <a:t> </a:t>
            </a:r>
            <a:r>
              <a:rPr lang="fr-FR" altLang="en-US" dirty="0" err="1"/>
              <a:t>larvae</a:t>
            </a:r>
            <a:r>
              <a:rPr lang="fr-FR" altLang="en-US" dirty="0"/>
              <a:t>. For </a:t>
            </a:r>
            <a:r>
              <a:rPr lang="fr-FR" altLang="en-US" dirty="0" err="1"/>
              <a:t>this</a:t>
            </a:r>
            <a:r>
              <a:rPr lang="fr-FR" altLang="en-US" dirty="0"/>
              <a:t> </a:t>
            </a:r>
            <a:r>
              <a:rPr lang="fr-FR" altLang="en-US" dirty="0" err="1"/>
              <a:t>reason</a:t>
            </a:r>
            <a:r>
              <a:rPr lang="fr-FR" altLang="en-US" dirty="0"/>
              <a:t> </a:t>
            </a:r>
            <a:r>
              <a:rPr lang="fr-FR" altLang="en-US" dirty="0" err="1"/>
              <a:t>beetles</a:t>
            </a:r>
            <a:r>
              <a:rPr lang="fr-FR" altLang="en-US" dirty="0"/>
              <a:t> </a:t>
            </a:r>
            <a:r>
              <a:rPr lang="fr-FR" altLang="en-US" dirty="0" err="1"/>
              <a:t>approach</a:t>
            </a:r>
            <a:r>
              <a:rPr lang="fr-FR" altLang="en-US" dirty="0"/>
              <a:t> </a:t>
            </a:r>
            <a:r>
              <a:rPr lang="fr-FR" altLang="en-US" dirty="0" err="1"/>
              <a:t>forest</a:t>
            </a:r>
            <a:r>
              <a:rPr lang="fr-FR" altLang="en-US" dirty="0"/>
              <a:t> </a:t>
            </a:r>
            <a:r>
              <a:rPr lang="fr-FR" altLang="en-US" dirty="0" err="1"/>
              <a:t>fires</a:t>
            </a:r>
            <a:r>
              <a:rPr lang="fr-FR" altLang="en-US" dirty="0"/>
              <a:t> </a:t>
            </a:r>
            <a:r>
              <a:rPr lang="fr-FR" altLang="en-US" dirty="0" err="1"/>
              <a:t>from</a:t>
            </a:r>
            <a:r>
              <a:rPr lang="fr-FR" altLang="en-US" dirty="0"/>
              <a:t> </a:t>
            </a:r>
            <a:r>
              <a:rPr lang="fr-FR" altLang="en-US" dirty="0" err="1"/>
              <a:t>considerable</a:t>
            </a:r>
            <a:r>
              <a:rPr lang="fr-FR" altLang="en-US" dirty="0"/>
              <a:t> distances. The location of </a:t>
            </a:r>
            <a:r>
              <a:rPr lang="fr-FR" altLang="en-US" dirty="0" err="1"/>
              <a:t>forest</a:t>
            </a:r>
            <a:r>
              <a:rPr lang="fr-FR" altLang="en-US" dirty="0"/>
              <a:t> </a:t>
            </a:r>
            <a:r>
              <a:rPr lang="fr-FR" altLang="en-US" dirty="0" err="1"/>
              <a:t>fires</a:t>
            </a:r>
            <a:r>
              <a:rPr lang="fr-FR" altLang="en-US" dirty="0"/>
              <a:t> </a:t>
            </a:r>
            <a:r>
              <a:rPr lang="fr-FR" altLang="en-US" dirty="0" err="1"/>
              <a:t>is</a:t>
            </a:r>
            <a:r>
              <a:rPr lang="fr-FR" altLang="en-US" dirty="0"/>
              <a:t> possible by the </a:t>
            </a:r>
            <a:r>
              <a:rPr lang="fr-FR" altLang="en-US" dirty="0" err="1"/>
              <a:t>olfactory</a:t>
            </a:r>
            <a:r>
              <a:rPr lang="fr-FR" altLang="en-US" dirty="0"/>
              <a:t> </a:t>
            </a:r>
            <a:r>
              <a:rPr lang="fr-FR" altLang="en-US" dirty="0" err="1"/>
              <a:t>detection</a:t>
            </a:r>
            <a:r>
              <a:rPr lang="fr-FR" altLang="en-US" dirty="0"/>
              <a:t> of </a:t>
            </a:r>
            <a:r>
              <a:rPr lang="fr-FR" altLang="en-US" dirty="0" err="1"/>
              <a:t>fire-specific</a:t>
            </a:r>
            <a:r>
              <a:rPr lang="fr-FR" altLang="en-US" dirty="0"/>
              <a:t> </a:t>
            </a:r>
            <a:r>
              <a:rPr lang="fr-FR" altLang="en-US" dirty="0" err="1"/>
              <a:t>odors</a:t>
            </a:r>
            <a:r>
              <a:rPr lang="fr-FR" altLang="en-US" dirty="0"/>
              <a:t> in </a:t>
            </a:r>
            <a:r>
              <a:rPr lang="fr-FR" altLang="en-US" dirty="0" err="1"/>
              <a:t>combination</a:t>
            </a:r>
            <a:r>
              <a:rPr lang="fr-FR" altLang="en-US" dirty="0"/>
              <a:t> </a:t>
            </a:r>
            <a:r>
              <a:rPr lang="fr-FR" altLang="en-US" dirty="0" err="1"/>
              <a:t>with</a:t>
            </a:r>
            <a:r>
              <a:rPr lang="fr-FR" altLang="en-US" dirty="0"/>
              <a:t> </a:t>
            </a:r>
            <a:r>
              <a:rPr lang="fr-FR" altLang="en-US" dirty="0" err="1"/>
              <a:t>paired</a:t>
            </a:r>
            <a:r>
              <a:rPr lang="fr-FR" altLang="en-US" dirty="0"/>
              <a:t> </a:t>
            </a:r>
            <a:r>
              <a:rPr lang="fr-FR" altLang="en-US" dirty="0" err="1"/>
              <a:t>infrared</a:t>
            </a:r>
            <a:r>
              <a:rPr lang="fr-FR" altLang="en-US" dirty="0"/>
              <a:t> </a:t>
            </a:r>
            <a:r>
              <a:rPr lang="fr-FR" altLang="en-US" dirty="0" err="1"/>
              <a:t>pit-organs</a:t>
            </a:r>
            <a:r>
              <a:rPr lang="fr-FR" altLang="en-US" dirty="0"/>
              <a:t> </a:t>
            </a:r>
            <a:r>
              <a:rPr lang="fr-FR" altLang="en-US" dirty="0" err="1"/>
              <a:t>located</a:t>
            </a:r>
            <a:r>
              <a:rPr lang="fr-FR" altLang="en-US" dirty="0"/>
              <a:t> in the thorax of the </a:t>
            </a:r>
            <a:r>
              <a:rPr lang="fr-FR" altLang="en-US" dirty="0" err="1"/>
              <a:t>insect</a:t>
            </a:r>
            <a:r>
              <a:rPr lang="fr-FR" altLang="en-US" dirty="0"/>
              <a:t> (</a:t>
            </a:r>
            <a:r>
              <a:rPr lang="fr-FR" altLang="en-US" dirty="0" err="1"/>
              <a:t>red</a:t>
            </a:r>
            <a:r>
              <a:rPr lang="fr-FR" altLang="en-US" dirty="0"/>
              <a:t> </a:t>
            </a:r>
            <a:r>
              <a:rPr lang="fr-FR" altLang="en-US" dirty="0" err="1"/>
              <a:t>arrows</a:t>
            </a:r>
            <a:r>
              <a:rPr lang="fr-FR" altLang="en-US" dirty="0"/>
              <a:t>). </a:t>
            </a:r>
            <a:br>
              <a:rPr lang="fr-FR" altLang="en-US" dirty="0"/>
            </a:br>
            <a:r>
              <a:rPr lang="fr-FR" altLang="en-US" dirty="0"/>
              <a:t>The </a:t>
            </a:r>
            <a:r>
              <a:rPr lang="fr-FR" altLang="en-US" dirty="0" err="1"/>
              <a:t>endemic</a:t>
            </a:r>
            <a:r>
              <a:rPr lang="fr-FR" altLang="en-US" dirty="0"/>
              <a:t> black </a:t>
            </a:r>
            <a:r>
              <a:rPr lang="fr-FR" altLang="en-US" dirty="0" err="1"/>
              <a:t>jewel-beetle</a:t>
            </a:r>
            <a:r>
              <a:rPr lang="fr-FR" altLang="en-US" dirty="0"/>
              <a:t> </a:t>
            </a:r>
            <a:r>
              <a:rPr lang="fr-FR" altLang="en-US" dirty="0" err="1"/>
              <a:t>Melanophila</a:t>
            </a:r>
            <a:r>
              <a:rPr lang="fr-FR" altLang="en-US" dirty="0"/>
              <a:t> </a:t>
            </a:r>
            <a:r>
              <a:rPr lang="fr-FR" altLang="en-US" dirty="0" err="1"/>
              <a:t>acuminata</a:t>
            </a:r>
            <a:r>
              <a:rPr lang="fr-FR" altLang="en-US" dirty="0"/>
              <a:t> (</a:t>
            </a:r>
            <a:r>
              <a:rPr lang="fr-FR" altLang="en-US" dirty="0" err="1"/>
              <a:t>Buprestidae</a:t>
            </a:r>
            <a:r>
              <a:rPr lang="fr-FR" altLang="en-US" dirty="0"/>
              <a:t>, </a:t>
            </a:r>
            <a:r>
              <a:rPr lang="fr-FR" altLang="en-US" dirty="0" err="1"/>
              <a:t>Coleoptera</a:t>
            </a:r>
            <a:r>
              <a:rPr lang="fr-FR" altLang="en-US" dirty="0"/>
              <a:t>) </a:t>
            </a:r>
            <a:r>
              <a:rPr lang="fr-FR" altLang="en-US" dirty="0" err="1"/>
              <a:t>deposits</a:t>
            </a:r>
            <a:r>
              <a:rPr lang="fr-FR" altLang="en-US" dirty="0"/>
              <a:t> </a:t>
            </a:r>
            <a:r>
              <a:rPr lang="fr-FR" altLang="en-US" dirty="0" err="1"/>
              <a:t>its</a:t>
            </a:r>
            <a:r>
              <a:rPr lang="fr-FR" altLang="en-US" dirty="0"/>
              <a:t> </a:t>
            </a:r>
            <a:r>
              <a:rPr lang="fr-FR" altLang="en-US" dirty="0" err="1"/>
              <a:t>eggs</a:t>
            </a:r>
            <a:r>
              <a:rPr lang="fr-FR" altLang="en-US" dirty="0"/>
              <a:t> in </a:t>
            </a:r>
            <a:r>
              <a:rPr lang="fr-FR" altLang="en-US" dirty="0" err="1"/>
              <a:t>severely</a:t>
            </a:r>
            <a:r>
              <a:rPr lang="fr-FR" altLang="en-US" dirty="0"/>
              <a:t> </a:t>
            </a:r>
            <a:r>
              <a:rPr lang="fr-FR" altLang="en-US" dirty="0" err="1"/>
              <a:t>burnt</a:t>
            </a:r>
            <a:r>
              <a:rPr lang="fr-FR" altLang="en-US" dirty="0"/>
              <a:t> </a:t>
            </a:r>
            <a:r>
              <a:rPr lang="fr-FR" altLang="en-US" dirty="0" err="1"/>
              <a:t>trunks</a:t>
            </a:r>
            <a:r>
              <a:rPr lang="fr-FR" altLang="en-US" dirty="0"/>
              <a:t> </a:t>
            </a:r>
            <a:r>
              <a:rPr lang="fr-FR" altLang="en-US" dirty="0" err="1"/>
              <a:t>shortly</a:t>
            </a:r>
            <a:r>
              <a:rPr lang="fr-FR" altLang="en-US" dirty="0"/>
              <a:t> </a:t>
            </a:r>
            <a:r>
              <a:rPr lang="fr-FR" altLang="en-US" dirty="0" err="1"/>
              <a:t>after</a:t>
            </a:r>
            <a:r>
              <a:rPr lang="fr-FR" altLang="en-US" dirty="0"/>
              <a:t> a </a:t>
            </a:r>
            <a:r>
              <a:rPr lang="fr-FR" altLang="en-US" dirty="0" err="1"/>
              <a:t>forest</a:t>
            </a:r>
            <a:r>
              <a:rPr lang="fr-FR" altLang="en-US" dirty="0"/>
              <a:t> </a:t>
            </a:r>
            <a:r>
              <a:rPr lang="fr-FR" altLang="en-US" dirty="0" err="1"/>
              <a:t>fire</a:t>
            </a:r>
            <a:r>
              <a:rPr lang="fr-FR" altLang="en-US" dirty="0"/>
              <a:t> (full </a:t>
            </a:r>
            <a:r>
              <a:rPr lang="fr-FR" altLang="en-US" dirty="0" err="1"/>
              <a:t>fire</a:t>
            </a:r>
            <a:r>
              <a:rPr lang="fr-FR" altLang="en-US" dirty="0"/>
              <a:t> or long lasting </a:t>
            </a:r>
            <a:r>
              <a:rPr lang="fr-FR" altLang="en-US" dirty="0" err="1"/>
              <a:t>ground</a:t>
            </a:r>
            <a:r>
              <a:rPr lang="fr-FR" altLang="en-US" dirty="0"/>
              <a:t> </a:t>
            </a:r>
            <a:r>
              <a:rPr lang="fr-FR" altLang="en-US" dirty="0" err="1"/>
              <a:t>fire</a:t>
            </a:r>
            <a:r>
              <a:rPr lang="fr-FR" altLang="en-US" dirty="0"/>
              <a:t>). </a:t>
            </a:r>
            <a:r>
              <a:rPr lang="fr-FR" altLang="en-US" dirty="0" err="1"/>
              <a:t>After</a:t>
            </a:r>
            <a:r>
              <a:rPr lang="fr-FR" altLang="en-US" dirty="0"/>
              <a:t> </a:t>
            </a:r>
            <a:r>
              <a:rPr lang="fr-FR" altLang="en-US" dirty="0" err="1"/>
              <a:t>hatching</a:t>
            </a:r>
            <a:r>
              <a:rPr lang="fr-FR" altLang="en-US" dirty="0"/>
              <a:t> the </a:t>
            </a:r>
            <a:r>
              <a:rPr lang="fr-FR" altLang="en-US" dirty="0" err="1"/>
              <a:t>larvae</a:t>
            </a:r>
            <a:r>
              <a:rPr lang="fr-FR" altLang="en-US" dirty="0"/>
              <a:t> </a:t>
            </a:r>
            <a:r>
              <a:rPr lang="fr-FR" altLang="en-US" dirty="0" err="1"/>
              <a:t>feed</a:t>
            </a:r>
            <a:r>
              <a:rPr lang="fr-FR" altLang="en-US" dirty="0"/>
              <a:t> on the </a:t>
            </a:r>
            <a:r>
              <a:rPr lang="fr-FR" altLang="en-US" dirty="0" err="1"/>
              <a:t>nutrimental</a:t>
            </a:r>
            <a:r>
              <a:rPr lang="fr-FR" altLang="en-US" dirty="0"/>
              <a:t> </a:t>
            </a:r>
            <a:r>
              <a:rPr lang="fr-FR" altLang="en-US" dirty="0" err="1"/>
              <a:t>bast</a:t>
            </a:r>
            <a:r>
              <a:rPr lang="fr-FR" altLang="en-US" dirty="0"/>
              <a:t> layer of the </a:t>
            </a:r>
            <a:r>
              <a:rPr lang="fr-FR" altLang="en-US" dirty="0" err="1"/>
              <a:t>tree</a:t>
            </a:r>
            <a:r>
              <a:rPr lang="fr-FR" altLang="en-US" dirty="0"/>
              <a:t>. </a:t>
            </a:r>
            <a:r>
              <a:rPr lang="fr-FR" altLang="en-US" dirty="0" err="1"/>
              <a:t>Later</a:t>
            </a:r>
            <a:r>
              <a:rPr lang="fr-FR" altLang="en-US" dirty="0"/>
              <a:t> </a:t>
            </a:r>
            <a:r>
              <a:rPr lang="fr-FR" altLang="en-US" dirty="0" err="1"/>
              <a:t>they</a:t>
            </a:r>
            <a:r>
              <a:rPr lang="fr-FR" altLang="en-US" dirty="0"/>
              <a:t> </a:t>
            </a:r>
            <a:r>
              <a:rPr lang="fr-FR" altLang="en-US" dirty="0" err="1"/>
              <a:t>also</a:t>
            </a:r>
            <a:r>
              <a:rPr lang="fr-FR" altLang="en-US" dirty="0"/>
              <a:t> </a:t>
            </a:r>
            <a:r>
              <a:rPr lang="fr-FR" altLang="en-US" dirty="0" err="1"/>
              <a:t>penetrate</a:t>
            </a:r>
            <a:r>
              <a:rPr lang="fr-FR" altLang="en-US" dirty="0"/>
              <a:t> </a:t>
            </a:r>
            <a:r>
              <a:rPr lang="fr-FR" altLang="en-US" dirty="0" err="1"/>
              <a:t>deeper</a:t>
            </a:r>
            <a:r>
              <a:rPr lang="fr-FR" altLang="en-US" dirty="0"/>
              <a:t> </a:t>
            </a:r>
            <a:r>
              <a:rPr lang="fr-FR" altLang="en-US" dirty="0" err="1"/>
              <a:t>into</a:t>
            </a:r>
            <a:r>
              <a:rPr lang="fr-FR" altLang="en-US" dirty="0"/>
              <a:t> the </a:t>
            </a:r>
            <a:r>
              <a:rPr lang="fr-FR" altLang="en-US" dirty="0" err="1"/>
              <a:t>wood</a:t>
            </a:r>
            <a:r>
              <a:rPr lang="fr-FR" altLang="en-US" dirty="0"/>
              <a:t>. Hibernation </a:t>
            </a:r>
            <a:r>
              <a:rPr lang="fr-FR" altLang="en-US" dirty="0" err="1"/>
              <a:t>is</a:t>
            </a:r>
            <a:r>
              <a:rPr lang="fr-FR" altLang="en-US" dirty="0"/>
              <a:t> </a:t>
            </a:r>
            <a:r>
              <a:rPr lang="fr-FR" altLang="en-US" dirty="0" err="1"/>
              <a:t>accomplished</a:t>
            </a:r>
            <a:r>
              <a:rPr lang="fr-FR" altLang="en-US" dirty="0"/>
              <a:t> in the last </a:t>
            </a:r>
            <a:r>
              <a:rPr lang="fr-FR" altLang="en-US" dirty="0" err="1"/>
              <a:t>larval</a:t>
            </a:r>
            <a:r>
              <a:rPr lang="fr-FR" altLang="en-US" dirty="0"/>
              <a:t> stage. </a:t>
            </a:r>
            <a:r>
              <a:rPr lang="fr-FR" altLang="en-US" dirty="0" err="1"/>
              <a:t>Development</a:t>
            </a:r>
            <a:r>
              <a:rPr lang="fr-FR" altLang="en-US" dirty="0"/>
              <a:t> of the </a:t>
            </a:r>
            <a:r>
              <a:rPr lang="fr-FR" altLang="en-US" dirty="0" err="1"/>
              <a:t>larvae</a:t>
            </a:r>
            <a:r>
              <a:rPr lang="fr-FR" altLang="en-US" dirty="0"/>
              <a:t> </a:t>
            </a:r>
            <a:r>
              <a:rPr lang="fr-FR" altLang="en-US" dirty="0" err="1"/>
              <a:t>is</a:t>
            </a:r>
            <a:r>
              <a:rPr lang="fr-FR" altLang="en-US" dirty="0"/>
              <a:t> </a:t>
            </a:r>
            <a:r>
              <a:rPr lang="fr-FR" altLang="en-US" dirty="0" err="1"/>
              <a:t>only</a:t>
            </a:r>
            <a:r>
              <a:rPr lang="fr-FR" altLang="en-US" dirty="0"/>
              <a:t> possible in a </a:t>
            </a:r>
            <a:r>
              <a:rPr lang="fr-FR" altLang="en-US" dirty="0" err="1"/>
              <a:t>tree</a:t>
            </a:r>
            <a:r>
              <a:rPr lang="fr-FR" altLang="en-US" dirty="0"/>
              <a:t> </a:t>
            </a:r>
            <a:r>
              <a:rPr lang="fr-FR" altLang="en-US" dirty="0" err="1"/>
              <a:t>that</a:t>
            </a:r>
            <a:r>
              <a:rPr lang="fr-FR" altLang="en-US" dirty="0"/>
              <a:t> </a:t>
            </a:r>
            <a:r>
              <a:rPr lang="fr-FR" altLang="en-US" dirty="0" err="1"/>
              <a:t>fell</a:t>
            </a:r>
            <a:r>
              <a:rPr lang="fr-FR" altLang="en-US" dirty="0"/>
              <a:t> </a:t>
            </a:r>
            <a:r>
              <a:rPr lang="fr-FR" altLang="en-US" dirty="0" err="1"/>
              <a:t>victim</a:t>
            </a:r>
            <a:r>
              <a:rPr lang="fr-FR" altLang="en-US" dirty="0"/>
              <a:t> to a </a:t>
            </a:r>
            <a:r>
              <a:rPr lang="fr-FR" altLang="en-US" dirty="0" err="1"/>
              <a:t>fire</a:t>
            </a:r>
            <a:r>
              <a:rPr lang="fr-FR" altLang="en-US" dirty="0"/>
              <a:t>. </a:t>
            </a:r>
          </a:p>
          <a:p>
            <a:endParaRPr lang="fr-FR" altLang="en-US" dirty="0"/>
          </a:p>
          <a:p>
            <a:r>
              <a:rPr lang="en-US" altLang="en-US" dirty="0"/>
              <a:t>Nature 424, 899-900 (21 August 2003) | doi:10.1038/424899a - </a:t>
            </a:r>
            <a:r>
              <a:rPr lang="en-US" altLang="en-US" dirty="0" err="1"/>
              <a:t>Fibre</a:t>
            </a:r>
            <a:r>
              <a:rPr lang="en-US" altLang="en-US" dirty="0"/>
              <a:t>-optical features of a glass sponge</a:t>
            </a:r>
          </a:p>
          <a:p>
            <a:r>
              <a:rPr lang="en-US" altLang="en-US" dirty="0" err="1"/>
              <a:t>Vikram</a:t>
            </a:r>
            <a:r>
              <a:rPr lang="en-US" altLang="en-US" dirty="0"/>
              <a:t> C. Sundar1, Andrew D. Yablon2, John L. Grazul1, Micha Ilan3 &amp; Joanna Aizenberg1</a:t>
            </a:r>
          </a:p>
          <a:p>
            <a:r>
              <a:rPr lang="en-US" altLang="en-US" dirty="0"/>
              <a:t>Some superior technological secrets have come to light from a deep-sea organism. Modern technology cannot yet compete with some of the sophisticated optical systems possessed by biological organisms. Here we show that the spicules of the deep-sea 'glass' sponge </a:t>
            </a:r>
            <a:r>
              <a:rPr lang="en-US" altLang="en-US" dirty="0" err="1"/>
              <a:t>Euplectella</a:t>
            </a:r>
            <a:r>
              <a:rPr lang="en-US" altLang="en-US" dirty="0"/>
              <a:t> have remarkable </a:t>
            </a:r>
            <a:r>
              <a:rPr lang="en-US" altLang="en-US" dirty="0" err="1"/>
              <a:t>fibre</a:t>
            </a:r>
            <a:r>
              <a:rPr lang="en-US" altLang="en-US" dirty="0"/>
              <a:t>-optical properties, which are surprisingly similar to those of commercial telecommunication </a:t>
            </a:r>
            <a:r>
              <a:rPr lang="en-US" altLang="en-US" dirty="0" err="1"/>
              <a:t>fibres</a:t>
            </a:r>
            <a:r>
              <a:rPr lang="en-US" altLang="en-US" dirty="0"/>
              <a:t> — except that the spicules themselves are formed under normal ambient conditions and have some technological advantages over man-made versions.</a:t>
            </a:r>
            <a:endParaRPr lang="fr-FR" altLang="en-US" dirty="0"/>
          </a:p>
          <a:p>
            <a:endParaRPr lang="fr-FR" altLang="en-US" dirty="0"/>
          </a:p>
          <a:p>
            <a:r>
              <a:rPr lang="fr-FR" altLang="en-US" dirty="0"/>
              <a:t>If : La toxicité de ses feuilles et de </a:t>
            </a:r>
            <a:r>
              <a:rPr lang="fr-FR" altLang="en-US" dirty="0" err="1"/>
              <a:t>sonécorce</a:t>
            </a:r>
            <a:r>
              <a:rPr lang="fr-FR" altLang="en-US" dirty="0"/>
              <a:t> est connue depuis l'Antiquité. Les grecs anciens pensaient que dormir sous un if était mortel. Les gaulois enduisaient les pointes de leurs flèches de sa sève.</a:t>
            </a:r>
            <a:br>
              <a:rPr lang="fr-FR" altLang="en-US" dirty="0"/>
            </a:br>
            <a:r>
              <a:rPr lang="fr-FR" altLang="en-US" dirty="0"/>
              <a:t>Vers les années 1960, le National Cancer Institute (NCI) lance un vaste programme de recherche pour analyser et étudier les propriétés anticancéreuses d'échantillons de plantes du monde entier. Vers 1970, la puissante activité de l'extrait de l'écorce de l'if est découverte. </a:t>
            </a:r>
            <a:r>
              <a:rPr lang="fr-FR" altLang="en-US" b="1" dirty="0"/>
              <a:t/>
            </a:r>
            <a:br>
              <a:rPr lang="fr-FR" altLang="en-US" b="1" dirty="0"/>
            </a:br>
            <a:endParaRPr lang="fr-FR" altLang="en-US" b="1"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Espace réservé de l'image des diapositives 1"/>
          <p:cNvSpPr>
            <a:spLocks noGrp="1" noRot="1" noChangeAspect="1" noTextEdit="1"/>
          </p:cNvSpPr>
          <p:nvPr>
            <p:ph type="sldImg"/>
          </p:nvPr>
        </p:nvSpPr>
        <p:spPr>
          <a:ln/>
        </p:spPr>
      </p:sp>
      <p:sp>
        <p:nvSpPr>
          <p:cNvPr id="71683"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altLang="en-US" dirty="0"/>
              <a:t>Katrina 1000 à 2000 morts ; Rita 100</a:t>
            </a:r>
            <a:r>
              <a:rPr lang="fr-FR" altLang="en-US" baseline="0" dirty="0"/>
              <a:t> morts</a:t>
            </a:r>
          </a:p>
          <a:p>
            <a:r>
              <a:rPr lang="en-CA" b="1" dirty="0"/>
              <a:t>Hurricane Rita</a:t>
            </a:r>
            <a:r>
              <a:rPr lang="en-CA" dirty="0"/>
              <a:t> was the fourth-most intense </a:t>
            </a:r>
            <a:r>
              <a:rPr lang="en-CA" dirty="0">
                <a:hlinkClick r:id="rId3" tooltip="Atlantic hurricane"/>
              </a:rPr>
              <a:t>Atlantic hurricane</a:t>
            </a:r>
            <a:r>
              <a:rPr lang="en-CA" dirty="0"/>
              <a:t> ever recorded and the most intense </a:t>
            </a:r>
            <a:r>
              <a:rPr lang="en-CA" dirty="0">
                <a:hlinkClick r:id="rId4" tooltip="Tropical cyclone"/>
              </a:rPr>
              <a:t>tropical cyclone</a:t>
            </a:r>
            <a:r>
              <a:rPr lang="en-CA" dirty="0"/>
              <a:t> ever observed in the </a:t>
            </a:r>
            <a:r>
              <a:rPr lang="en-CA" dirty="0">
                <a:hlinkClick r:id="rId5" tooltip="Gulf of Mexico"/>
              </a:rPr>
              <a:t>Gulf of Mexico</a:t>
            </a:r>
            <a:r>
              <a:rPr lang="en-CA" dirty="0"/>
              <a:t>. Part of the record-breaking </a:t>
            </a:r>
            <a:r>
              <a:rPr lang="en-CA" dirty="0">
                <a:hlinkClick r:id="rId6" tooltip="2005 Atlantic hurricane season"/>
              </a:rPr>
              <a:t>2005 Atlantic hurricane season</a:t>
            </a:r>
            <a:r>
              <a:rPr lang="en-CA" dirty="0"/>
              <a:t>, which included three of the top ten </a:t>
            </a:r>
            <a:r>
              <a:rPr lang="en-CA" dirty="0">
                <a:hlinkClick r:id="rId7" tooltip="List of the most intense tropical cyclones"/>
              </a:rPr>
              <a:t>most intense Atlantic hurricanes</a:t>
            </a:r>
            <a:r>
              <a:rPr lang="en-CA" dirty="0"/>
              <a:t> ever recorded (along with #1 </a:t>
            </a:r>
            <a:r>
              <a:rPr lang="en-CA" dirty="0">
                <a:hlinkClick r:id="rId8" tooltip="Hurricane Wilma"/>
              </a:rPr>
              <a:t>Wilma</a:t>
            </a:r>
            <a:r>
              <a:rPr lang="en-CA" dirty="0"/>
              <a:t> and #7 </a:t>
            </a:r>
            <a:r>
              <a:rPr lang="en-CA" dirty="0">
                <a:hlinkClick r:id="rId9" tooltip="Hurricane Katrina"/>
              </a:rPr>
              <a:t>Katrina</a:t>
            </a:r>
            <a:r>
              <a:rPr lang="en-CA" dirty="0"/>
              <a:t>)</a:t>
            </a:r>
            <a:endParaRPr lang="fr-FR" altLang="en-US" dirty="0"/>
          </a:p>
          <a:p>
            <a:endParaRPr lang="fr-FR" altLang="en-US" dirty="0"/>
          </a:p>
          <a:p>
            <a:r>
              <a:rPr lang="fr-FR" altLang="en-US" dirty="0"/>
              <a:t>Ouragan Rita est passé au-dessus de zones humides relativement intactes avant de toucher des zones habitées; dégâts moins importants.</a:t>
            </a:r>
          </a:p>
          <a:p>
            <a:r>
              <a:rPr lang="en-CA" sz="1100" dirty="0">
                <a:latin typeface="Arial" charset="0"/>
                <a:cs typeface="Arial" charset="0"/>
              </a:rPr>
              <a:t>Hurricane Rita’s highest storm surge was nearly as great as the surge confronting the eastern side of New Orleans during Katrina, but</a:t>
            </a:r>
          </a:p>
          <a:p>
            <a:r>
              <a:rPr lang="en-CA" sz="1100" dirty="0">
                <a:latin typeface="Arial" charset="0"/>
                <a:cs typeface="Arial" charset="0"/>
              </a:rPr>
              <a:t>had to cross 30 to 50 km of Chenier Plain wetlands before reaching main population centers, whereas Katrina’s surge was less impeded as it</a:t>
            </a:r>
          </a:p>
          <a:p>
            <a:r>
              <a:rPr lang="en-CA" sz="1100" dirty="0">
                <a:latin typeface="Arial" charset="0"/>
                <a:cs typeface="Arial" charset="0"/>
              </a:rPr>
              <a:t>traveled through large lagoons, degraded wetlands, </a:t>
            </a:r>
            <a:r>
              <a:rPr lang="fr-FR" sz="1100" dirty="0">
                <a:latin typeface="Arial" charset="0"/>
                <a:cs typeface="Arial" charset="0"/>
              </a:rPr>
              <a:t>and </a:t>
            </a:r>
            <a:r>
              <a:rPr lang="fr-FR" sz="1100" dirty="0" err="1">
                <a:latin typeface="Arial" charset="0"/>
                <a:cs typeface="Arial" charset="0"/>
              </a:rPr>
              <a:t>artificial</a:t>
            </a:r>
            <a:r>
              <a:rPr lang="fr-FR" sz="1100" dirty="0">
                <a:latin typeface="Arial" charset="0"/>
                <a:cs typeface="Arial" charset="0"/>
              </a:rPr>
              <a:t> </a:t>
            </a:r>
            <a:r>
              <a:rPr lang="fr-FR" sz="1100" dirty="0" err="1">
                <a:latin typeface="Arial" charset="0"/>
                <a:cs typeface="Arial" charset="0"/>
              </a:rPr>
              <a:t>channels</a:t>
            </a:r>
            <a:r>
              <a:rPr lang="fr-FR" sz="1100" dirty="0">
                <a:latin typeface="Arial" charset="0"/>
                <a:cs typeface="Arial" charset="0"/>
              </a:rPr>
              <a:t>.</a:t>
            </a:r>
            <a:endParaRPr lang="fr-FR" altLang="en-US" dirty="0"/>
          </a:p>
        </p:txBody>
      </p:sp>
      <p:sp>
        <p:nvSpPr>
          <p:cNvPr id="71684"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100">
                <a:solidFill>
                  <a:schemeClr val="tx1"/>
                </a:solidFill>
                <a:latin typeface="Arial" charset="0"/>
                <a:cs typeface="Arial" charset="0"/>
              </a:defRPr>
            </a:lvl1pPr>
            <a:lvl2pPr marL="716108" indent="-275427" eaLnBrk="0" hangingPunct="0">
              <a:spcBef>
                <a:spcPct val="30000"/>
              </a:spcBef>
              <a:defRPr sz="1100">
                <a:solidFill>
                  <a:schemeClr val="tx1"/>
                </a:solidFill>
                <a:latin typeface="Arial" charset="0"/>
                <a:cs typeface="Arial" charset="0"/>
              </a:defRPr>
            </a:lvl2pPr>
            <a:lvl3pPr marL="1101706" indent="-220341" eaLnBrk="0" hangingPunct="0">
              <a:spcBef>
                <a:spcPct val="30000"/>
              </a:spcBef>
              <a:defRPr sz="1100">
                <a:solidFill>
                  <a:schemeClr val="tx1"/>
                </a:solidFill>
                <a:latin typeface="Arial" charset="0"/>
                <a:cs typeface="Arial" charset="0"/>
              </a:defRPr>
            </a:lvl3pPr>
            <a:lvl4pPr marL="1542388" indent="-220341" eaLnBrk="0" hangingPunct="0">
              <a:spcBef>
                <a:spcPct val="30000"/>
              </a:spcBef>
              <a:defRPr sz="1100">
                <a:solidFill>
                  <a:schemeClr val="tx1"/>
                </a:solidFill>
                <a:latin typeface="Arial" charset="0"/>
                <a:cs typeface="Arial" charset="0"/>
              </a:defRPr>
            </a:lvl4pPr>
            <a:lvl5pPr marL="1983071" indent="-220341" eaLnBrk="0" hangingPunct="0">
              <a:spcBef>
                <a:spcPct val="30000"/>
              </a:spcBef>
              <a:defRPr sz="1100">
                <a:solidFill>
                  <a:schemeClr val="tx1"/>
                </a:solidFill>
                <a:latin typeface="Arial" charset="0"/>
                <a:cs typeface="Arial" charset="0"/>
              </a:defRPr>
            </a:lvl5pPr>
            <a:lvl6pPr marL="2423753" indent="-220341" eaLnBrk="0" fontAlgn="base" hangingPunct="0">
              <a:spcBef>
                <a:spcPct val="30000"/>
              </a:spcBef>
              <a:spcAft>
                <a:spcPct val="0"/>
              </a:spcAft>
              <a:defRPr sz="1100">
                <a:solidFill>
                  <a:schemeClr val="tx1"/>
                </a:solidFill>
                <a:latin typeface="Arial" charset="0"/>
                <a:cs typeface="Arial" charset="0"/>
              </a:defRPr>
            </a:lvl6pPr>
            <a:lvl7pPr marL="2864435" indent="-220341" eaLnBrk="0" fontAlgn="base" hangingPunct="0">
              <a:spcBef>
                <a:spcPct val="30000"/>
              </a:spcBef>
              <a:spcAft>
                <a:spcPct val="0"/>
              </a:spcAft>
              <a:defRPr sz="1100">
                <a:solidFill>
                  <a:schemeClr val="tx1"/>
                </a:solidFill>
                <a:latin typeface="Arial" charset="0"/>
                <a:cs typeface="Arial" charset="0"/>
              </a:defRPr>
            </a:lvl7pPr>
            <a:lvl8pPr marL="3305117" indent="-220341" eaLnBrk="0" fontAlgn="base" hangingPunct="0">
              <a:spcBef>
                <a:spcPct val="30000"/>
              </a:spcBef>
              <a:spcAft>
                <a:spcPct val="0"/>
              </a:spcAft>
              <a:defRPr sz="1100">
                <a:solidFill>
                  <a:schemeClr val="tx1"/>
                </a:solidFill>
                <a:latin typeface="Arial" charset="0"/>
                <a:cs typeface="Arial" charset="0"/>
              </a:defRPr>
            </a:lvl8pPr>
            <a:lvl9pPr marL="3745800" indent="-220341" eaLnBrk="0" fontAlgn="base" hangingPunct="0">
              <a:spcBef>
                <a:spcPct val="30000"/>
              </a:spcBef>
              <a:spcAft>
                <a:spcPct val="0"/>
              </a:spcAft>
              <a:defRPr sz="1100">
                <a:solidFill>
                  <a:schemeClr val="tx1"/>
                </a:solidFill>
                <a:latin typeface="Arial" charset="0"/>
                <a:cs typeface="Arial" charset="0"/>
              </a:defRPr>
            </a:lvl9pPr>
          </a:lstStyle>
          <a:p>
            <a:pPr eaLnBrk="1" hangingPunct="1">
              <a:spcBef>
                <a:spcPct val="0"/>
              </a:spcBef>
            </a:pPr>
            <a:fld id="{88E90D70-EE40-4F76-9284-2DB09178DD18}" type="slidenum">
              <a:rPr lang="fr-FR" altLang="en-US" smtClean="0"/>
              <a:pPr eaLnBrk="1" hangingPunct="1">
                <a:spcBef>
                  <a:spcPct val="0"/>
                </a:spcBef>
              </a:pPr>
              <a:t>16</a:t>
            </a:fld>
            <a:endParaRPr lang="fr-FR"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ChangeArrowheads="1" noTextEdit="1"/>
          </p:cNvSpPr>
          <p:nvPr>
            <p:ph type="sldImg"/>
          </p:nvPr>
        </p:nvSpPr>
        <p:spPr>
          <a:ln/>
        </p:spPr>
      </p:sp>
      <p:sp>
        <p:nvSpPr>
          <p:cNvPr id="737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altLang="en-US" dirty="0" err="1"/>
              <a:t>India</a:t>
            </a:r>
            <a:r>
              <a:rPr lang="fr-FR" altLang="en-US" dirty="0"/>
              <a:t> once </a:t>
            </a:r>
            <a:r>
              <a:rPr lang="fr-FR" altLang="en-US" dirty="0" err="1"/>
              <a:t>had</a:t>
            </a:r>
            <a:r>
              <a:rPr lang="fr-FR" altLang="en-US" dirty="0"/>
              <a:t> as </a:t>
            </a:r>
            <a:r>
              <a:rPr lang="fr-FR" altLang="en-US" dirty="0" err="1"/>
              <a:t>many</a:t>
            </a:r>
            <a:r>
              <a:rPr lang="fr-FR" altLang="en-US" dirty="0"/>
              <a:t> as 400 million </a:t>
            </a:r>
            <a:r>
              <a:rPr lang="fr-FR" altLang="en-US" dirty="0" err="1"/>
              <a:t>vultures</a:t>
            </a:r>
            <a:r>
              <a:rPr lang="fr-FR" altLang="en-US" dirty="0"/>
              <a:t>, a </a:t>
            </a:r>
            <a:r>
              <a:rPr lang="fr-FR" altLang="en-US" dirty="0" err="1"/>
              <a:t>vast</a:t>
            </a:r>
            <a:r>
              <a:rPr lang="fr-FR" altLang="en-US" dirty="0"/>
              <a:t> population </a:t>
            </a:r>
            <a:r>
              <a:rPr lang="fr-FR" altLang="en-US" dirty="0" err="1"/>
              <a:t>that</a:t>
            </a:r>
            <a:r>
              <a:rPr lang="fr-FR" altLang="en-US" dirty="0"/>
              <a:t> </a:t>
            </a:r>
            <a:r>
              <a:rPr lang="fr-FR" altLang="en-US" dirty="0" err="1"/>
              <a:t>thrived</a:t>
            </a:r>
            <a:r>
              <a:rPr lang="fr-FR" altLang="en-US" dirty="0"/>
              <a:t> </a:t>
            </a:r>
            <a:r>
              <a:rPr lang="fr-FR" altLang="en-US" dirty="0" err="1"/>
              <a:t>because</a:t>
            </a:r>
            <a:r>
              <a:rPr lang="fr-FR" altLang="en-US" dirty="0"/>
              <a:t> the nation has one of the </a:t>
            </a:r>
            <a:r>
              <a:rPr lang="fr-FR" altLang="en-US" dirty="0" err="1"/>
              <a:t>largest</a:t>
            </a:r>
            <a:r>
              <a:rPr lang="fr-FR" altLang="en-US" dirty="0"/>
              <a:t> </a:t>
            </a:r>
            <a:r>
              <a:rPr lang="fr-FR" altLang="en-US" dirty="0" err="1"/>
              <a:t>livestock</a:t>
            </a:r>
            <a:r>
              <a:rPr lang="fr-FR" altLang="en-US" dirty="0"/>
              <a:t> populations in the world but </a:t>
            </a:r>
            <a:r>
              <a:rPr lang="fr-FR" altLang="en-US" dirty="0" err="1"/>
              <a:t>forbids</a:t>
            </a:r>
            <a:r>
              <a:rPr lang="fr-FR" altLang="en-US" dirty="0"/>
              <a:t> </a:t>
            </a:r>
            <a:r>
              <a:rPr lang="fr-FR" altLang="en-US" dirty="0" err="1"/>
              <a:t>cattle</a:t>
            </a:r>
            <a:r>
              <a:rPr lang="fr-FR" altLang="en-US" dirty="0"/>
              <a:t> </a:t>
            </a:r>
            <a:r>
              <a:rPr lang="fr-FR" altLang="en-US" dirty="0" err="1"/>
              <a:t>slaughter</a:t>
            </a:r>
            <a:r>
              <a:rPr lang="fr-FR" altLang="en-US" dirty="0"/>
              <a:t>. </a:t>
            </a:r>
            <a:r>
              <a:rPr lang="fr-FR" altLang="en-US" dirty="0" err="1"/>
              <a:t>When</a:t>
            </a:r>
            <a:r>
              <a:rPr lang="fr-FR" altLang="en-US" dirty="0"/>
              <a:t> </a:t>
            </a:r>
            <a:r>
              <a:rPr lang="fr-FR" altLang="en-US" dirty="0" err="1"/>
              <a:t>cows</a:t>
            </a:r>
            <a:r>
              <a:rPr lang="fr-FR" altLang="en-US" dirty="0"/>
              <a:t> </a:t>
            </a:r>
            <a:r>
              <a:rPr lang="fr-FR" altLang="en-US" dirty="0" err="1"/>
              <a:t>died</a:t>
            </a:r>
            <a:r>
              <a:rPr lang="fr-FR" altLang="en-US" dirty="0"/>
              <a:t>, </a:t>
            </a:r>
            <a:r>
              <a:rPr lang="fr-FR" altLang="en-US" dirty="0" err="1"/>
              <a:t>they</a:t>
            </a:r>
            <a:r>
              <a:rPr lang="fr-FR" altLang="en-US" dirty="0"/>
              <a:t> </a:t>
            </a:r>
            <a:r>
              <a:rPr lang="fr-FR" altLang="en-US" dirty="0" err="1"/>
              <a:t>were</a:t>
            </a:r>
            <a:r>
              <a:rPr lang="fr-FR" altLang="en-US" dirty="0"/>
              <a:t> </a:t>
            </a:r>
            <a:r>
              <a:rPr lang="fr-FR" altLang="en-US" dirty="0" err="1"/>
              <a:t>immediately</a:t>
            </a:r>
            <a:r>
              <a:rPr lang="fr-FR" altLang="en-US" dirty="0"/>
              <a:t> set </a:t>
            </a:r>
            <a:r>
              <a:rPr lang="fr-FR" altLang="en-US" dirty="0" err="1"/>
              <a:t>upon</a:t>
            </a:r>
            <a:r>
              <a:rPr lang="fr-FR" altLang="en-US" dirty="0"/>
              <a:t> by </a:t>
            </a:r>
            <a:r>
              <a:rPr lang="fr-FR" altLang="en-US" dirty="0" err="1"/>
              <a:t>flocks</a:t>
            </a:r>
            <a:r>
              <a:rPr lang="fr-FR" altLang="en-US" dirty="0"/>
              <a:t> of </a:t>
            </a:r>
            <a:r>
              <a:rPr lang="fr-FR" altLang="en-US" dirty="0" err="1"/>
              <a:t>vultures</a:t>
            </a:r>
            <a:r>
              <a:rPr lang="fr-FR" altLang="en-US" dirty="0"/>
              <a:t> </a:t>
            </a:r>
            <a:r>
              <a:rPr lang="fr-FR" altLang="en-US" dirty="0" err="1"/>
              <a:t>that</a:t>
            </a:r>
            <a:r>
              <a:rPr lang="fr-FR" altLang="en-US" dirty="0"/>
              <a:t> </a:t>
            </a:r>
            <a:r>
              <a:rPr lang="fr-FR" altLang="en-US" dirty="0" err="1"/>
              <a:t>left</a:t>
            </a:r>
            <a:r>
              <a:rPr lang="fr-FR" altLang="en-US" dirty="0"/>
              <a:t> </a:t>
            </a:r>
            <a:r>
              <a:rPr lang="fr-FR" altLang="en-US" dirty="0" err="1"/>
              <a:t>behind</a:t>
            </a:r>
            <a:r>
              <a:rPr lang="fr-FR" altLang="en-US" dirty="0"/>
              <a:t> skin for </a:t>
            </a:r>
            <a:r>
              <a:rPr lang="fr-FR" altLang="en-US" dirty="0" err="1"/>
              <a:t>leather</a:t>
            </a:r>
            <a:r>
              <a:rPr lang="fr-FR" altLang="en-US" dirty="0"/>
              <a:t> </a:t>
            </a:r>
            <a:r>
              <a:rPr lang="fr-FR" altLang="en-US" dirty="0" err="1"/>
              <a:t>merchants</a:t>
            </a:r>
            <a:r>
              <a:rPr lang="fr-FR" altLang="en-US" dirty="0"/>
              <a:t> and </a:t>
            </a:r>
            <a:r>
              <a:rPr lang="fr-FR" altLang="en-US" dirty="0" err="1"/>
              <a:t>bones</a:t>
            </a:r>
            <a:r>
              <a:rPr lang="fr-FR" altLang="en-US" dirty="0"/>
              <a:t> for </a:t>
            </a:r>
            <a:r>
              <a:rPr lang="fr-FR" altLang="en-US" dirty="0" err="1"/>
              <a:t>bone</a:t>
            </a:r>
            <a:r>
              <a:rPr lang="fr-FR" altLang="en-US" dirty="0"/>
              <a:t> collectors. As </a:t>
            </a:r>
            <a:r>
              <a:rPr lang="fr-FR" altLang="en-US" dirty="0" err="1"/>
              <a:t>recently</a:t>
            </a:r>
            <a:r>
              <a:rPr lang="fr-FR" altLang="en-US" dirty="0"/>
              <a:t> as the 1980s, </a:t>
            </a:r>
            <a:r>
              <a:rPr lang="fr-FR" altLang="en-US" dirty="0" err="1"/>
              <a:t>even</a:t>
            </a:r>
            <a:r>
              <a:rPr lang="fr-FR" altLang="en-US" dirty="0"/>
              <a:t> the </a:t>
            </a:r>
            <a:r>
              <a:rPr lang="fr-FR" altLang="en-US" dirty="0" err="1"/>
              <a:t>smallest</a:t>
            </a:r>
            <a:r>
              <a:rPr lang="fr-FR" altLang="en-US" dirty="0"/>
              <a:t> villages </a:t>
            </a:r>
            <a:r>
              <a:rPr lang="fr-FR" altLang="en-US" dirty="0" err="1"/>
              <a:t>often</a:t>
            </a:r>
            <a:r>
              <a:rPr lang="fr-FR" altLang="en-US" dirty="0"/>
              <a:t> </a:t>
            </a:r>
            <a:r>
              <a:rPr lang="fr-FR" altLang="en-US" dirty="0" err="1"/>
              <a:t>had</a:t>
            </a:r>
            <a:r>
              <a:rPr lang="fr-FR" altLang="en-US" dirty="0"/>
              <a:t> </a:t>
            </a:r>
            <a:r>
              <a:rPr lang="fr-FR" altLang="en-US" dirty="0" err="1"/>
              <a:t>thousands</a:t>
            </a:r>
            <a:r>
              <a:rPr lang="fr-FR" altLang="en-US" dirty="0"/>
              <a:t> of </a:t>
            </a:r>
            <a:r>
              <a:rPr lang="fr-FR" altLang="en-US" dirty="0" err="1"/>
              <a:t>vulture</a:t>
            </a:r>
            <a:r>
              <a:rPr lang="fr-FR" altLang="en-US" dirty="0"/>
              <a:t> </a:t>
            </a:r>
            <a:r>
              <a:rPr lang="fr-FR" altLang="en-US" dirty="0" err="1"/>
              <a:t>residents</a:t>
            </a:r>
            <a:r>
              <a:rPr lang="fr-FR" altLang="en-US" dirty="0"/>
              <a:t>. </a:t>
            </a:r>
          </a:p>
          <a:p>
            <a:r>
              <a:rPr lang="fr-FR" altLang="en-US" dirty="0"/>
              <a:t>But </a:t>
            </a:r>
            <a:r>
              <a:rPr lang="fr-FR" altLang="en-US" dirty="0" err="1"/>
              <a:t>then</a:t>
            </a:r>
            <a:r>
              <a:rPr lang="fr-FR" altLang="en-US" dirty="0"/>
              <a:t> came </a:t>
            </a:r>
            <a:r>
              <a:rPr lang="fr-FR" altLang="en-US" dirty="0" err="1"/>
              <a:t>diclofenac</a:t>
            </a:r>
            <a:r>
              <a:rPr lang="fr-FR" altLang="en-US" dirty="0"/>
              <a:t>, a </a:t>
            </a:r>
            <a:r>
              <a:rPr lang="fr-FR" altLang="en-US" dirty="0" err="1"/>
              <a:t>common</a:t>
            </a:r>
            <a:r>
              <a:rPr lang="fr-FR" altLang="en-US" dirty="0"/>
              <a:t> </a:t>
            </a:r>
            <a:r>
              <a:rPr lang="fr-FR" altLang="en-US" dirty="0" err="1"/>
              <a:t>painkiller</a:t>
            </a:r>
            <a:r>
              <a:rPr lang="fr-FR" altLang="en-US" dirty="0"/>
              <a:t> </a:t>
            </a:r>
            <a:r>
              <a:rPr lang="fr-FR" altLang="en-US" dirty="0" err="1"/>
              <a:t>widely</a:t>
            </a:r>
            <a:r>
              <a:rPr lang="fr-FR" altLang="en-US" dirty="0"/>
              <a:t> </a:t>
            </a:r>
            <a:r>
              <a:rPr lang="fr-FR" altLang="en-US" dirty="0" err="1"/>
              <a:t>used</a:t>
            </a:r>
            <a:r>
              <a:rPr lang="fr-FR" altLang="en-US" dirty="0"/>
              <a:t> in </a:t>
            </a:r>
            <a:r>
              <a:rPr lang="fr-FR" altLang="en-US" dirty="0" err="1"/>
              <a:t>hospitals</a:t>
            </a:r>
            <a:r>
              <a:rPr lang="fr-FR" altLang="en-US" dirty="0"/>
              <a:t> to </a:t>
            </a:r>
            <a:r>
              <a:rPr lang="fr-FR" altLang="en-US" dirty="0" err="1"/>
              <a:t>lessen</a:t>
            </a:r>
            <a:r>
              <a:rPr lang="fr-FR" altLang="en-US" dirty="0"/>
              <a:t> the pain of the </a:t>
            </a:r>
            <a:r>
              <a:rPr lang="fr-FR" altLang="en-US" dirty="0" err="1"/>
              <a:t>dying</a:t>
            </a:r>
            <a:r>
              <a:rPr lang="fr-FR" altLang="en-US" dirty="0"/>
              <a:t>. </a:t>
            </a:r>
            <a:r>
              <a:rPr lang="fr-FR" altLang="en-US" dirty="0" err="1"/>
              <a:t>Marketed</a:t>
            </a:r>
            <a:r>
              <a:rPr lang="fr-FR" altLang="en-US" dirty="0"/>
              <a:t> </a:t>
            </a:r>
            <a:r>
              <a:rPr lang="fr-FR" altLang="en-US" dirty="0" err="1"/>
              <a:t>under</a:t>
            </a:r>
            <a:r>
              <a:rPr lang="fr-FR" altLang="en-US" dirty="0"/>
              <a:t> </a:t>
            </a:r>
            <a:r>
              <a:rPr lang="fr-FR" altLang="en-US" dirty="0" err="1"/>
              <a:t>names</a:t>
            </a:r>
            <a:r>
              <a:rPr lang="fr-FR" altLang="en-US" dirty="0"/>
              <a:t> </a:t>
            </a:r>
            <a:r>
              <a:rPr lang="fr-FR" altLang="en-US" dirty="0" err="1"/>
              <a:t>like</a:t>
            </a:r>
            <a:r>
              <a:rPr lang="fr-FR" altLang="en-US" dirty="0"/>
              <a:t> </a:t>
            </a:r>
            <a:r>
              <a:rPr lang="fr-FR" altLang="en-US" dirty="0" err="1"/>
              <a:t>Voltaren</a:t>
            </a:r>
            <a:r>
              <a:rPr lang="fr-FR" altLang="en-US" dirty="0"/>
              <a:t>, </a:t>
            </a:r>
            <a:r>
              <a:rPr lang="fr-FR" altLang="en-US" dirty="0" err="1"/>
              <a:t>it</a:t>
            </a:r>
            <a:r>
              <a:rPr lang="fr-FR" altLang="en-US" dirty="0"/>
              <a:t> </a:t>
            </a:r>
            <a:r>
              <a:rPr lang="fr-FR" altLang="en-US" dirty="0" err="1"/>
              <a:t>is</a:t>
            </a:r>
            <a:r>
              <a:rPr lang="fr-FR" altLang="en-US" dirty="0"/>
              <a:t> </a:t>
            </a:r>
            <a:r>
              <a:rPr lang="fr-FR" altLang="en-US" dirty="0" err="1"/>
              <a:t>similar</a:t>
            </a:r>
            <a:r>
              <a:rPr lang="fr-FR" altLang="en-US" dirty="0"/>
              <a:t> to the </a:t>
            </a:r>
            <a:r>
              <a:rPr lang="fr-FR" altLang="en-US" dirty="0" err="1"/>
              <a:t>medicines</a:t>
            </a:r>
            <a:r>
              <a:rPr lang="fr-FR" altLang="en-US" dirty="0"/>
              <a:t> </a:t>
            </a:r>
            <a:r>
              <a:rPr lang="fr-FR" altLang="en-US" dirty="0" err="1"/>
              <a:t>found</a:t>
            </a:r>
            <a:r>
              <a:rPr lang="fr-FR" altLang="en-US" dirty="0"/>
              <a:t> in </a:t>
            </a:r>
            <a:r>
              <a:rPr lang="fr-FR" altLang="en-US" dirty="0" err="1"/>
              <a:t>Advil</a:t>
            </a:r>
            <a:r>
              <a:rPr lang="fr-FR" altLang="en-US" dirty="0"/>
              <a:t> and </a:t>
            </a:r>
            <a:r>
              <a:rPr lang="fr-FR" altLang="en-US" dirty="0" err="1"/>
              <a:t>Aleve</a:t>
            </a:r>
            <a:r>
              <a:rPr lang="fr-FR" altLang="en-US" dirty="0"/>
              <a:t>; in 1993 </a:t>
            </a:r>
            <a:r>
              <a:rPr lang="fr-FR" altLang="en-US" dirty="0" err="1"/>
              <a:t>its</a:t>
            </a:r>
            <a:r>
              <a:rPr lang="fr-FR" altLang="en-US" dirty="0"/>
              <a:t> use in </a:t>
            </a:r>
            <a:r>
              <a:rPr lang="fr-FR" altLang="en-US" dirty="0" err="1"/>
              <a:t>India</a:t>
            </a:r>
            <a:r>
              <a:rPr lang="fr-FR" altLang="en-US" dirty="0"/>
              <a:t> </a:t>
            </a:r>
            <a:r>
              <a:rPr lang="fr-FR" altLang="en-US" dirty="0" err="1"/>
              <a:t>was</a:t>
            </a:r>
            <a:r>
              <a:rPr lang="fr-FR" altLang="en-US" dirty="0"/>
              <a:t> </a:t>
            </a:r>
            <a:r>
              <a:rPr lang="fr-FR" altLang="en-US" dirty="0" err="1"/>
              <a:t>approved</a:t>
            </a:r>
            <a:r>
              <a:rPr lang="fr-FR" altLang="en-US" dirty="0"/>
              <a:t> in </a:t>
            </a:r>
            <a:r>
              <a:rPr lang="fr-FR" altLang="en-US" dirty="0" err="1"/>
              <a:t>cattle</a:t>
            </a:r>
            <a:r>
              <a:rPr lang="fr-FR" altLang="en-US" dirty="0"/>
              <a:t>. </a:t>
            </a:r>
            <a:r>
              <a:rPr lang="fr-FR" altLang="en-US" dirty="0" err="1"/>
              <a:t>Soon</a:t>
            </a:r>
            <a:r>
              <a:rPr lang="fr-FR" altLang="en-US" dirty="0"/>
              <a:t> </a:t>
            </a:r>
            <a:r>
              <a:rPr lang="fr-FR" altLang="en-US" dirty="0" err="1"/>
              <a:t>after</a:t>
            </a:r>
            <a:r>
              <a:rPr lang="fr-FR" altLang="en-US" dirty="0"/>
              <a:t>, </a:t>
            </a:r>
            <a:r>
              <a:rPr lang="fr-FR" altLang="en-US" dirty="0" err="1"/>
              <a:t>vultures</a:t>
            </a:r>
            <a:r>
              <a:rPr lang="fr-FR" altLang="en-US" dirty="0"/>
              <a:t> </a:t>
            </a:r>
            <a:r>
              <a:rPr lang="fr-FR" altLang="en-US" dirty="0" err="1"/>
              <a:t>began</a:t>
            </a:r>
            <a:r>
              <a:rPr lang="fr-FR" altLang="en-US" dirty="0"/>
              <a:t> </a:t>
            </a:r>
            <a:r>
              <a:rPr lang="fr-FR" altLang="en-US" dirty="0" err="1"/>
              <a:t>dying</a:t>
            </a:r>
            <a:r>
              <a:rPr lang="fr-FR" altLang="en-US" dirty="0"/>
              <a:t> in </a:t>
            </a:r>
            <a:r>
              <a:rPr lang="fr-FR" altLang="en-US" dirty="0" err="1"/>
              <a:t>huge</a:t>
            </a:r>
            <a:r>
              <a:rPr lang="fr-FR" altLang="en-US" dirty="0"/>
              <a:t> </a:t>
            </a:r>
            <a:r>
              <a:rPr lang="fr-FR" altLang="en-US" dirty="0" err="1"/>
              <a:t>numbers</a:t>
            </a:r>
            <a:r>
              <a:rPr lang="fr-FR" altLang="en-US" dirty="0"/>
              <a:t> </a:t>
            </a:r>
            <a:r>
              <a:rPr lang="fr-FR" altLang="en-US" dirty="0" err="1"/>
              <a:t>because</a:t>
            </a:r>
            <a:r>
              <a:rPr lang="fr-FR" altLang="en-US" dirty="0"/>
              <a:t> the </a:t>
            </a:r>
            <a:r>
              <a:rPr lang="fr-FR" altLang="en-US" dirty="0" err="1"/>
              <a:t>drug</a:t>
            </a:r>
            <a:r>
              <a:rPr lang="fr-FR" altLang="en-US" dirty="0"/>
              <a:t> causes </a:t>
            </a:r>
            <a:r>
              <a:rPr lang="fr-FR" altLang="en-US" dirty="0" err="1"/>
              <a:t>them</a:t>
            </a:r>
            <a:r>
              <a:rPr lang="fr-FR" altLang="en-US" dirty="0"/>
              <a:t> to </a:t>
            </a:r>
            <a:r>
              <a:rPr lang="fr-FR" altLang="en-US" dirty="0" err="1"/>
              <a:t>suffer</a:t>
            </a:r>
            <a:r>
              <a:rPr lang="fr-FR" altLang="en-US" dirty="0"/>
              <a:t> </a:t>
            </a:r>
            <a:r>
              <a:rPr lang="fr-FR" altLang="en-US" dirty="0" err="1"/>
              <a:t>irreversible</a:t>
            </a:r>
            <a:r>
              <a:rPr lang="fr-FR" altLang="en-US" dirty="0"/>
              <a:t> </a:t>
            </a:r>
            <a:r>
              <a:rPr lang="fr-FR" altLang="en-US" dirty="0" err="1"/>
              <a:t>kidney</a:t>
            </a:r>
            <a:r>
              <a:rPr lang="fr-FR" altLang="en-US" dirty="0"/>
              <a:t> </a:t>
            </a:r>
            <a:r>
              <a:rPr lang="fr-FR" altLang="en-US" dirty="0" err="1"/>
              <a:t>failure</a:t>
            </a:r>
            <a:r>
              <a:rPr lang="fr-FR" altLang="en-US" dirty="0"/>
              <a:t>.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b="1" dirty="0"/>
              <a:t>PLANTATION FOREST </a:t>
            </a:r>
            <a:endParaRPr lang="fr-FR" dirty="0"/>
          </a:p>
          <a:p>
            <a:r>
              <a:rPr lang="en-CA" b="1" dirty="0"/>
              <a:t>Planted Forest that is intensively managed and meet ALL the following criteria at planting and stand maturity: one or two species, even age class, and regular spacing. </a:t>
            </a:r>
            <a:r>
              <a:rPr lang="en-CA" dirty="0"/>
              <a:t>	</a:t>
            </a:r>
          </a:p>
          <a:p>
            <a:endParaRPr lang="fr-FR" dirty="0"/>
          </a:p>
        </p:txBody>
      </p:sp>
      <p:sp>
        <p:nvSpPr>
          <p:cNvPr id="4" name="Espace réservé du numéro de diapositive 3"/>
          <p:cNvSpPr>
            <a:spLocks noGrp="1"/>
          </p:cNvSpPr>
          <p:nvPr>
            <p:ph type="sldNum" sz="quarter" idx="10"/>
          </p:nvPr>
        </p:nvSpPr>
        <p:spPr/>
        <p:txBody>
          <a:bodyPr/>
          <a:lstStyle/>
          <a:p>
            <a:fld id="{955D2AD8-DB2F-49C5-B1EF-97CA679841A3}" type="slidenum">
              <a:rPr lang="en-US" smtClean="0"/>
              <a:t>25</a:t>
            </a:fld>
            <a:endParaRPr lang="en-US"/>
          </a:p>
        </p:txBody>
      </p:sp>
    </p:spTree>
    <p:extLst>
      <p:ext uri="{BB962C8B-B14F-4D97-AF65-F5344CB8AC3E}">
        <p14:creationId xmlns:p14="http://schemas.microsoft.com/office/powerpoint/2010/main" val="16990995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955D2AD8-DB2F-49C5-B1EF-97CA679841A3}" type="slidenum">
              <a:rPr lang="en-US" smtClean="0"/>
              <a:t>26</a:t>
            </a:fld>
            <a:endParaRPr lang="en-US"/>
          </a:p>
        </p:txBody>
      </p:sp>
    </p:spTree>
    <p:extLst>
      <p:ext uri="{BB962C8B-B14F-4D97-AF65-F5344CB8AC3E}">
        <p14:creationId xmlns:p14="http://schemas.microsoft.com/office/powerpoint/2010/main" val="7264460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charset="0"/>
                <a:cs typeface="Arial" charset="0"/>
              </a:defRPr>
            </a:lvl1pPr>
            <a:lvl2pPr marL="757066" indent="-291179" eaLnBrk="0" hangingPunct="0">
              <a:spcBef>
                <a:spcPct val="30000"/>
              </a:spcBef>
              <a:defRPr sz="1200">
                <a:solidFill>
                  <a:schemeClr val="tx1"/>
                </a:solidFill>
                <a:latin typeface="Arial" charset="0"/>
                <a:cs typeface="Arial" charset="0"/>
              </a:defRPr>
            </a:lvl2pPr>
            <a:lvl3pPr marL="1164717" indent="-232943" eaLnBrk="0" hangingPunct="0">
              <a:spcBef>
                <a:spcPct val="30000"/>
              </a:spcBef>
              <a:defRPr sz="1200">
                <a:solidFill>
                  <a:schemeClr val="tx1"/>
                </a:solidFill>
                <a:latin typeface="Arial" charset="0"/>
                <a:cs typeface="Arial" charset="0"/>
              </a:defRPr>
            </a:lvl3pPr>
            <a:lvl4pPr marL="1630604" indent="-232943" eaLnBrk="0" hangingPunct="0">
              <a:spcBef>
                <a:spcPct val="30000"/>
              </a:spcBef>
              <a:defRPr sz="1200">
                <a:solidFill>
                  <a:schemeClr val="tx1"/>
                </a:solidFill>
                <a:latin typeface="Arial" charset="0"/>
                <a:cs typeface="Arial" charset="0"/>
              </a:defRPr>
            </a:lvl4pPr>
            <a:lvl5pPr marL="2096491" indent="-232943" eaLnBrk="0" hangingPunct="0">
              <a:spcBef>
                <a:spcPct val="30000"/>
              </a:spcBef>
              <a:defRPr sz="1200">
                <a:solidFill>
                  <a:schemeClr val="tx1"/>
                </a:solidFill>
                <a:latin typeface="Arial" charset="0"/>
                <a:cs typeface="Arial" charset="0"/>
              </a:defRPr>
            </a:lvl5pPr>
            <a:lvl6pPr marL="2562377" indent="-232943" eaLnBrk="0" fontAlgn="base" hangingPunct="0">
              <a:spcBef>
                <a:spcPct val="30000"/>
              </a:spcBef>
              <a:spcAft>
                <a:spcPct val="0"/>
              </a:spcAft>
              <a:defRPr sz="1200">
                <a:solidFill>
                  <a:schemeClr val="tx1"/>
                </a:solidFill>
                <a:latin typeface="Arial" charset="0"/>
                <a:cs typeface="Arial" charset="0"/>
              </a:defRPr>
            </a:lvl6pPr>
            <a:lvl7pPr marL="3028264" indent="-232943" eaLnBrk="0" fontAlgn="base" hangingPunct="0">
              <a:spcBef>
                <a:spcPct val="30000"/>
              </a:spcBef>
              <a:spcAft>
                <a:spcPct val="0"/>
              </a:spcAft>
              <a:defRPr sz="1200">
                <a:solidFill>
                  <a:schemeClr val="tx1"/>
                </a:solidFill>
                <a:latin typeface="Arial" charset="0"/>
                <a:cs typeface="Arial" charset="0"/>
              </a:defRPr>
            </a:lvl7pPr>
            <a:lvl8pPr marL="3494151" indent="-232943" eaLnBrk="0" fontAlgn="base" hangingPunct="0">
              <a:spcBef>
                <a:spcPct val="30000"/>
              </a:spcBef>
              <a:spcAft>
                <a:spcPct val="0"/>
              </a:spcAft>
              <a:defRPr sz="1200">
                <a:solidFill>
                  <a:schemeClr val="tx1"/>
                </a:solidFill>
                <a:latin typeface="Arial" charset="0"/>
                <a:cs typeface="Arial" charset="0"/>
              </a:defRPr>
            </a:lvl8pPr>
            <a:lvl9pPr marL="3960038" indent="-232943" eaLnBrk="0" fontAlgn="base" hangingPunct="0">
              <a:spcBef>
                <a:spcPct val="30000"/>
              </a:spcBef>
              <a:spcAft>
                <a:spcPct val="0"/>
              </a:spcAft>
              <a:defRPr sz="1200">
                <a:solidFill>
                  <a:schemeClr val="tx1"/>
                </a:solidFill>
                <a:latin typeface="Arial" charset="0"/>
                <a:cs typeface="Arial" charset="0"/>
              </a:defRPr>
            </a:lvl9pPr>
          </a:lstStyle>
          <a:p>
            <a:pPr eaLnBrk="1" hangingPunct="1">
              <a:spcBef>
                <a:spcPct val="0"/>
              </a:spcBef>
            </a:pPr>
            <a:fld id="{4A6E1D3C-BF11-4EDF-B6DE-0144B7CE77D1}" type="slidenum">
              <a:rPr lang="fr-FR" altLang="en-US" smtClean="0"/>
              <a:pPr eaLnBrk="1" hangingPunct="1">
                <a:spcBef>
                  <a:spcPct val="0"/>
                </a:spcBef>
              </a:pPr>
              <a:t>28</a:t>
            </a:fld>
            <a:endParaRPr lang="fr-FR" altLang="en-US"/>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fr-FR" altLang="en-US" sz="1000" dirty="0"/>
              <a:t>La société des eaux Vittel a négocié avec les agriculteurs du bassin versant, un contrat imposant le respect du cahier des charges suivant :</a:t>
            </a:r>
          </a:p>
          <a:p>
            <a:pPr eaLnBrk="1" hangingPunct="1"/>
            <a:r>
              <a:rPr lang="fr-FR" altLang="en-US" sz="1000" dirty="0"/>
              <a:t>Suppression totale de la culture de maïs </a:t>
            </a:r>
          </a:p>
          <a:p>
            <a:pPr eaLnBrk="1" hangingPunct="1"/>
            <a:r>
              <a:rPr lang="fr-FR" altLang="en-US" sz="1000" dirty="0"/>
              <a:t>Compostage de l’ensemble des déjections animales </a:t>
            </a:r>
          </a:p>
          <a:p>
            <a:pPr eaLnBrk="1" hangingPunct="1"/>
            <a:r>
              <a:rPr lang="fr-FR" altLang="en-US" sz="1000" dirty="0"/>
              <a:t>Chargement limité à 1 UGB/ha de surface fourragère réservée à l’alimentation animale </a:t>
            </a:r>
          </a:p>
          <a:p>
            <a:pPr eaLnBrk="1" hangingPunct="1"/>
            <a:r>
              <a:rPr lang="fr-FR" altLang="en-US" sz="1000" dirty="0"/>
              <a:t>Interdiction d’utilisation de produits phytosanitaires </a:t>
            </a:r>
          </a:p>
          <a:p>
            <a:pPr eaLnBrk="1" hangingPunct="1"/>
            <a:r>
              <a:rPr lang="fr-FR" altLang="en-US" sz="1000" dirty="0"/>
              <a:t>Fertilisation azotée raisonnée en priorité avec les déjections animales compostées </a:t>
            </a:r>
          </a:p>
          <a:p>
            <a:pPr eaLnBrk="1" hangingPunct="1"/>
            <a:r>
              <a:rPr lang="fr-FR" altLang="en-US" sz="1000" dirty="0"/>
              <a:t>Conduite d’une nouvelle rotation culturale à base de luzerne </a:t>
            </a:r>
          </a:p>
          <a:p>
            <a:pPr eaLnBrk="1" hangingPunct="1"/>
            <a:r>
              <a:rPr lang="fr-FR" altLang="en-US" sz="1000" dirty="0"/>
              <a:t>Mise aux normes des bâtiments d’élevage </a:t>
            </a:r>
          </a:p>
          <a:p>
            <a:pPr eaLnBrk="1" hangingPunct="1"/>
            <a:r>
              <a:rPr lang="fr-FR" altLang="en-US" sz="1000" dirty="0"/>
              <a:t>La contractualisation s’est inscrite dans une démarche de concertation entre la société Vittel et les agriculteurs, sans introduction de dispositions réglementaires.</a:t>
            </a:r>
          </a:p>
          <a:p>
            <a:pPr eaLnBrk="1" hangingPunct="1"/>
            <a:r>
              <a:rPr lang="fr-FR" altLang="en-US" sz="1000" dirty="0"/>
              <a:t>A partir de 1987, la société Vittel a offert d’acheter les surfaces agricoles et les droits d’exploitation au prix de</a:t>
            </a:r>
          </a:p>
          <a:p>
            <a:pPr eaLnBrk="1" hangingPunct="1"/>
            <a:r>
              <a:rPr lang="fr-FR" altLang="en-US" sz="1000" dirty="0"/>
              <a:t>3000 €/ha au propriétaire et</a:t>
            </a:r>
          </a:p>
          <a:p>
            <a:pPr eaLnBrk="1" hangingPunct="1"/>
            <a:r>
              <a:rPr lang="fr-FR" altLang="en-US" sz="1000" dirty="0"/>
              <a:t>3000 €/ha à l’exploitant, pour renoncement au bail rural.</a:t>
            </a:r>
          </a:p>
          <a:p>
            <a:pPr eaLnBrk="1" hangingPunct="1"/>
            <a:r>
              <a:rPr lang="fr-FR" altLang="en-US" sz="1000" dirty="0"/>
              <a:t>Dans les années 1990, la société est parvenue à maîtriser 50% des terres cultivées, soit 1800 ha.</a:t>
            </a:r>
          </a:p>
          <a:p>
            <a:pPr eaLnBrk="1" hangingPunct="1"/>
            <a:r>
              <a:rPr lang="fr-FR" altLang="en-US" sz="1000" dirty="0"/>
              <a:t>Les terres sont mises à la disposition des agriculteurs signataires du cahier des charges pour une durée de 18 ans ou 30 ans, gratuitement pour éviter le statut de fermage (qui ne permet pas au propriétaire de fixer un cahier des charges).</a:t>
            </a:r>
          </a:p>
          <a:p>
            <a:pPr eaLnBrk="1" hangingPunct="1"/>
            <a:r>
              <a:rPr lang="fr-FR" altLang="en-US" sz="1000" dirty="0"/>
              <a:t>La réaffectation des terres a conduit au remembrement des parcelles et à une rationalisation des exploitations par regroupement des parcelles de pâturage autour des bâtiments d’élevage.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en-CA" dirty="0"/>
              <a:t>The authors present estimates of the economic costs to agriculture and industries affected by tourism of the outbreak of foot and mouth disease (FMD) in the United Kingdom (UK) in 2001. The losses to agriculture and the food chain amount to about Pound Sterling3.1 billion. The majority of the costs to agriculture have been met by the Government through compensation for slaughter and disposal as well as clean-up costs. Nonetheless, agricultural producers will have suffered losses, estimated at Pound Sterling355 million, which represents about 20% of the estimated total income from farming in 2001. Based on data from surveys of tourism, businesses directly affected by tourist expenditure are estimated to have lost a similar total amount (between Pound Sterling2.7 and Pound Sterling3.2 billion) as a result of reduced numbers of people visiting the countryside. The industries which supply agriculture, the food industries and tourist-related businesses will also have suffered losses. However, the overall costs to the UK economy are substantially less than the sum of these components, as much of the expenditure by tourists was not lost, but merely displaced to other sectors of the economy. Overall, the net effect of FMD is estimated to have reduced the gross domestic product in the UK by less than 0.2% in 2001. </a:t>
            </a:r>
            <a:br>
              <a:rPr lang="en-CA" dirty="0"/>
            </a:br>
            <a:r>
              <a:rPr lang="en-CA" i="1" dirty="0"/>
              <a:t>Economic Costs of the Foot and Mouth Disease Outbreak in the United Kingdom in 2001</a:t>
            </a:r>
            <a:r>
              <a:rPr lang="en-CA" dirty="0"/>
              <a:t>. Available from: </a:t>
            </a:r>
            <a:r>
              <a:rPr lang="en-CA" dirty="0">
                <a:hlinkClick r:id="rId3"/>
              </a:rPr>
              <a:t>https://www.researchgate.net/publication/5454878_Economic_Costs_of_the_Foot_and_Mouth_Disease_Outbreak_in_the_United_Kingdom_in_2001</a:t>
            </a:r>
            <a:r>
              <a:rPr lang="en-CA" dirty="0"/>
              <a:t> [accessed Nov 06 2018].</a:t>
            </a:r>
          </a:p>
          <a:p>
            <a:endParaRPr lang="en-CA" dirty="0"/>
          </a:p>
          <a:p>
            <a:r>
              <a:rPr lang="en-CA" dirty="0"/>
              <a:t>The outbreak of </a:t>
            </a:r>
            <a:r>
              <a:rPr lang="en-CA" dirty="0">
                <a:hlinkClick r:id="rId4" tooltip="Foot-and-mouth disease"/>
              </a:rPr>
              <a:t>foot-and-mouth disease</a:t>
            </a:r>
            <a:r>
              <a:rPr lang="en-CA" dirty="0"/>
              <a:t> in the </a:t>
            </a:r>
            <a:r>
              <a:rPr lang="en-CA" dirty="0">
                <a:hlinkClick r:id="rId5" tooltip="United Kingdom"/>
              </a:rPr>
              <a:t>United Kingdom</a:t>
            </a:r>
            <a:r>
              <a:rPr lang="en-CA" dirty="0"/>
              <a:t> in 2001 caused a crisis in British </a:t>
            </a:r>
            <a:r>
              <a:rPr lang="en-CA" dirty="0">
                <a:hlinkClick r:id="rId6" tooltip="Agriculture"/>
              </a:rPr>
              <a:t>agriculture</a:t>
            </a:r>
            <a:r>
              <a:rPr lang="en-CA" dirty="0"/>
              <a:t> and </a:t>
            </a:r>
            <a:r>
              <a:rPr lang="en-CA" dirty="0">
                <a:hlinkClick r:id="rId7" tooltip="Tourism"/>
              </a:rPr>
              <a:t>tourism</a:t>
            </a:r>
            <a:r>
              <a:rPr lang="en-CA" dirty="0"/>
              <a:t>. This </a:t>
            </a:r>
            <a:r>
              <a:rPr lang="en-CA" dirty="0">
                <a:hlinkClick r:id="rId8" tooltip="Epizootic"/>
              </a:rPr>
              <a:t>epizootic</a:t>
            </a:r>
            <a:r>
              <a:rPr lang="en-CA" dirty="0"/>
              <a:t> saw 2,026 cases of the disease in farms across most of the British countryside. Over 6 million cows and sheep were killed</a:t>
            </a:r>
            <a:r>
              <a:rPr lang="en-CA" baseline="30000" dirty="0">
                <a:hlinkClick r:id="rId9"/>
              </a:rPr>
              <a:t>[1]</a:t>
            </a:r>
            <a:r>
              <a:rPr lang="en-CA" dirty="0"/>
              <a:t> in an eventually successful attempt to halt the disease. </a:t>
            </a:r>
            <a:r>
              <a:rPr lang="en-CA" dirty="0">
                <a:hlinkClick r:id="rId10" tooltip="Cumbria"/>
              </a:rPr>
              <a:t>Cumbria</a:t>
            </a:r>
            <a:r>
              <a:rPr lang="en-CA" dirty="0"/>
              <a:t> was the worst affected area of the country, with 893 cases. </a:t>
            </a:r>
          </a:p>
          <a:p>
            <a:r>
              <a:rPr lang="en-CA" dirty="0"/>
              <a:t>With the intention of controlling the spread of the disease, public rights of way across land were closed by order. This damaged the popularity of the </a:t>
            </a:r>
            <a:r>
              <a:rPr lang="en-CA" dirty="0">
                <a:hlinkClick r:id="rId11" tooltip="Lake District"/>
              </a:rPr>
              <a:t>Lake District</a:t>
            </a:r>
            <a:r>
              <a:rPr lang="en-CA" dirty="0"/>
              <a:t> as a tourist destination and led to the cancellation of that year's </a:t>
            </a:r>
            <a:r>
              <a:rPr lang="en-CA" dirty="0">
                <a:hlinkClick r:id="rId12" tooltip="Cheltenham Festival"/>
              </a:rPr>
              <a:t>Cheltenham Festival</a:t>
            </a:r>
            <a:r>
              <a:rPr lang="en-CA" dirty="0"/>
              <a:t>, as well as the </a:t>
            </a:r>
            <a:r>
              <a:rPr lang="en-CA" dirty="0">
                <a:hlinkClick r:id="rId13" tooltip="British Rally Championship"/>
              </a:rPr>
              <a:t>British Rally Championship</a:t>
            </a:r>
            <a:r>
              <a:rPr lang="en-CA" dirty="0"/>
              <a:t> for the 2001 season, as well as delaying </a:t>
            </a:r>
            <a:r>
              <a:rPr lang="en-CA" dirty="0">
                <a:hlinkClick r:id="rId14" tooltip="2001 UK General Election"/>
              </a:rPr>
              <a:t>that year's general election</a:t>
            </a:r>
            <a:r>
              <a:rPr lang="en-CA" dirty="0"/>
              <a:t> by a month. By the time that the disease was halted in October 2001, the crisis was estimated to have cost the United Kingdom £8bn (US$16bn). </a:t>
            </a:r>
          </a:p>
          <a:p>
            <a:endParaRPr lang="en-US" dirty="0"/>
          </a:p>
        </p:txBody>
      </p:sp>
      <p:sp>
        <p:nvSpPr>
          <p:cNvPr id="4" name="Espace réservé du numéro de diapositive 3"/>
          <p:cNvSpPr>
            <a:spLocks noGrp="1"/>
          </p:cNvSpPr>
          <p:nvPr>
            <p:ph type="sldNum" sz="quarter" idx="10"/>
          </p:nvPr>
        </p:nvSpPr>
        <p:spPr/>
        <p:txBody>
          <a:bodyPr/>
          <a:lstStyle/>
          <a:p>
            <a:pPr>
              <a:defRPr/>
            </a:pPr>
            <a:fld id="{00AE6ABA-3C2D-4547-A764-E4FD58C76072}" type="slidenum">
              <a:rPr lang="fr-FR" smtClean="0"/>
              <a:pPr>
                <a:defRPr/>
              </a:pPr>
              <a:t>29</a:t>
            </a:fld>
            <a:endParaRPr lang="fr-FR"/>
          </a:p>
        </p:txBody>
      </p:sp>
    </p:spTree>
    <p:extLst>
      <p:ext uri="{BB962C8B-B14F-4D97-AF65-F5344CB8AC3E}">
        <p14:creationId xmlns:p14="http://schemas.microsoft.com/office/powerpoint/2010/main" val="9029694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955D2AD8-DB2F-49C5-B1EF-97CA679841A3}" type="slidenum">
              <a:rPr lang="en-US" smtClean="0"/>
              <a:t>31</a:t>
            </a:fld>
            <a:endParaRPr lang="en-US"/>
          </a:p>
        </p:txBody>
      </p:sp>
    </p:spTree>
    <p:extLst>
      <p:ext uri="{BB962C8B-B14F-4D97-AF65-F5344CB8AC3E}">
        <p14:creationId xmlns:p14="http://schemas.microsoft.com/office/powerpoint/2010/main" val="37660360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955D2AD8-DB2F-49C5-B1EF-97CA679841A3}" type="slidenum">
              <a:rPr lang="en-US" smtClean="0"/>
              <a:t>33</a:t>
            </a:fld>
            <a:endParaRPr lang="en-US"/>
          </a:p>
        </p:txBody>
      </p:sp>
    </p:spTree>
    <p:extLst>
      <p:ext uri="{BB962C8B-B14F-4D97-AF65-F5344CB8AC3E}">
        <p14:creationId xmlns:p14="http://schemas.microsoft.com/office/powerpoint/2010/main" val="10011556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955D2AD8-DB2F-49C5-B1EF-97CA679841A3}" type="slidenum">
              <a:rPr lang="en-US" smtClean="0"/>
              <a:t>34</a:t>
            </a:fld>
            <a:endParaRPr lang="en-US"/>
          </a:p>
        </p:txBody>
      </p:sp>
    </p:spTree>
    <p:extLst>
      <p:ext uri="{BB962C8B-B14F-4D97-AF65-F5344CB8AC3E}">
        <p14:creationId xmlns:p14="http://schemas.microsoft.com/office/powerpoint/2010/main" val="1128640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955D2AD8-DB2F-49C5-B1EF-97CA679841A3}" type="slidenum">
              <a:rPr lang="en-US" smtClean="0"/>
              <a:t>36</a:t>
            </a:fld>
            <a:endParaRPr lang="en-US"/>
          </a:p>
        </p:txBody>
      </p:sp>
    </p:spTree>
    <p:extLst>
      <p:ext uri="{BB962C8B-B14F-4D97-AF65-F5344CB8AC3E}">
        <p14:creationId xmlns:p14="http://schemas.microsoft.com/office/powerpoint/2010/main" val="34404166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4" name="Group 7"/>
          <p:cNvGrpSpPr>
            <a:grpSpLocks/>
          </p:cNvGrpSpPr>
          <p:nvPr/>
        </p:nvGrpSpPr>
        <p:grpSpPr bwMode="auto">
          <a:xfrm>
            <a:off x="228600" y="2889250"/>
            <a:ext cx="8610600" cy="201613"/>
            <a:chOff x="144" y="1680"/>
            <a:chExt cx="5424" cy="144"/>
          </a:xfrm>
        </p:grpSpPr>
        <p:sp>
          <p:nvSpPr>
            <p:cNvPr id="5" name="Rectangle 8"/>
            <p:cNvSpPr>
              <a:spLocks noChangeArrowheads="1"/>
            </p:cNvSpPr>
            <p:nvPr userDrawn="1"/>
          </p:nvSpPr>
          <p:spPr bwMode="auto">
            <a:xfrm>
              <a:off x="144" y="1680"/>
              <a:ext cx="1808" cy="144"/>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Verdana" pitchFamily="34" charset="0"/>
                  <a:cs typeface="Arial" charset="0"/>
                </a:defRPr>
              </a:lvl1pPr>
              <a:lvl2pPr marL="742950" indent="-285750" eaLnBrk="0" hangingPunct="0">
                <a:defRPr>
                  <a:solidFill>
                    <a:schemeClr val="tx1"/>
                  </a:solidFill>
                  <a:latin typeface="Verdana" pitchFamily="34" charset="0"/>
                  <a:cs typeface="Arial" charset="0"/>
                </a:defRPr>
              </a:lvl2pPr>
              <a:lvl3pPr marL="1143000" indent="-228600" eaLnBrk="0" hangingPunct="0">
                <a:defRPr>
                  <a:solidFill>
                    <a:schemeClr val="tx1"/>
                  </a:solidFill>
                  <a:latin typeface="Verdana" pitchFamily="34" charset="0"/>
                  <a:cs typeface="Arial" charset="0"/>
                </a:defRPr>
              </a:lvl3pPr>
              <a:lvl4pPr marL="1600200" indent="-228600" eaLnBrk="0" hangingPunct="0">
                <a:defRPr>
                  <a:solidFill>
                    <a:schemeClr val="tx1"/>
                  </a:solidFill>
                  <a:latin typeface="Verdana" pitchFamily="34" charset="0"/>
                  <a:cs typeface="Arial" charset="0"/>
                </a:defRPr>
              </a:lvl4pPr>
              <a:lvl5pPr marL="2057400" indent="-228600" eaLnBrk="0" hangingPunct="0">
                <a:defRPr>
                  <a:solidFill>
                    <a:schemeClr val="tx1"/>
                  </a:solidFill>
                  <a:latin typeface="Verdana" pitchFamily="34" charset="0"/>
                  <a:cs typeface="Arial" charset="0"/>
                </a:defRPr>
              </a:lvl5pPr>
              <a:lvl6pPr marL="2514600" indent="-228600" eaLnBrk="0" fontAlgn="base" hangingPunct="0">
                <a:spcBef>
                  <a:spcPct val="0"/>
                </a:spcBef>
                <a:spcAft>
                  <a:spcPct val="0"/>
                </a:spcAft>
                <a:defRPr>
                  <a:solidFill>
                    <a:schemeClr val="tx1"/>
                  </a:solidFill>
                  <a:latin typeface="Verdana" pitchFamily="34" charset="0"/>
                  <a:cs typeface="Arial" charset="0"/>
                </a:defRPr>
              </a:lvl6pPr>
              <a:lvl7pPr marL="2971800" indent="-228600" eaLnBrk="0" fontAlgn="base" hangingPunct="0">
                <a:spcBef>
                  <a:spcPct val="0"/>
                </a:spcBef>
                <a:spcAft>
                  <a:spcPct val="0"/>
                </a:spcAft>
                <a:defRPr>
                  <a:solidFill>
                    <a:schemeClr val="tx1"/>
                  </a:solidFill>
                  <a:latin typeface="Verdana" pitchFamily="34" charset="0"/>
                  <a:cs typeface="Arial" charset="0"/>
                </a:defRPr>
              </a:lvl7pPr>
              <a:lvl8pPr marL="3429000" indent="-228600" eaLnBrk="0" fontAlgn="base" hangingPunct="0">
                <a:spcBef>
                  <a:spcPct val="0"/>
                </a:spcBef>
                <a:spcAft>
                  <a:spcPct val="0"/>
                </a:spcAft>
                <a:defRPr>
                  <a:solidFill>
                    <a:schemeClr val="tx1"/>
                  </a:solidFill>
                  <a:latin typeface="Verdana" pitchFamily="34" charset="0"/>
                  <a:cs typeface="Arial" charset="0"/>
                </a:defRPr>
              </a:lvl8pPr>
              <a:lvl9pPr marL="3886200" indent="-228600" eaLnBrk="0" fontAlgn="base" hangingPunct="0">
                <a:spcBef>
                  <a:spcPct val="0"/>
                </a:spcBef>
                <a:spcAft>
                  <a:spcPct val="0"/>
                </a:spcAft>
                <a:defRPr>
                  <a:solidFill>
                    <a:schemeClr val="tx1"/>
                  </a:solidFill>
                  <a:latin typeface="Verdana" pitchFamily="34" charset="0"/>
                  <a:cs typeface="Arial" charset="0"/>
                </a:defRPr>
              </a:lvl9pPr>
            </a:lstStyle>
            <a:p>
              <a:pPr eaLnBrk="1" hangingPunct="1">
                <a:defRPr/>
              </a:pPr>
              <a:endParaRPr lang="en-CA" altLang="en-US"/>
            </a:p>
          </p:txBody>
        </p:sp>
        <p:sp>
          <p:nvSpPr>
            <p:cNvPr id="6" name="Rectangle 9"/>
            <p:cNvSpPr>
              <a:spLocks noChangeArrowheads="1"/>
            </p:cNvSpPr>
            <p:nvPr userDrawn="1"/>
          </p:nvSpPr>
          <p:spPr bwMode="auto">
            <a:xfrm>
              <a:off x="1952" y="1680"/>
              <a:ext cx="1808" cy="144"/>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Verdana" pitchFamily="34" charset="0"/>
                  <a:cs typeface="Arial" charset="0"/>
                </a:defRPr>
              </a:lvl1pPr>
              <a:lvl2pPr marL="742950" indent="-285750" eaLnBrk="0" hangingPunct="0">
                <a:defRPr>
                  <a:solidFill>
                    <a:schemeClr val="tx1"/>
                  </a:solidFill>
                  <a:latin typeface="Verdana" pitchFamily="34" charset="0"/>
                  <a:cs typeface="Arial" charset="0"/>
                </a:defRPr>
              </a:lvl2pPr>
              <a:lvl3pPr marL="1143000" indent="-228600" eaLnBrk="0" hangingPunct="0">
                <a:defRPr>
                  <a:solidFill>
                    <a:schemeClr val="tx1"/>
                  </a:solidFill>
                  <a:latin typeface="Verdana" pitchFamily="34" charset="0"/>
                  <a:cs typeface="Arial" charset="0"/>
                </a:defRPr>
              </a:lvl3pPr>
              <a:lvl4pPr marL="1600200" indent="-228600" eaLnBrk="0" hangingPunct="0">
                <a:defRPr>
                  <a:solidFill>
                    <a:schemeClr val="tx1"/>
                  </a:solidFill>
                  <a:latin typeface="Verdana" pitchFamily="34" charset="0"/>
                  <a:cs typeface="Arial" charset="0"/>
                </a:defRPr>
              </a:lvl4pPr>
              <a:lvl5pPr marL="2057400" indent="-228600" eaLnBrk="0" hangingPunct="0">
                <a:defRPr>
                  <a:solidFill>
                    <a:schemeClr val="tx1"/>
                  </a:solidFill>
                  <a:latin typeface="Verdana" pitchFamily="34" charset="0"/>
                  <a:cs typeface="Arial" charset="0"/>
                </a:defRPr>
              </a:lvl5pPr>
              <a:lvl6pPr marL="2514600" indent="-228600" eaLnBrk="0" fontAlgn="base" hangingPunct="0">
                <a:spcBef>
                  <a:spcPct val="0"/>
                </a:spcBef>
                <a:spcAft>
                  <a:spcPct val="0"/>
                </a:spcAft>
                <a:defRPr>
                  <a:solidFill>
                    <a:schemeClr val="tx1"/>
                  </a:solidFill>
                  <a:latin typeface="Verdana" pitchFamily="34" charset="0"/>
                  <a:cs typeface="Arial" charset="0"/>
                </a:defRPr>
              </a:lvl6pPr>
              <a:lvl7pPr marL="2971800" indent="-228600" eaLnBrk="0" fontAlgn="base" hangingPunct="0">
                <a:spcBef>
                  <a:spcPct val="0"/>
                </a:spcBef>
                <a:spcAft>
                  <a:spcPct val="0"/>
                </a:spcAft>
                <a:defRPr>
                  <a:solidFill>
                    <a:schemeClr val="tx1"/>
                  </a:solidFill>
                  <a:latin typeface="Verdana" pitchFamily="34" charset="0"/>
                  <a:cs typeface="Arial" charset="0"/>
                </a:defRPr>
              </a:lvl7pPr>
              <a:lvl8pPr marL="3429000" indent="-228600" eaLnBrk="0" fontAlgn="base" hangingPunct="0">
                <a:spcBef>
                  <a:spcPct val="0"/>
                </a:spcBef>
                <a:spcAft>
                  <a:spcPct val="0"/>
                </a:spcAft>
                <a:defRPr>
                  <a:solidFill>
                    <a:schemeClr val="tx1"/>
                  </a:solidFill>
                  <a:latin typeface="Verdana" pitchFamily="34" charset="0"/>
                  <a:cs typeface="Arial" charset="0"/>
                </a:defRPr>
              </a:lvl8pPr>
              <a:lvl9pPr marL="3886200" indent="-228600" eaLnBrk="0" fontAlgn="base" hangingPunct="0">
                <a:spcBef>
                  <a:spcPct val="0"/>
                </a:spcBef>
                <a:spcAft>
                  <a:spcPct val="0"/>
                </a:spcAft>
                <a:defRPr>
                  <a:solidFill>
                    <a:schemeClr val="tx1"/>
                  </a:solidFill>
                  <a:latin typeface="Verdana" pitchFamily="34" charset="0"/>
                  <a:cs typeface="Arial" charset="0"/>
                </a:defRPr>
              </a:lvl9pPr>
            </a:lstStyle>
            <a:p>
              <a:pPr eaLnBrk="1" hangingPunct="1">
                <a:defRPr/>
              </a:pPr>
              <a:endParaRPr lang="en-CA" altLang="en-US"/>
            </a:p>
          </p:txBody>
        </p:sp>
        <p:sp>
          <p:nvSpPr>
            <p:cNvPr id="7" name="Rectangle 10"/>
            <p:cNvSpPr>
              <a:spLocks noChangeArrowheads="1"/>
            </p:cNvSpPr>
            <p:nvPr userDrawn="1"/>
          </p:nvSpPr>
          <p:spPr bwMode="auto">
            <a:xfrm>
              <a:off x="3760" y="1680"/>
              <a:ext cx="1808" cy="144"/>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Verdana" pitchFamily="34" charset="0"/>
                  <a:cs typeface="Arial" charset="0"/>
                </a:defRPr>
              </a:lvl1pPr>
              <a:lvl2pPr marL="742950" indent="-285750" eaLnBrk="0" hangingPunct="0">
                <a:defRPr>
                  <a:solidFill>
                    <a:schemeClr val="tx1"/>
                  </a:solidFill>
                  <a:latin typeface="Verdana" pitchFamily="34" charset="0"/>
                  <a:cs typeface="Arial" charset="0"/>
                </a:defRPr>
              </a:lvl2pPr>
              <a:lvl3pPr marL="1143000" indent="-228600" eaLnBrk="0" hangingPunct="0">
                <a:defRPr>
                  <a:solidFill>
                    <a:schemeClr val="tx1"/>
                  </a:solidFill>
                  <a:latin typeface="Verdana" pitchFamily="34" charset="0"/>
                  <a:cs typeface="Arial" charset="0"/>
                </a:defRPr>
              </a:lvl3pPr>
              <a:lvl4pPr marL="1600200" indent="-228600" eaLnBrk="0" hangingPunct="0">
                <a:defRPr>
                  <a:solidFill>
                    <a:schemeClr val="tx1"/>
                  </a:solidFill>
                  <a:latin typeface="Verdana" pitchFamily="34" charset="0"/>
                  <a:cs typeface="Arial" charset="0"/>
                </a:defRPr>
              </a:lvl4pPr>
              <a:lvl5pPr marL="2057400" indent="-228600" eaLnBrk="0" hangingPunct="0">
                <a:defRPr>
                  <a:solidFill>
                    <a:schemeClr val="tx1"/>
                  </a:solidFill>
                  <a:latin typeface="Verdana" pitchFamily="34" charset="0"/>
                  <a:cs typeface="Arial" charset="0"/>
                </a:defRPr>
              </a:lvl5pPr>
              <a:lvl6pPr marL="2514600" indent="-228600" eaLnBrk="0" fontAlgn="base" hangingPunct="0">
                <a:spcBef>
                  <a:spcPct val="0"/>
                </a:spcBef>
                <a:spcAft>
                  <a:spcPct val="0"/>
                </a:spcAft>
                <a:defRPr>
                  <a:solidFill>
                    <a:schemeClr val="tx1"/>
                  </a:solidFill>
                  <a:latin typeface="Verdana" pitchFamily="34" charset="0"/>
                  <a:cs typeface="Arial" charset="0"/>
                </a:defRPr>
              </a:lvl6pPr>
              <a:lvl7pPr marL="2971800" indent="-228600" eaLnBrk="0" fontAlgn="base" hangingPunct="0">
                <a:spcBef>
                  <a:spcPct val="0"/>
                </a:spcBef>
                <a:spcAft>
                  <a:spcPct val="0"/>
                </a:spcAft>
                <a:defRPr>
                  <a:solidFill>
                    <a:schemeClr val="tx1"/>
                  </a:solidFill>
                  <a:latin typeface="Verdana" pitchFamily="34" charset="0"/>
                  <a:cs typeface="Arial" charset="0"/>
                </a:defRPr>
              </a:lvl7pPr>
              <a:lvl8pPr marL="3429000" indent="-228600" eaLnBrk="0" fontAlgn="base" hangingPunct="0">
                <a:spcBef>
                  <a:spcPct val="0"/>
                </a:spcBef>
                <a:spcAft>
                  <a:spcPct val="0"/>
                </a:spcAft>
                <a:defRPr>
                  <a:solidFill>
                    <a:schemeClr val="tx1"/>
                  </a:solidFill>
                  <a:latin typeface="Verdana" pitchFamily="34" charset="0"/>
                  <a:cs typeface="Arial" charset="0"/>
                </a:defRPr>
              </a:lvl8pPr>
              <a:lvl9pPr marL="3886200" indent="-228600" eaLnBrk="0" fontAlgn="base" hangingPunct="0">
                <a:spcBef>
                  <a:spcPct val="0"/>
                </a:spcBef>
                <a:spcAft>
                  <a:spcPct val="0"/>
                </a:spcAft>
                <a:defRPr>
                  <a:solidFill>
                    <a:schemeClr val="tx1"/>
                  </a:solidFill>
                  <a:latin typeface="Verdana" pitchFamily="34" charset="0"/>
                  <a:cs typeface="Arial" charset="0"/>
                </a:defRPr>
              </a:lvl9pPr>
            </a:lstStyle>
            <a:p>
              <a:pPr eaLnBrk="1" hangingPunct="1">
                <a:defRPr/>
              </a:pPr>
              <a:endParaRPr lang="en-CA" altLang="en-US"/>
            </a:p>
          </p:txBody>
        </p:sp>
      </p:grpSp>
      <p:sp>
        <p:nvSpPr>
          <p:cNvPr id="5122" name="Rectangle 2"/>
          <p:cNvSpPr>
            <a:spLocks noGrp="1" noChangeArrowheads="1"/>
          </p:cNvSpPr>
          <p:nvPr>
            <p:ph type="ctrTitle"/>
          </p:nvPr>
        </p:nvSpPr>
        <p:spPr>
          <a:xfrm>
            <a:off x="685800" y="685800"/>
            <a:ext cx="7772400" cy="2127250"/>
          </a:xfrm>
        </p:spPr>
        <p:txBody>
          <a:bodyPr/>
          <a:lstStyle>
            <a:lvl1pPr algn="ctr">
              <a:defRPr sz="5800"/>
            </a:lvl1pPr>
          </a:lstStyle>
          <a:p>
            <a:pPr lvl="0"/>
            <a:r>
              <a:rPr lang="fr-FR" noProof="0"/>
              <a:t>Modifiez le style du titre</a:t>
            </a:r>
          </a:p>
        </p:txBody>
      </p:sp>
      <p:sp>
        <p:nvSpPr>
          <p:cNvPr id="5123" name="Rectangle 3"/>
          <p:cNvSpPr>
            <a:spLocks noGrp="1" noChangeArrowheads="1"/>
          </p:cNvSpPr>
          <p:nvPr>
            <p:ph type="subTitle" idx="1"/>
          </p:nvPr>
        </p:nvSpPr>
        <p:spPr>
          <a:xfrm>
            <a:off x="1371600" y="3270250"/>
            <a:ext cx="6400800" cy="2209800"/>
          </a:xfrm>
        </p:spPr>
        <p:txBody>
          <a:bodyPr/>
          <a:lstStyle>
            <a:lvl1pPr marL="0" indent="0" algn="ctr">
              <a:buFont typeface="Wingdings" pitchFamily="2" charset="2"/>
              <a:buNone/>
              <a:defRPr sz="3000"/>
            </a:lvl1pPr>
          </a:lstStyle>
          <a:p>
            <a:pPr lvl="0"/>
            <a:r>
              <a:rPr lang="fr-FR" noProof="0"/>
              <a:t>Modifiez le style des sous-titres du masque</a:t>
            </a:r>
          </a:p>
        </p:txBody>
      </p:sp>
      <p:sp>
        <p:nvSpPr>
          <p:cNvPr id="8" name="Rectangle 4"/>
          <p:cNvSpPr>
            <a:spLocks noGrp="1" noChangeArrowheads="1"/>
          </p:cNvSpPr>
          <p:nvPr>
            <p:ph type="dt" sz="half" idx="10"/>
          </p:nvPr>
        </p:nvSpPr>
        <p:spPr/>
        <p:txBody>
          <a:bodyPr/>
          <a:lstStyle>
            <a:lvl1pPr>
              <a:defRPr/>
            </a:lvl1pPr>
          </a:lstStyle>
          <a:p>
            <a:fld id="{C5526886-31B2-4B0A-A730-C2375A366C40}" type="datetimeFigureOut">
              <a:rPr lang="en-US" smtClean="0"/>
              <a:t>5/26/2019</a:t>
            </a:fld>
            <a:endParaRPr lang="en-US"/>
          </a:p>
        </p:txBody>
      </p:sp>
      <p:sp>
        <p:nvSpPr>
          <p:cNvPr id="9" name="Rectangle 5"/>
          <p:cNvSpPr>
            <a:spLocks noGrp="1" noChangeArrowheads="1"/>
          </p:cNvSpPr>
          <p:nvPr>
            <p:ph type="ftr" sz="quarter" idx="11"/>
          </p:nvPr>
        </p:nvSpPr>
        <p:spPr/>
        <p:txBody>
          <a:bodyPr/>
          <a:lstStyle>
            <a:lvl1pPr>
              <a:defRPr/>
            </a:lvl1pPr>
          </a:lstStyle>
          <a:p>
            <a:endParaRPr lang="en-US"/>
          </a:p>
        </p:txBody>
      </p:sp>
      <p:sp>
        <p:nvSpPr>
          <p:cNvPr id="10" name="Rectangle 6"/>
          <p:cNvSpPr>
            <a:spLocks noGrp="1" noChangeArrowheads="1"/>
          </p:cNvSpPr>
          <p:nvPr>
            <p:ph type="sldNum" sz="quarter" idx="12"/>
          </p:nvPr>
        </p:nvSpPr>
        <p:spPr/>
        <p:txBody>
          <a:bodyPr/>
          <a:lstStyle>
            <a:lvl1pPr>
              <a:defRPr/>
            </a:lvl1pPr>
          </a:lstStyle>
          <a:p>
            <a:fld id="{B12351F1-D5DC-47BC-A181-E450817A9F7B}" type="slidenum">
              <a:rPr lang="en-US" smtClean="0"/>
              <a:t>‹nº›</a:t>
            </a:fld>
            <a:endParaRPr lang="en-US"/>
          </a:p>
        </p:txBody>
      </p:sp>
    </p:spTree>
    <p:extLst>
      <p:ext uri="{BB962C8B-B14F-4D97-AF65-F5344CB8AC3E}">
        <p14:creationId xmlns:p14="http://schemas.microsoft.com/office/powerpoint/2010/main" val="2982893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CA"/>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CA"/>
          </a:p>
        </p:txBody>
      </p:sp>
      <p:sp>
        <p:nvSpPr>
          <p:cNvPr id="4" name="Rectangle 4"/>
          <p:cNvSpPr>
            <a:spLocks noGrp="1" noChangeArrowheads="1"/>
          </p:cNvSpPr>
          <p:nvPr>
            <p:ph type="dt" sz="half" idx="10"/>
          </p:nvPr>
        </p:nvSpPr>
        <p:spPr>
          <a:ln/>
        </p:spPr>
        <p:txBody>
          <a:bodyPr/>
          <a:lstStyle>
            <a:lvl1pPr>
              <a:defRPr/>
            </a:lvl1pPr>
          </a:lstStyle>
          <a:p>
            <a:fld id="{C5526886-31B2-4B0A-A730-C2375A366C40}" type="datetimeFigureOut">
              <a:rPr lang="en-US" smtClean="0"/>
              <a:t>5/26/2019</a:t>
            </a:fld>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B12351F1-D5DC-47BC-A181-E450817A9F7B}" type="slidenum">
              <a:rPr lang="en-US" smtClean="0"/>
              <a:t>‹nº›</a:t>
            </a:fld>
            <a:endParaRPr lang="en-US"/>
          </a:p>
        </p:txBody>
      </p:sp>
    </p:spTree>
    <p:extLst>
      <p:ext uri="{BB962C8B-B14F-4D97-AF65-F5344CB8AC3E}">
        <p14:creationId xmlns:p14="http://schemas.microsoft.com/office/powerpoint/2010/main" val="3046526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Modifiez le style du titre</a:t>
            </a:r>
            <a:endParaRPr lang="en-CA"/>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a:t>Modifiez les styles du texte du masque</a:t>
            </a:r>
          </a:p>
        </p:txBody>
      </p:sp>
      <p:sp>
        <p:nvSpPr>
          <p:cNvPr id="4" name="Rectangle 4"/>
          <p:cNvSpPr>
            <a:spLocks noGrp="1" noChangeArrowheads="1"/>
          </p:cNvSpPr>
          <p:nvPr>
            <p:ph type="dt" sz="half" idx="10"/>
          </p:nvPr>
        </p:nvSpPr>
        <p:spPr>
          <a:ln/>
        </p:spPr>
        <p:txBody>
          <a:bodyPr/>
          <a:lstStyle>
            <a:lvl1pPr>
              <a:defRPr/>
            </a:lvl1pPr>
          </a:lstStyle>
          <a:p>
            <a:fld id="{C5526886-31B2-4B0A-A730-C2375A366C40}" type="datetimeFigureOut">
              <a:rPr lang="en-US" smtClean="0"/>
              <a:t>5/26/2019</a:t>
            </a:fld>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B12351F1-D5DC-47BC-A181-E450817A9F7B}" type="slidenum">
              <a:rPr lang="en-US" smtClean="0"/>
              <a:t>‹nº›</a:t>
            </a:fld>
            <a:endParaRPr lang="en-US"/>
          </a:p>
        </p:txBody>
      </p:sp>
    </p:spTree>
    <p:extLst>
      <p:ext uri="{BB962C8B-B14F-4D97-AF65-F5344CB8AC3E}">
        <p14:creationId xmlns:p14="http://schemas.microsoft.com/office/powerpoint/2010/main" val="17203203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CA"/>
          </a:p>
        </p:txBody>
      </p:sp>
      <p:sp>
        <p:nvSpPr>
          <p:cNvPr id="3" name="Espace réservé du contenu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CA"/>
          </a:p>
        </p:txBody>
      </p:sp>
      <p:sp>
        <p:nvSpPr>
          <p:cNvPr id="4" name="Espace réservé du contenu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CA"/>
          </a:p>
        </p:txBody>
      </p:sp>
      <p:sp>
        <p:nvSpPr>
          <p:cNvPr id="5" name="Rectangle 4"/>
          <p:cNvSpPr>
            <a:spLocks noGrp="1" noChangeArrowheads="1"/>
          </p:cNvSpPr>
          <p:nvPr>
            <p:ph type="dt" sz="half" idx="10"/>
          </p:nvPr>
        </p:nvSpPr>
        <p:spPr>
          <a:ln/>
        </p:spPr>
        <p:txBody>
          <a:bodyPr/>
          <a:lstStyle>
            <a:lvl1pPr>
              <a:defRPr/>
            </a:lvl1pPr>
          </a:lstStyle>
          <a:p>
            <a:fld id="{C5526886-31B2-4B0A-A730-C2375A366C40}" type="datetimeFigureOut">
              <a:rPr lang="en-US" smtClean="0"/>
              <a:t>5/26/2019</a:t>
            </a:fld>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B12351F1-D5DC-47BC-A181-E450817A9F7B}" type="slidenum">
              <a:rPr lang="en-US" smtClean="0"/>
              <a:t>‹nº›</a:t>
            </a:fld>
            <a:endParaRPr lang="en-US"/>
          </a:p>
        </p:txBody>
      </p:sp>
    </p:spTree>
    <p:extLst>
      <p:ext uri="{BB962C8B-B14F-4D97-AF65-F5344CB8AC3E}">
        <p14:creationId xmlns:p14="http://schemas.microsoft.com/office/powerpoint/2010/main" val="2290471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Modifiez le style du titre</a:t>
            </a:r>
            <a:endParaRPr lang="en-CA"/>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CA"/>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CA"/>
          </a:p>
        </p:txBody>
      </p:sp>
      <p:sp>
        <p:nvSpPr>
          <p:cNvPr id="7" name="Rectangle 4"/>
          <p:cNvSpPr>
            <a:spLocks noGrp="1" noChangeArrowheads="1"/>
          </p:cNvSpPr>
          <p:nvPr>
            <p:ph type="dt" sz="half" idx="10"/>
          </p:nvPr>
        </p:nvSpPr>
        <p:spPr>
          <a:ln/>
        </p:spPr>
        <p:txBody>
          <a:bodyPr/>
          <a:lstStyle>
            <a:lvl1pPr>
              <a:defRPr/>
            </a:lvl1pPr>
          </a:lstStyle>
          <a:p>
            <a:fld id="{C5526886-31B2-4B0A-A730-C2375A366C40}" type="datetimeFigureOut">
              <a:rPr lang="en-US" smtClean="0"/>
              <a:t>5/26/2019</a:t>
            </a:fld>
            <a:endParaRPr lang="en-US"/>
          </a:p>
        </p:txBody>
      </p:sp>
      <p:sp>
        <p:nvSpPr>
          <p:cNvPr id="8" name="Rectangle 5"/>
          <p:cNvSpPr>
            <a:spLocks noGrp="1" noChangeArrowheads="1"/>
          </p:cNvSpPr>
          <p:nvPr>
            <p:ph type="ftr" sz="quarter" idx="11"/>
          </p:nvPr>
        </p:nvSpPr>
        <p:spPr>
          <a:ln/>
        </p:spPr>
        <p:txBody>
          <a:bodyPr/>
          <a:lstStyle>
            <a:lvl1pPr>
              <a:defRPr/>
            </a:lvl1pPr>
          </a:lstStyle>
          <a:p>
            <a:endParaRPr lang="en-US"/>
          </a:p>
        </p:txBody>
      </p:sp>
      <p:sp>
        <p:nvSpPr>
          <p:cNvPr id="9" name="Rectangle 6"/>
          <p:cNvSpPr>
            <a:spLocks noGrp="1" noChangeArrowheads="1"/>
          </p:cNvSpPr>
          <p:nvPr>
            <p:ph type="sldNum" sz="quarter" idx="12"/>
          </p:nvPr>
        </p:nvSpPr>
        <p:spPr>
          <a:ln/>
        </p:spPr>
        <p:txBody>
          <a:bodyPr/>
          <a:lstStyle>
            <a:lvl1pPr>
              <a:defRPr/>
            </a:lvl1pPr>
          </a:lstStyle>
          <a:p>
            <a:fld id="{B12351F1-D5DC-47BC-A181-E450817A9F7B}" type="slidenum">
              <a:rPr lang="en-US" smtClean="0"/>
              <a:t>‹nº›</a:t>
            </a:fld>
            <a:endParaRPr lang="en-US"/>
          </a:p>
        </p:txBody>
      </p:sp>
    </p:spTree>
    <p:extLst>
      <p:ext uri="{BB962C8B-B14F-4D97-AF65-F5344CB8AC3E}">
        <p14:creationId xmlns:p14="http://schemas.microsoft.com/office/powerpoint/2010/main" val="11471835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CA"/>
          </a:p>
        </p:txBody>
      </p:sp>
      <p:sp>
        <p:nvSpPr>
          <p:cNvPr id="3" name="Rectangle 4"/>
          <p:cNvSpPr>
            <a:spLocks noGrp="1" noChangeArrowheads="1"/>
          </p:cNvSpPr>
          <p:nvPr>
            <p:ph type="dt" sz="half" idx="10"/>
          </p:nvPr>
        </p:nvSpPr>
        <p:spPr>
          <a:ln/>
        </p:spPr>
        <p:txBody>
          <a:bodyPr/>
          <a:lstStyle>
            <a:lvl1pPr>
              <a:defRPr/>
            </a:lvl1pPr>
          </a:lstStyle>
          <a:p>
            <a:fld id="{C5526886-31B2-4B0A-A730-C2375A366C40}" type="datetimeFigureOut">
              <a:rPr lang="en-US" smtClean="0"/>
              <a:t>5/26/2019</a:t>
            </a:fld>
            <a:endParaRPr lang="en-US"/>
          </a:p>
        </p:txBody>
      </p:sp>
      <p:sp>
        <p:nvSpPr>
          <p:cNvPr id="4" name="Rectangle 5"/>
          <p:cNvSpPr>
            <a:spLocks noGrp="1" noChangeArrowheads="1"/>
          </p:cNvSpPr>
          <p:nvPr>
            <p:ph type="ftr" sz="quarter" idx="11"/>
          </p:nvPr>
        </p:nvSpPr>
        <p:spPr>
          <a:ln/>
        </p:spPr>
        <p:txBody>
          <a:bodyPr/>
          <a:lstStyle>
            <a:lvl1pPr>
              <a:defRPr/>
            </a:lvl1pPr>
          </a:lstStyle>
          <a:p>
            <a:endParaRPr lang="en-US"/>
          </a:p>
        </p:txBody>
      </p:sp>
      <p:sp>
        <p:nvSpPr>
          <p:cNvPr id="5" name="Rectangle 6"/>
          <p:cNvSpPr>
            <a:spLocks noGrp="1" noChangeArrowheads="1"/>
          </p:cNvSpPr>
          <p:nvPr>
            <p:ph type="sldNum" sz="quarter" idx="12"/>
          </p:nvPr>
        </p:nvSpPr>
        <p:spPr>
          <a:ln/>
        </p:spPr>
        <p:txBody>
          <a:bodyPr/>
          <a:lstStyle>
            <a:lvl1pPr>
              <a:defRPr/>
            </a:lvl1pPr>
          </a:lstStyle>
          <a:p>
            <a:fld id="{B12351F1-D5DC-47BC-A181-E450817A9F7B}" type="slidenum">
              <a:rPr lang="en-US" smtClean="0"/>
              <a:t>‹nº›</a:t>
            </a:fld>
            <a:endParaRPr lang="en-US"/>
          </a:p>
        </p:txBody>
      </p:sp>
    </p:spTree>
    <p:extLst>
      <p:ext uri="{BB962C8B-B14F-4D97-AF65-F5344CB8AC3E}">
        <p14:creationId xmlns:p14="http://schemas.microsoft.com/office/powerpoint/2010/main" val="31772237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fld id="{C5526886-31B2-4B0A-A730-C2375A366C40}" type="datetimeFigureOut">
              <a:rPr lang="en-US" smtClean="0"/>
              <a:t>5/26/2019</a:t>
            </a:fld>
            <a:endParaRPr lang="en-US"/>
          </a:p>
        </p:txBody>
      </p:sp>
      <p:sp>
        <p:nvSpPr>
          <p:cNvPr id="3" name="Rectangle 5"/>
          <p:cNvSpPr>
            <a:spLocks noGrp="1" noChangeArrowheads="1"/>
          </p:cNvSpPr>
          <p:nvPr>
            <p:ph type="ftr" sz="quarter" idx="11"/>
          </p:nvPr>
        </p:nvSpPr>
        <p:spPr>
          <a:ln/>
        </p:spPr>
        <p:txBody>
          <a:bodyPr/>
          <a:lstStyle>
            <a:lvl1pPr>
              <a:defRPr/>
            </a:lvl1pPr>
          </a:lstStyle>
          <a:p>
            <a:endParaRPr lang="en-US"/>
          </a:p>
        </p:txBody>
      </p:sp>
      <p:sp>
        <p:nvSpPr>
          <p:cNvPr id="4" name="Rectangle 6"/>
          <p:cNvSpPr>
            <a:spLocks noGrp="1" noChangeArrowheads="1"/>
          </p:cNvSpPr>
          <p:nvPr>
            <p:ph type="sldNum" sz="quarter" idx="12"/>
          </p:nvPr>
        </p:nvSpPr>
        <p:spPr>
          <a:ln/>
        </p:spPr>
        <p:txBody>
          <a:bodyPr/>
          <a:lstStyle>
            <a:lvl1pPr>
              <a:defRPr/>
            </a:lvl1pPr>
          </a:lstStyle>
          <a:p>
            <a:fld id="{B12351F1-D5DC-47BC-A181-E450817A9F7B}" type="slidenum">
              <a:rPr lang="en-US" smtClean="0"/>
              <a:t>‹nº›</a:t>
            </a:fld>
            <a:endParaRPr lang="en-US"/>
          </a:p>
        </p:txBody>
      </p:sp>
    </p:spTree>
    <p:extLst>
      <p:ext uri="{BB962C8B-B14F-4D97-AF65-F5344CB8AC3E}">
        <p14:creationId xmlns:p14="http://schemas.microsoft.com/office/powerpoint/2010/main" val="42067463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lstStyle>
            <a:lvl1pPr algn="l">
              <a:defRPr sz="2000" b="1"/>
            </a:lvl1pPr>
          </a:lstStyle>
          <a:p>
            <a:r>
              <a:rPr lang="fr-FR"/>
              <a:t>Modifiez le style du titre</a:t>
            </a:r>
            <a:endParaRPr lang="en-CA"/>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CA"/>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Rectangle 4"/>
          <p:cNvSpPr>
            <a:spLocks noGrp="1" noChangeArrowheads="1"/>
          </p:cNvSpPr>
          <p:nvPr>
            <p:ph type="dt" sz="half" idx="10"/>
          </p:nvPr>
        </p:nvSpPr>
        <p:spPr>
          <a:ln/>
        </p:spPr>
        <p:txBody>
          <a:bodyPr/>
          <a:lstStyle>
            <a:lvl1pPr>
              <a:defRPr/>
            </a:lvl1pPr>
          </a:lstStyle>
          <a:p>
            <a:fld id="{C5526886-31B2-4B0A-A730-C2375A366C40}" type="datetimeFigureOut">
              <a:rPr lang="en-US" smtClean="0"/>
              <a:t>5/26/2019</a:t>
            </a:fld>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B12351F1-D5DC-47BC-A181-E450817A9F7B}" type="slidenum">
              <a:rPr lang="en-US" smtClean="0"/>
              <a:t>‹nº›</a:t>
            </a:fld>
            <a:endParaRPr lang="en-US"/>
          </a:p>
        </p:txBody>
      </p:sp>
    </p:spTree>
    <p:extLst>
      <p:ext uri="{BB962C8B-B14F-4D97-AF65-F5344CB8AC3E}">
        <p14:creationId xmlns:p14="http://schemas.microsoft.com/office/powerpoint/2010/main" val="26840032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lstStyle>
            <a:lvl1pPr algn="l">
              <a:defRPr sz="2000" b="1"/>
            </a:lvl1pPr>
          </a:lstStyle>
          <a:p>
            <a:r>
              <a:rPr lang="fr-FR"/>
              <a:t>Modifiez le style du titre</a:t>
            </a:r>
            <a:endParaRPr lang="en-CA"/>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fr-FR" noProof="0"/>
              <a:t>Cliquez sur l'icône pour ajouter une image</a:t>
            </a:r>
            <a:endParaRPr lang="en-CA"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Rectangle 4"/>
          <p:cNvSpPr>
            <a:spLocks noGrp="1" noChangeArrowheads="1"/>
          </p:cNvSpPr>
          <p:nvPr>
            <p:ph type="dt" sz="half" idx="10"/>
          </p:nvPr>
        </p:nvSpPr>
        <p:spPr>
          <a:ln/>
        </p:spPr>
        <p:txBody>
          <a:bodyPr/>
          <a:lstStyle>
            <a:lvl1pPr>
              <a:defRPr/>
            </a:lvl1pPr>
          </a:lstStyle>
          <a:p>
            <a:fld id="{C5526886-31B2-4B0A-A730-C2375A366C40}" type="datetimeFigureOut">
              <a:rPr lang="en-US" smtClean="0"/>
              <a:t>5/26/2019</a:t>
            </a:fld>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B12351F1-D5DC-47BC-A181-E450817A9F7B}" type="slidenum">
              <a:rPr lang="en-US" smtClean="0"/>
              <a:t>‹nº›</a:t>
            </a:fld>
            <a:endParaRPr lang="en-US"/>
          </a:p>
        </p:txBody>
      </p:sp>
    </p:spTree>
    <p:extLst>
      <p:ext uri="{BB962C8B-B14F-4D97-AF65-F5344CB8AC3E}">
        <p14:creationId xmlns:p14="http://schemas.microsoft.com/office/powerpoint/2010/main" val="2469339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en-CA"/>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CA"/>
          </a:p>
        </p:txBody>
      </p:sp>
      <p:sp>
        <p:nvSpPr>
          <p:cNvPr id="4" name="Rectangle 4"/>
          <p:cNvSpPr>
            <a:spLocks noGrp="1" noChangeArrowheads="1"/>
          </p:cNvSpPr>
          <p:nvPr>
            <p:ph type="dt" sz="half" idx="10"/>
          </p:nvPr>
        </p:nvSpPr>
        <p:spPr>
          <a:ln/>
        </p:spPr>
        <p:txBody>
          <a:bodyPr/>
          <a:lstStyle>
            <a:lvl1pPr>
              <a:defRPr/>
            </a:lvl1pPr>
          </a:lstStyle>
          <a:p>
            <a:fld id="{C5526886-31B2-4B0A-A730-C2375A366C40}" type="datetimeFigureOut">
              <a:rPr lang="en-US" smtClean="0"/>
              <a:t>5/26/2019</a:t>
            </a:fld>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B12351F1-D5DC-47BC-A181-E450817A9F7B}" type="slidenum">
              <a:rPr lang="en-US" smtClean="0"/>
              <a:t>‹nº›</a:t>
            </a:fld>
            <a:endParaRPr lang="en-US"/>
          </a:p>
        </p:txBody>
      </p:sp>
    </p:spTree>
    <p:extLst>
      <p:ext uri="{BB962C8B-B14F-4D97-AF65-F5344CB8AC3E}">
        <p14:creationId xmlns:p14="http://schemas.microsoft.com/office/powerpoint/2010/main" val="4273842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7813"/>
            <a:ext cx="2057400" cy="5853112"/>
          </a:xfrm>
        </p:spPr>
        <p:txBody>
          <a:bodyPr vert="eaVert"/>
          <a:lstStyle/>
          <a:p>
            <a:r>
              <a:rPr lang="fr-FR"/>
              <a:t>Modifiez le style du titre</a:t>
            </a:r>
            <a:endParaRPr lang="en-CA"/>
          </a:p>
        </p:txBody>
      </p:sp>
      <p:sp>
        <p:nvSpPr>
          <p:cNvPr id="3" name="Espace réservé du texte vertical 2"/>
          <p:cNvSpPr>
            <a:spLocks noGrp="1"/>
          </p:cNvSpPr>
          <p:nvPr>
            <p:ph type="body" orient="vert" idx="1"/>
          </p:nvPr>
        </p:nvSpPr>
        <p:spPr>
          <a:xfrm>
            <a:off x="457200" y="277813"/>
            <a:ext cx="6019800" cy="5853112"/>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CA"/>
          </a:p>
        </p:txBody>
      </p:sp>
      <p:sp>
        <p:nvSpPr>
          <p:cNvPr id="4" name="Rectangle 4"/>
          <p:cNvSpPr>
            <a:spLocks noGrp="1" noChangeArrowheads="1"/>
          </p:cNvSpPr>
          <p:nvPr>
            <p:ph type="dt" sz="half" idx="10"/>
          </p:nvPr>
        </p:nvSpPr>
        <p:spPr>
          <a:ln/>
        </p:spPr>
        <p:txBody>
          <a:bodyPr/>
          <a:lstStyle>
            <a:lvl1pPr>
              <a:defRPr/>
            </a:lvl1pPr>
          </a:lstStyle>
          <a:p>
            <a:fld id="{C5526886-31B2-4B0A-A730-C2375A366C40}" type="datetimeFigureOut">
              <a:rPr lang="en-US" smtClean="0"/>
              <a:t>5/26/2019</a:t>
            </a:fld>
            <a:endParaRPr lang="en-US"/>
          </a:p>
        </p:txBody>
      </p:sp>
      <p:sp>
        <p:nvSpPr>
          <p:cNvPr id="5" name="Rectangle 5"/>
          <p:cNvSpPr>
            <a:spLocks noGrp="1" noChangeArrowheads="1"/>
          </p:cNvSpPr>
          <p:nvPr>
            <p:ph type="ftr" sz="quarter" idx="11"/>
          </p:nvPr>
        </p:nvSpPr>
        <p:spPr>
          <a:ln/>
        </p:spPr>
        <p:txBody>
          <a:bodyPr/>
          <a:lstStyle>
            <a:lvl1pPr>
              <a:defRPr/>
            </a:lvl1pPr>
          </a:lstStyle>
          <a:p>
            <a:endParaRPr lang="en-US"/>
          </a:p>
        </p:txBody>
      </p:sp>
      <p:sp>
        <p:nvSpPr>
          <p:cNvPr id="6" name="Rectangle 6"/>
          <p:cNvSpPr>
            <a:spLocks noGrp="1" noChangeArrowheads="1"/>
          </p:cNvSpPr>
          <p:nvPr>
            <p:ph type="sldNum" sz="quarter" idx="12"/>
          </p:nvPr>
        </p:nvSpPr>
        <p:spPr>
          <a:ln/>
        </p:spPr>
        <p:txBody>
          <a:bodyPr/>
          <a:lstStyle>
            <a:lvl1pPr>
              <a:defRPr/>
            </a:lvl1pPr>
          </a:lstStyle>
          <a:p>
            <a:fld id="{B12351F1-D5DC-47BC-A181-E450817A9F7B}" type="slidenum">
              <a:rPr lang="en-US" smtClean="0"/>
              <a:t>‹nº›</a:t>
            </a:fld>
            <a:endParaRPr lang="en-US"/>
          </a:p>
        </p:txBody>
      </p:sp>
    </p:spTree>
    <p:extLst>
      <p:ext uri="{BB962C8B-B14F-4D97-AF65-F5344CB8AC3E}">
        <p14:creationId xmlns:p14="http://schemas.microsoft.com/office/powerpoint/2010/main" val="17773565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7813"/>
            <a:ext cx="8229600" cy="113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fr-FR" altLang="en-US"/>
              <a:t>Cliquez pour modifier le style du titre</a:t>
            </a:r>
          </a:p>
        </p:txBody>
      </p:sp>
      <p:sp>
        <p:nvSpPr>
          <p:cNvPr id="1027" name="Rectangle 3"/>
          <p:cNvSpPr>
            <a:spLocks noGrp="1" noChangeArrowheads="1"/>
          </p:cNvSpPr>
          <p:nvPr>
            <p:ph type="body" idx="1"/>
          </p:nvPr>
        </p:nvSpPr>
        <p:spPr bwMode="auto">
          <a:xfrm>
            <a:off x="457200" y="1600200"/>
            <a:ext cx="8229600"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fr-FR" altLang="en-US"/>
              <a:t>Cliquez pour modifier les styles du texte du masque</a:t>
            </a:r>
          </a:p>
          <a:p>
            <a:pPr lvl="1"/>
            <a:r>
              <a:rPr lang="fr-FR" altLang="en-US"/>
              <a:t>Deuxième niveau</a:t>
            </a:r>
          </a:p>
          <a:p>
            <a:pPr lvl="2"/>
            <a:r>
              <a:rPr lang="fr-FR" altLang="en-US"/>
              <a:t>Troisième niveau</a:t>
            </a:r>
          </a:p>
          <a:p>
            <a:pPr lvl="3"/>
            <a:r>
              <a:rPr lang="fr-FR" altLang="en-US"/>
              <a:t>Quatrième niveau</a:t>
            </a:r>
          </a:p>
          <a:p>
            <a:pPr lvl="4"/>
            <a:r>
              <a:rPr lang="fr-FR" altLang="en-US"/>
              <a:t>Cinquième niveau</a:t>
            </a:r>
          </a:p>
        </p:txBody>
      </p:sp>
      <p:sp>
        <p:nvSpPr>
          <p:cNvPr id="4100" name="Rectangle 4"/>
          <p:cNvSpPr>
            <a:spLocks noGrp="1" noChangeArrowheads="1"/>
          </p:cNvSpPr>
          <p:nvPr>
            <p:ph type="dt" sz="half" idx="2"/>
          </p:nvPr>
        </p:nvSpPr>
        <p:spPr bwMode="auto">
          <a:xfrm>
            <a:off x="457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000"/>
            </a:lvl1pPr>
          </a:lstStyle>
          <a:p>
            <a:fld id="{C5526886-31B2-4B0A-A730-C2375A366C40}" type="datetimeFigureOut">
              <a:rPr lang="en-US" smtClean="0"/>
              <a:t>5/26/2019</a:t>
            </a:fld>
            <a:endParaRPr lang="en-US"/>
          </a:p>
        </p:txBody>
      </p:sp>
      <p:sp>
        <p:nvSpPr>
          <p:cNvPr id="4101"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000"/>
            </a:lvl1pPr>
          </a:lstStyle>
          <a:p>
            <a:endParaRPr lang="en-US"/>
          </a:p>
        </p:txBody>
      </p:sp>
      <p:sp>
        <p:nvSpPr>
          <p:cNvPr id="4102" name="Rectangle 6"/>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000"/>
            </a:lvl1pPr>
          </a:lstStyle>
          <a:p>
            <a:fld id="{B12351F1-D5DC-47BC-A181-E450817A9F7B}" type="slidenum">
              <a:rPr lang="en-US" smtClean="0"/>
              <a:t>‹nº›</a:t>
            </a:fld>
            <a:endParaRPr lang="en-US"/>
          </a:p>
        </p:txBody>
      </p:sp>
      <p:sp>
        <p:nvSpPr>
          <p:cNvPr id="1031" name="Rectangle 7"/>
          <p:cNvSpPr>
            <a:spLocks noChangeArrowheads="1"/>
          </p:cNvSpPr>
          <p:nvPr/>
        </p:nvSpPr>
        <p:spPr bwMode="auto">
          <a:xfrm>
            <a:off x="0" y="0"/>
            <a:ext cx="228600" cy="2286000"/>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Verdana" pitchFamily="34" charset="0"/>
                <a:cs typeface="Arial" charset="0"/>
              </a:defRPr>
            </a:lvl1pPr>
            <a:lvl2pPr marL="742950" indent="-285750" eaLnBrk="0" hangingPunct="0">
              <a:defRPr>
                <a:solidFill>
                  <a:schemeClr val="tx1"/>
                </a:solidFill>
                <a:latin typeface="Verdana" pitchFamily="34" charset="0"/>
                <a:cs typeface="Arial" charset="0"/>
              </a:defRPr>
            </a:lvl2pPr>
            <a:lvl3pPr marL="1143000" indent="-228600" eaLnBrk="0" hangingPunct="0">
              <a:defRPr>
                <a:solidFill>
                  <a:schemeClr val="tx1"/>
                </a:solidFill>
                <a:latin typeface="Verdana" pitchFamily="34" charset="0"/>
                <a:cs typeface="Arial" charset="0"/>
              </a:defRPr>
            </a:lvl3pPr>
            <a:lvl4pPr marL="1600200" indent="-228600" eaLnBrk="0" hangingPunct="0">
              <a:defRPr>
                <a:solidFill>
                  <a:schemeClr val="tx1"/>
                </a:solidFill>
                <a:latin typeface="Verdana" pitchFamily="34" charset="0"/>
                <a:cs typeface="Arial" charset="0"/>
              </a:defRPr>
            </a:lvl4pPr>
            <a:lvl5pPr marL="2057400" indent="-228600" eaLnBrk="0" hangingPunct="0">
              <a:defRPr>
                <a:solidFill>
                  <a:schemeClr val="tx1"/>
                </a:solidFill>
                <a:latin typeface="Verdana" pitchFamily="34" charset="0"/>
                <a:cs typeface="Arial" charset="0"/>
              </a:defRPr>
            </a:lvl5pPr>
            <a:lvl6pPr marL="2514600" indent="-228600" eaLnBrk="0" fontAlgn="base" hangingPunct="0">
              <a:spcBef>
                <a:spcPct val="0"/>
              </a:spcBef>
              <a:spcAft>
                <a:spcPct val="0"/>
              </a:spcAft>
              <a:defRPr>
                <a:solidFill>
                  <a:schemeClr val="tx1"/>
                </a:solidFill>
                <a:latin typeface="Verdana" pitchFamily="34" charset="0"/>
                <a:cs typeface="Arial" charset="0"/>
              </a:defRPr>
            </a:lvl6pPr>
            <a:lvl7pPr marL="2971800" indent="-228600" eaLnBrk="0" fontAlgn="base" hangingPunct="0">
              <a:spcBef>
                <a:spcPct val="0"/>
              </a:spcBef>
              <a:spcAft>
                <a:spcPct val="0"/>
              </a:spcAft>
              <a:defRPr>
                <a:solidFill>
                  <a:schemeClr val="tx1"/>
                </a:solidFill>
                <a:latin typeface="Verdana" pitchFamily="34" charset="0"/>
                <a:cs typeface="Arial" charset="0"/>
              </a:defRPr>
            </a:lvl7pPr>
            <a:lvl8pPr marL="3429000" indent="-228600" eaLnBrk="0" fontAlgn="base" hangingPunct="0">
              <a:spcBef>
                <a:spcPct val="0"/>
              </a:spcBef>
              <a:spcAft>
                <a:spcPct val="0"/>
              </a:spcAft>
              <a:defRPr>
                <a:solidFill>
                  <a:schemeClr val="tx1"/>
                </a:solidFill>
                <a:latin typeface="Verdana" pitchFamily="34" charset="0"/>
                <a:cs typeface="Arial" charset="0"/>
              </a:defRPr>
            </a:lvl8pPr>
            <a:lvl9pPr marL="3886200" indent="-228600" eaLnBrk="0" fontAlgn="base" hangingPunct="0">
              <a:spcBef>
                <a:spcPct val="0"/>
              </a:spcBef>
              <a:spcAft>
                <a:spcPct val="0"/>
              </a:spcAft>
              <a:defRPr>
                <a:solidFill>
                  <a:schemeClr val="tx1"/>
                </a:solidFill>
                <a:latin typeface="Verdana" pitchFamily="34" charset="0"/>
                <a:cs typeface="Arial" charset="0"/>
              </a:defRPr>
            </a:lvl9pPr>
          </a:lstStyle>
          <a:p>
            <a:pPr algn="ctr" eaLnBrk="1" hangingPunct="1">
              <a:defRPr/>
            </a:pPr>
            <a:endParaRPr lang="en-US" altLang="en-US" sz="2400">
              <a:latin typeface="Times New Roman" pitchFamily="18" charset="0"/>
            </a:endParaRPr>
          </a:p>
        </p:txBody>
      </p:sp>
      <p:sp>
        <p:nvSpPr>
          <p:cNvPr id="1032" name="Line 8"/>
          <p:cNvSpPr>
            <a:spLocks noChangeShapeType="1"/>
          </p:cNvSpPr>
          <p:nvPr/>
        </p:nvSpPr>
        <p:spPr bwMode="auto">
          <a:xfrm>
            <a:off x="457200" y="1447800"/>
            <a:ext cx="8077200"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3" name="Rectangle 9"/>
          <p:cNvSpPr>
            <a:spLocks noChangeArrowheads="1"/>
          </p:cNvSpPr>
          <p:nvPr/>
        </p:nvSpPr>
        <p:spPr bwMode="auto">
          <a:xfrm>
            <a:off x="0" y="2286000"/>
            <a:ext cx="228600" cy="228600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Verdana" pitchFamily="34" charset="0"/>
                <a:cs typeface="Arial" charset="0"/>
              </a:defRPr>
            </a:lvl1pPr>
            <a:lvl2pPr marL="742950" indent="-285750" eaLnBrk="0" hangingPunct="0">
              <a:defRPr>
                <a:solidFill>
                  <a:schemeClr val="tx1"/>
                </a:solidFill>
                <a:latin typeface="Verdana" pitchFamily="34" charset="0"/>
                <a:cs typeface="Arial" charset="0"/>
              </a:defRPr>
            </a:lvl2pPr>
            <a:lvl3pPr marL="1143000" indent="-228600" eaLnBrk="0" hangingPunct="0">
              <a:defRPr>
                <a:solidFill>
                  <a:schemeClr val="tx1"/>
                </a:solidFill>
                <a:latin typeface="Verdana" pitchFamily="34" charset="0"/>
                <a:cs typeface="Arial" charset="0"/>
              </a:defRPr>
            </a:lvl3pPr>
            <a:lvl4pPr marL="1600200" indent="-228600" eaLnBrk="0" hangingPunct="0">
              <a:defRPr>
                <a:solidFill>
                  <a:schemeClr val="tx1"/>
                </a:solidFill>
                <a:latin typeface="Verdana" pitchFamily="34" charset="0"/>
                <a:cs typeface="Arial" charset="0"/>
              </a:defRPr>
            </a:lvl4pPr>
            <a:lvl5pPr marL="2057400" indent="-228600" eaLnBrk="0" hangingPunct="0">
              <a:defRPr>
                <a:solidFill>
                  <a:schemeClr val="tx1"/>
                </a:solidFill>
                <a:latin typeface="Verdana" pitchFamily="34" charset="0"/>
                <a:cs typeface="Arial" charset="0"/>
              </a:defRPr>
            </a:lvl5pPr>
            <a:lvl6pPr marL="2514600" indent="-228600" eaLnBrk="0" fontAlgn="base" hangingPunct="0">
              <a:spcBef>
                <a:spcPct val="0"/>
              </a:spcBef>
              <a:spcAft>
                <a:spcPct val="0"/>
              </a:spcAft>
              <a:defRPr>
                <a:solidFill>
                  <a:schemeClr val="tx1"/>
                </a:solidFill>
                <a:latin typeface="Verdana" pitchFamily="34" charset="0"/>
                <a:cs typeface="Arial" charset="0"/>
              </a:defRPr>
            </a:lvl6pPr>
            <a:lvl7pPr marL="2971800" indent="-228600" eaLnBrk="0" fontAlgn="base" hangingPunct="0">
              <a:spcBef>
                <a:spcPct val="0"/>
              </a:spcBef>
              <a:spcAft>
                <a:spcPct val="0"/>
              </a:spcAft>
              <a:defRPr>
                <a:solidFill>
                  <a:schemeClr val="tx1"/>
                </a:solidFill>
                <a:latin typeface="Verdana" pitchFamily="34" charset="0"/>
                <a:cs typeface="Arial" charset="0"/>
              </a:defRPr>
            </a:lvl7pPr>
            <a:lvl8pPr marL="3429000" indent="-228600" eaLnBrk="0" fontAlgn="base" hangingPunct="0">
              <a:spcBef>
                <a:spcPct val="0"/>
              </a:spcBef>
              <a:spcAft>
                <a:spcPct val="0"/>
              </a:spcAft>
              <a:defRPr>
                <a:solidFill>
                  <a:schemeClr val="tx1"/>
                </a:solidFill>
                <a:latin typeface="Verdana" pitchFamily="34" charset="0"/>
                <a:cs typeface="Arial" charset="0"/>
              </a:defRPr>
            </a:lvl8pPr>
            <a:lvl9pPr marL="3886200" indent="-228600" eaLnBrk="0" fontAlgn="base" hangingPunct="0">
              <a:spcBef>
                <a:spcPct val="0"/>
              </a:spcBef>
              <a:spcAft>
                <a:spcPct val="0"/>
              </a:spcAft>
              <a:defRPr>
                <a:solidFill>
                  <a:schemeClr val="tx1"/>
                </a:solidFill>
                <a:latin typeface="Verdana" pitchFamily="34" charset="0"/>
                <a:cs typeface="Arial" charset="0"/>
              </a:defRPr>
            </a:lvl9pPr>
          </a:lstStyle>
          <a:p>
            <a:pPr algn="ctr" eaLnBrk="1" hangingPunct="1">
              <a:defRPr/>
            </a:pPr>
            <a:endParaRPr lang="en-US" altLang="en-US" sz="2400">
              <a:latin typeface="Times New Roman" pitchFamily="18" charset="0"/>
            </a:endParaRPr>
          </a:p>
        </p:txBody>
      </p:sp>
      <p:sp>
        <p:nvSpPr>
          <p:cNvPr id="1034" name="Rectangle 10"/>
          <p:cNvSpPr>
            <a:spLocks noChangeArrowheads="1"/>
          </p:cNvSpPr>
          <p:nvPr/>
        </p:nvSpPr>
        <p:spPr bwMode="auto">
          <a:xfrm>
            <a:off x="0" y="4572000"/>
            <a:ext cx="228600" cy="2286000"/>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Verdana" pitchFamily="34" charset="0"/>
                <a:cs typeface="Arial" charset="0"/>
              </a:defRPr>
            </a:lvl1pPr>
            <a:lvl2pPr marL="742950" indent="-285750" eaLnBrk="0" hangingPunct="0">
              <a:defRPr>
                <a:solidFill>
                  <a:schemeClr val="tx1"/>
                </a:solidFill>
                <a:latin typeface="Verdana" pitchFamily="34" charset="0"/>
                <a:cs typeface="Arial" charset="0"/>
              </a:defRPr>
            </a:lvl2pPr>
            <a:lvl3pPr marL="1143000" indent="-228600" eaLnBrk="0" hangingPunct="0">
              <a:defRPr>
                <a:solidFill>
                  <a:schemeClr val="tx1"/>
                </a:solidFill>
                <a:latin typeface="Verdana" pitchFamily="34" charset="0"/>
                <a:cs typeface="Arial" charset="0"/>
              </a:defRPr>
            </a:lvl3pPr>
            <a:lvl4pPr marL="1600200" indent="-228600" eaLnBrk="0" hangingPunct="0">
              <a:defRPr>
                <a:solidFill>
                  <a:schemeClr val="tx1"/>
                </a:solidFill>
                <a:latin typeface="Verdana" pitchFamily="34" charset="0"/>
                <a:cs typeface="Arial" charset="0"/>
              </a:defRPr>
            </a:lvl4pPr>
            <a:lvl5pPr marL="2057400" indent="-228600" eaLnBrk="0" hangingPunct="0">
              <a:defRPr>
                <a:solidFill>
                  <a:schemeClr val="tx1"/>
                </a:solidFill>
                <a:latin typeface="Verdana" pitchFamily="34" charset="0"/>
                <a:cs typeface="Arial" charset="0"/>
              </a:defRPr>
            </a:lvl5pPr>
            <a:lvl6pPr marL="2514600" indent="-228600" eaLnBrk="0" fontAlgn="base" hangingPunct="0">
              <a:spcBef>
                <a:spcPct val="0"/>
              </a:spcBef>
              <a:spcAft>
                <a:spcPct val="0"/>
              </a:spcAft>
              <a:defRPr>
                <a:solidFill>
                  <a:schemeClr val="tx1"/>
                </a:solidFill>
                <a:latin typeface="Verdana" pitchFamily="34" charset="0"/>
                <a:cs typeface="Arial" charset="0"/>
              </a:defRPr>
            </a:lvl6pPr>
            <a:lvl7pPr marL="2971800" indent="-228600" eaLnBrk="0" fontAlgn="base" hangingPunct="0">
              <a:spcBef>
                <a:spcPct val="0"/>
              </a:spcBef>
              <a:spcAft>
                <a:spcPct val="0"/>
              </a:spcAft>
              <a:defRPr>
                <a:solidFill>
                  <a:schemeClr val="tx1"/>
                </a:solidFill>
                <a:latin typeface="Verdana" pitchFamily="34" charset="0"/>
                <a:cs typeface="Arial" charset="0"/>
              </a:defRPr>
            </a:lvl7pPr>
            <a:lvl8pPr marL="3429000" indent="-228600" eaLnBrk="0" fontAlgn="base" hangingPunct="0">
              <a:spcBef>
                <a:spcPct val="0"/>
              </a:spcBef>
              <a:spcAft>
                <a:spcPct val="0"/>
              </a:spcAft>
              <a:defRPr>
                <a:solidFill>
                  <a:schemeClr val="tx1"/>
                </a:solidFill>
                <a:latin typeface="Verdana" pitchFamily="34" charset="0"/>
                <a:cs typeface="Arial" charset="0"/>
              </a:defRPr>
            </a:lvl8pPr>
            <a:lvl9pPr marL="3886200" indent="-228600" eaLnBrk="0" fontAlgn="base" hangingPunct="0">
              <a:spcBef>
                <a:spcPct val="0"/>
              </a:spcBef>
              <a:spcAft>
                <a:spcPct val="0"/>
              </a:spcAft>
              <a:defRPr>
                <a:solidFill>
                  <a:schemeClr val="tx1"/>
                </a:solidFill>
                <a:latin typeface="Verdana" pitchFamily="34" charset="0"/>
                <a:cs typeface="Arial" charset="0"/>
              </a:defRPr>
            </a:lvl9pPr>
          </a:lstStyle>
          <a:p>
            <a:pPr algn="ctr" eaLnBrk="1" hangingPunct="1">
              <a:defRPr/>
            </a:pPr>
            <a:endParaRPr lang="en-US" altLang="en-US" sz="2400">
              <a:latin typeface="Times New Roman" pitchFamily="18"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fontAlgn="base" hangingPunct="1">
        <a:spcBef>
          <a:spcPct val="0"/>
        </a:spcBef>
        <a:spcAft>
          <a:spcPct val="0"/>
        </a:spcAft>
        <a:defRPr sz="44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cs typeface="Arial" charset="0"/>
        </a:defRPr>
      </a:lvl2pPr>
      <a:lvl3pPr algn="l" rtl="0" eaLnBrk="1" fontAlgn="base" hangingPunct="1">
        <a:spcBef>
          <a:spcPct val="0"/>
        </a:spcBef>
        <a:spcAft>
          <a:spcPct val="0"/>
        </a:spcAft>
        <a:defRPr sz="4400">
          <a:solidFill>
            <a:schemeClr val="tx2"/>
          </a:solidFill>
          <a:latin typeface="Garamond" pitchFamily="18" charset="0"/>
          <a:cs typeface="Arial" charset="0"/>
        </a:defRPr>
      </a:lvl3pPr>
      <a:lvl4pPr algn="l" rtl="0" eaLnBrk="1" fontAlgn="base" hangingPunct="1">
        <a:spcBef>
          <a:spcPct val="0"/>
        </a:spcBef>
        <a:spcAft>
          <a:spcPct val="0"/>
        </a:spcAft>
        <a:defRPr sz="4400">
          <a:solidFill>
            <a:schemeClr val="tx2"/>
          </a:solidFill>
          <a:latin typeface="Garamond" pitchFamily="18" charset="0"/>
          <a:cs typeface="Arial" charset="0"/>
        </a:defRPr>
      </a:lvl4pPr>
      <a:lvl5pPr algn="l" rtl="0" eaLnBrk="1" fontAlgn="base" hangingPunct="1">
        <a:spcBef>
          <a:spcPct val="0"/>
        </a:spcBef>
        <a:spcAft>
          <a:spcPct val="0"/>
        </a:spcAft>
        <a:defRPr sz="4400">
          <a:solidFill>
            <a:schemeClr val="tx2"/>
          </a:solidFill>
          <a:latin typeface="Garamond" pitchFamily="18" charset="0"/>
          <a:cs typeface="Arial" charset="0"/>
        </a:defRPr>
      </a:lvl5pPr>
      <a:lvl6pPr marL="457200" algn="l" rtl="0" eaLnBrk="1" fontAlgn="base" hangingPunct="1">
        <a:spcBef>
          <a:spcPct val="0"/>
        </a:spcBef>
        <a:spcAft>
          <a:spcPct val="0"/>
        </a:spcAft>
        <a:defRPr sz="4400">
          <a:solidFill>
            <a:schemeClr val="tx2"/>
          </a:solidFill>
          <a:latin typeface="Garamond" pitchFamily="18" charset="0"/>
          <a:cs typeface="Arial" charset="0"/>
        </a:defRPr>
      </a:lvl6pPr>
      <a:lvl7pPr marL="914400" algn="l" rtl="0" eaLnBrk="1" fontAlgn="base" hangingPunct="1">
        <a:spcBef>
          <a:spcPct val="0"/>
        </a:spcBef>
        <a:spcAft>
          <a:spcPct val="0"/>
        </a:spcAft>
        <a:defRPr sz="4400">
          <a:solidFill>
            <a:schemeClr val="tx2"/>
          </a:solidFill>
          <a:latin typeface="Garamond" pitchFamily="18" charset="0"/>
          <a:cs typeface="Arial" charset="0"/>
        </a:defRPr>
      </a:lvl7pPr>
      <a:lvl8pPr marL="1371600" algn="l" rtl="0" eaLnBrk="1" fontAlgn="base" hangingPunct="1">
        <a:spcBef>
          <a:spcPct val="0"/>
        </a:spcBef>
        <a:spcAft>
          <a:spcPct val="0"/>
        </a:spcAft>
        <a:defRPr sz="4400">
          <a:solidFill>
            <a:schemeClr val="tx2"/>
          </a:solidFill>
          <a:latin typeface="Garamond" pitchFamily="18" charset="0"/>
          <a:cs typeface="Arial" charset="0"/>
        </a:defRPr>
      </a:lvl8pPr>
      <a:lvl9pPr marL="1828800" algn="l" rtl="0" eaLnBrk="1" fontAlgn="base" hangingPunct="1">
        <a:spcBef>
          <a:spcPct val="0"/>
        </a:spcBef>
        <a:spcAft>
          <a:spcPct val="0"/>
        </a:spcAft>
        <a:defRPr sz="4400">
          <a:solidFill>
            <a:schemeClr val="tx2"/>
          </a:solidFill>
          <a:latin typeface="Garamond" pitchFamily="18" charset="0"/>
          <a:cs typeface="Arial" charset="0"/>
        </a:defRPr>
      </a:lvl9pPr>
    </p:titleStyle>
    <p:bodyStyle>
      <a:lvl1pPr marL="342900" indent="-342900" algn="l" rtl="0" eaLnBrk="1" fontAlgn="base" hangingPunct="1">
        <a:spcBef>
          <a:spcPct val="20000"/>
        </a:spcBef>
        <a:spcAft>
          <a:spcPct val="0"/>
        </a:spcAft>
        <a:buClr>
          <a:schemeClr val="bg2"/>
        </a:buClr>
        <a:buSzPct val="75000"/>
        <a:buFont typeface="Wingdings"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itchFamily="2" charset="2"/>
        <a:buChar char="§"/>
        <a:defRPr>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emf"/><Relationship Id="rId1" Type="http://schemas.openxmlformats.org/officeDocument/2006/relationships/slideLayout" Target="../slideLayouts/slideLayout2.xml"/><Relationship Id="rId5" Type="http://schemas.openxmlformats.org/officeDocument/2006/relationships/image" Target="../media/image6.emf"/><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 Id="rId4" Type="http://schemas.openxmlformats.org/officeDocument/2006/relationships/image" Target="../media/image14.jpe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30.jpeg"/><Relationship Id="rId3" Type="http://schemas.openxmlformats.org/officeDocument/2006/relationships/image" Target="../media/image25.png"/><Relationship Id="rId7" Type="http://schemas.openxmlformats.org/officeDocument/2006/relationships/image" Target="../media/image29.jpe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28.jpeg"/><Relationship Id="rId11" Type="http://schemas.openxmlformats.org/officeDocument/2006/relationships/image" Target="../media/image33.pn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png"/></Relationships>
</file>

<file path=ppt/slides/_rels/slide14.xml.rels><?xml version="1.0" encoding="UTF-8" standalone="yes"?>
<Relationships xmlns="http://schemas.openxmlformats.org/package/2006/relationships"><Relationship Id="rId8" Type="http://schemas.openxmlformats.org/officeDocument/2006/relationships/image" Target="../media/image39.jpeg"/><Relationship Id="rId3" Type="http://schemas.openxmlformats.org/officeDocument/2006/relationships/image" Target="../media/image34.jpeg"/><Relationship Id="rId7" Type="http://schemas.openxmlformats.org/officeDocument/2006/relationships/image" Target="../media/image38.jpe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37.jpeg"/><Relationship Id="rId5" Type="http://schemas.openxmlformats.org/officeDocument/2006/relationships/image" Target="../media/image36.jpeg"/><Relationship Id="rId4" Type="http://schemas.openxmlformats.org/officeDocument/2006/relationships/image" Target="../media/image35.jpeg"/><Relationship Id="rId9" Type="http://schemas.openxmlformats.org/officeDocument/2006/relationships/image" Target="../media/image40.jpeg"/></Relationships>
</file>

<file path=ppt/slides/_rels/slide1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3.wmf"/></Relationships>
</file>

<file path=ppt/slides/_rels/slide17.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45.jpeg"/></Relationships>
</file>

<file path=ppt/slides/_rels/slide1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4.xml"/><Relationship Id="rId5" Type="http://schemas.openxmlformats.org/officeDocument/2006/relationships/image" Target="../media/image49.png"/><Relationship Id="rId4" Type="http://schemas.openxmlformats.org/officeDocument/2006/relationships/image" Target="../media/image48.png"/></Relationships>
</file>

<file path=ppt/slides/_rels/slide1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52.jpeg"/><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54.jpeg"/></Relationships>
</file>

<file path=ppt/slides/_rels/slide21.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image" Target="../media/image56.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wmf"/><Relationship Id="rId1" Type="http://schemas.openxmlformats.org/officeDocument/2006/relationships/slideLayout" Target="../slideLayouts/slideLayout4.xml"/><Relationship Id="rId4" Type="http://schemas.openxmlformats.org/officeDocument/2006/relationships/image" Target="../media/image60.png"/></Relationships>
</file>

<file path=ppt/slides/_rels/slide23.xml.rels><?xml version="1.0" encoding="UTF-8" standalone="yes"?>
<Relationships xmlns="http://schemas.openxmlformats.org/package/2006/relationships"><Relationship Id="rId3" Type="http://schemas.openxmlformats.org/officeDocument/2006/relationships/image" Target="../media/image62.wmf"/><Relationship Id="rId2" Type="http://schemas.openxmlformats.org/officeDocument/2006/relationships/image" Target="../media/image61.jpeg"/><Relationship Id="rId1" Type="http://schemas.openxmlformats.org/officeDocument/2006/relationships/slideLayout" Target="../slideLayouts/slideLayout4.xml"/><Relationship Id="rId4" Type="http://schemas.openxmlformats.org/officeDocument/2006/relationships/image" Target="../media/image63.jpeg"/></Relationships>
</file>

<file path=ppt/slides/_rels/slide2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jpe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66.wmf"/><Relationship Id="rId7" Type="http://schemas.openxmlformats.org/officeDocument/2006/relationships/image" Target="../media/image70.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73.png"/><Relationship Id="rId5" Type="http://schemas.openxmlformats.org/officeDocument/2006/relationships/image" Target="../media/image72.jpeg"/><Relationship Id="rId4" Type="http://schemas.openxmlformats.org/officeDocument/2006/relationships/image" Target="../media/image71.png"/></Relationships>
</file>

<file path=ppt/slides/_rels/slide27.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jpeg"/><Relationship Id="rId1" Type="http://schemas.openxmlformats.org/officeDocument/2006/relationships/slideLayout" Target="../slideLayouts/slideLayout4.xml"/><Relationship Id="rId5" Type="http://schemas.openxmlformats.org/officeDocument/2006/relationships/image" Target="../media/image77.png"/><Relationship Id="rId4" Type="http://schemas.openxmlformats.org/officeDocument/2006/relationships/image" Target="../media/image76.png"/></Relationships>
</file>

<file path=ppt/slides/_rels/slide28.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81.jpeg"/><Relationship Id="rId4" Type="http://schemas.openxmlformats.org/officeDocument/2006/relationships/image" Target="../media/image80.png"/></Relationships>
</file>

<file path=ppt/slides/_rels/slide30.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jpe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5.png"/></Relationships>
</file>

<file path=ppt/slides/_rels/slide32.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image" Target="../media/image95.png"/><Relationship Id="rId3" Type="http://schemas.openxmlformats.org/officeDocument/2006/relationships/image" Target="../media/image90.png"/><Relationship Id="rId7" Type="http://schemas.openxmlformats.org/officeDocument/2006/relationships/image" Target="../media/image94.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93.png"/><Relationship Id="rId5" Type="http://schemas.openxmlformats.org/officeDocument/2006/relationships/image" Target="../media/image92.png"/><Relationship Id="rId10" Type="http://schemas.openxmlformats.org/officeDocument/2006/relationships/image" Target="../media/image97.png"/><Relationship Id="rId4" Type="http://schemas.openxmlformats.org/officeDocument/2006/relationships/image" Target="../media/image91.png"/><Relationship Id="rId9" Type="http://schemas.openxmlformats.org/officeDocument/2006/relationships/image" Target="../media/image9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image" Target="../media/image98.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FR" dirty="0"/>
              <a:t>(Ecosystèmes et) Services écosystémiques</a:t>
            </a:r>
          </a:p>
        </p:txBody>
      </p:sp>
      <p:sp>
        <p:nvSpPr>
          <p:cNvPr id="3" name="Sous-titre 2"/>
          <p:cNvSpPr>
            <a:spLocks noGrp="1"/>
          </p:cNvSpPr>
          <p:nvPr>
            <p:ph type="subTitle" idx="1"/>
          </p:nvPr>
        </p:nvSpPr>
        <p:spPr/>
        <p:txBody>
          <a:bodyPr/>
          <a:lstStyle/>
          <a:p>
            <a:r>
              <a:rPr lang="fr-FR" dirty="0"/>
              <a:t>Emmanuelle Porcher</a:t>
            </a:r>
          </a:p>
          <a:p>
            <a:r>
              <a:rPr lang="fr-FR" sz="2400" dirty="0"/>
              <a:t>Centre d’Ecologie et des Sciences de la Conservation</a:t>
            </a:r>
          </a:p>
          <a:p>
            <a:r>
              <a:rPr lang="fr-FR" sz="2400" dirty="0"/>
              <a:t>Muséum national d’Histoire naturelle</a:t>
            </a:r>
          </a:p>
        </p:txBody>
      </p:sp>
      <p:pic>
        <p:nvPicPr>
          <p:cNvPr id="4" name="Picture 2" descr="Accueil"/>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6791751" y="5699257"/>
            <a:ext cx="2352249" cy="1158743"/>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 4"/>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0" y="5212398"/>
            <a:ext cx="1383850" cy="1598780"/>
          </a:xfrm>
          <a:prstGeom prst="rect">
            <a:avLst/>
          </a:prstGeom>
        </p:spPr>
      </p:pic>
    </p:spTree>
    <p:extLst>
      <p:ext uri="{BB962C8B-B14F-4D97-AF65-F5344CB8AC3E}">
        <p14:creationId xmlns:p14="http://schemas.microsoft.com/office/powerpoint/2010/main" val="11627305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fr-FR" altLang="en-US" dirty="0"/>
              <a:t>La biodiversité, un objet hiérarchisé</a:t>
            </a:r>
          </a:p>
        </p:txBody>
      </p:sp>
      <p:sp>
        <p:nvSpPr>
          <p:cNvPr id="142339" name="Rectangle 3"/>
          <p:cNvSpPr>
            <a:spLocks noChangeArrowheads="1"/>
          </p:cNvSpPr>
          <p:nvPr/>
        </p:nvSpPr>
        <p:spPr bwMode="auto">
          <a:xfrm>
            <a:off x="457200" y="1714500"/>
            <a:ext cx="4643438" cy="453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lr>
                <a:schemeClr val="bg2"/>
              </a:buClr>
              <a:buSzPct val="75000"/>
              <a:buFont typeface="Wingdings" pitchFamily="2" charset="2"/>
              <a:buChar char="p"/>
              <a:defRPr sz="2800">
                <a:solidFill>
                  <a:schemeClr val="tx1"/>
                </a:solidFill>
                <a:latin typeface="Verdana" pitchFamily="34"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defRPr>
            </a:lvl2pPr>
            <a:lvl3pPr marL="1146175"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9pPr>
          </a:lstStyle>
          <a:p>
            <a:pPr eaLnBrk="1" hangingPunct="1">
              <a:buFont typeface="Wingdings" pitchFamily="2" charset="2"/>
              <a:buNone/>
            </a:pPr>
            <a:r>
              <a:rPr lang="fr-FR" altLang="en-US" sz="2000">
                <a:solidFill>
                  <a:schemeClr val="hlink"/>
                </a:solidFill>
              </a:rPr>
              <a:t>Écologie</a:t>
            </a:r>
          </a:p>
          <a:p>
            <a:pPr eaLnBrk="1" hangingPunct="1">
              <a:buFont typeface="Wingdings" pitchFamily="2" charset="2"/>
              <a:buNone/>
            </a:pPr>
            <a:r>
              <a:rPr lang="fr-FR" altLang="en-US" sz="2000">
                <a:solidFill>
                  <a:srgbClr val="009900"/>
                </a:solidFill>
              </a:rPr>
              <a:t>Biologie des organismes</a:t>
            </a:r>
          </a:p>
          <a:p>
            <a:pPr eaLnBrk="1" hangingPunct="1">
              <a:buFont typeface="Wingdings" pitchFamily="2" charset="2"/>
              <a:buNone/>
            </a:pPr>
            <a:r>
              <a:rPr lang="fr-FR" altLang="en-US" sz="2000">
                <a:solidFill>
                  <a:schemeClr val="tx2"/>
                </a:solidFill>
              </a:rPr>
              <a:t>Biologie moléculaire</a:t>
            </a:r>
          </a:p>
          <a:p>
            <a:pPr eaLnBrk="1" hangingPunct="1">
              <a:buFont typeface="Wingdings" pitchFamily="2" charset="2"/>
              <a:buNone/>
            </a:pPr>
            <a:endParaRPr lang="fr-FR" altLang="en-US" sz="2000"/>
          </a:p>
          <a:p>
            <a:pPr eaLnBrk="1" hangingPunct="1">
              <a:buFont typeface="Wingdings" pitchFamily="2" charset="2"/>
              <a:buNone/>
            </a:pPr>
            <a:r>
              <a:rPr lang="fr-FR" altLang="en-US" sz="2000"/>
              <a:t>Biodiversité = </a:t>
            </a:r>
            <a:r>
              <a:rPr lang="fr-FR" altLang="en-US" sz="1800"/>
              <a:t>La variabilité des organismes vivants de toute origine y compris, entre autres, les écosystèmes terrestres, marins et autres écosystèmes aquatiques et les complexes écologiques dont ils font partie; </a:t>
            </a:r>
            <a:r>
              <a:rPr lang="fr-FR" altLang="en-US" sz="1800" i="1"/>
              <a:t>cela comprend la diversité au sein des espèces et entre espèces ainsi que celle des écosystèmes.</a:t>
            </a:r>
          </a:p>
        </p:txBody>
      </p:sp>
      <p:graphicFrame>
        <p:nvGraphicFramePr>
          <p:cNvPr id="142340" name="Group 4"/>
          <p:cNvGraphicFramePr>
            <a:graphicFrameLocks noGrp="1"/>
          </p:cNvGraphicFramePr>
          <p:nvPr/>
        </p:nvGraphicFramePr>
        <p:xfrm>
          <a:off x="6332538" y="1492250"/>
          <a:ext cx="2016125" cy="5214944"/>
        </p:xfrm>
        <a:graphic>
          <a:graphicData uri="http://schemas.openxmlformats.org/drawingml/2006/table">
            <a:tbl>
              <a:tblPr/>
              <a:tblGrid>
                <a:gridCol w="2016125">
                  <a:extLst>
                    <a:ext uri="{9D8B030D-6E8A-4147-A177-3AD203B41FA5}">
                      <a16:colId xmlns:a16="http://schemas.microsoft.com/office/drawing/2014/main" xmlns="" val="20000"/>
                    </a:ext>
                  </a:extLst>
                </a:gridCol>
              </a:tblGrid>
              <a:tr h="249238">
                <a:tc>
                  <a:txBody>
                    <a:bodyPr/>
                    <a:lstStyle>
                      <a:lvl1pPr>
                        <a:spcBef>
                          <a:spcPct val="20000"/>
                        </a:spcBef>
                        <a:buClr>
                          <a:schemeClr val="bg2"/>
                        </a:buClr>
                        <a:buSzPct val="75000"/>
                        <a:buFont typeface="Wingdings" pitchFamily="2" charset="2"/>
                        <a:defRPr sz="2400">
                          <a:solidFill>
                            <a:schemeClr val="tx1"/>
                          </a:solidFill>
                          <a:latin typeface="Verdana" pitchFamily="34" charset="0"/>
                        </a:defRPr>
                      </a:lvl1pPr>
                      <a:lvl2pPr>
                        <a:spcBef>
                          <a:spcPct val="20000"/>
                        </a:spcBef>
                        <a:buClr>
                          <a:schemeClr val="tx2"/>
                        </a:buClr>
                        <a:buSzPct val="75000"/>
                        <a:buFont typeface="Wingdings" pitchFamily="2" charset="2"/>
                        <a:defRPr sz="2000">
                          <a:solidFill>
                            <a:schemeClr val="tx1"/>
                          </a:solidFill>
                          <a:latin typeface="Verdana" pitchFamily="34" charset="0"/>
                        </a:defRPr>
                      </a:lvl2pPr>
                      <a:lvl3pPr>
                        <a:spcBef>
                          <a:spcPct val="20000"/>
                        </a:spcBef>
                        <a:buClr>
                          <a:schemeClr val="accent1"/>
                        </a:buClr>
                        <a:buSzPct val="65000"/>
                        <a:buFont typeface="Wingdings" pitchFamily="2" charset="2"/>
                        <a:defRPr>
                          <a:solidFill>
                            <a:schemeClr val="tx1"/>
                          </a:solidFill>
                          <a:latin typeface="Verdana" pitchFamily="34" charset="0"/>
                        </a:defRPr>
                      </a:lvl3pPr>
                      <a:lvl4pPr>
                        <a:spcBef>
                          <a:spcPct val="20000"/>
                        </a:spcBef>
                        <a:buClr>
                          <a:schemeClr val="bg2"/>
                        </a:buClr>
                        <a:buFont typeface="Wingdings" pitchFamily="2" charset="2"/>
                        <a:defRPr sz="1600">
                          <a:solidFill>
                            <a:schemeClr val="tx1"/>
                          </a:solidFill>
                          <a:latin typeface="Verdana" pitchFamily="34" charset="0"/>
                        </a:defRPr>
                      </a:lvl4pPr>
                      <a:lvl5pPr>
                        <a:spcBef>
                          <a:spcPct val="20000"/>
                        </a:spcBef>
                        <a:buClr>
                          <a:schemeClr val="tx2"/>
                        </a:buClr>
                        <a:buSzPct val="80000"/>
                        <a:buFont typeface="Wingdings" pitchFamily="2" charset="2"/>
                        <a:defRPr sz="1600">
                          <a:solidFill>
                            <a:schemeClr val="tx1"/>
                          </a:solidFill>
                          <a:latin typeface="Verdana" pitchFamily="34" charset="0"/>
                        </a:defRPr>
                      </a:lvl5pPr>
                      <a:lvl6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6pPr>
                      <a:lvl7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7pPr>
                      <a:lvl8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8pPr>
                      <a:lvl9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9pPr>
                    </a:lstStyle>
                    <a:p>
                      <a:pPr marL="0" marR="0" lvl="0" indent="0" algn="ctr" defTabSz="914400" rtl="0" eaLnBrk="1" fontAlgn="base" latinLnBrk="0" hangingPunct="1">
                        <a:lnSpc>
                          <a:spcPct val="100000"/>
                        </a:lnSpc>
                        <a:spcBef>
                          <a:spcPct val="0"/>
                        </a:spcBef>
                        <a:spcAft>
                          <a:spcPct val="0"/>
                        </a:spcAft>
                        <a:buClr>
                          <a:schemeClr val="bg2"/>
                        </a:buClr>
                        <a:buSzPct val="75000"/>
                        <a:buFont typeface="Wingdings" pitchFamily="2" charset="2"/>
                        <a:buNone/>
                        <a:tabLst/>
                      </a:pPr>
                      <a:r>
                        <a:rPr kumimoji="0" lang="fr-FR" altLang="en-US" sz="1500" b="1" i="0" u="none" strike="noStrike" cap="none" normalizeH="0" baseline="0">
                          <a:ln>
                            <a:noFill/>
                          </a:ln>
                          <a:solidFill>
                            <a:schemeClr val="hlink"/>
                          </a:solidFill>
                          <a:effectLst/>
                          <a:latin typeface="Verdana" pitchFamily="34" charset="0"/>
                        </a:rPr>
                        <a:t>Biosphère</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246063">
                <a:tc>
                  <a:txBody>
                    <a:bodyPr/>
                    <a:lstStyle>
                      <a:lvl1pPr>
                        <a:spcBef>
                          <a:spcPct val="20000"/>
                        </a:spcBef>
                        <a:buClr>
                          <a:schemeClr val="bg2"/>
                        </a:buClr>
                        <a:buSzPct val="75000"/>
                        <a:buFont typeface="Wingdings" pitchFamily="2" charset="2"/>
                        <a:defRPr sz="2400">
                          <a:solidFill>
                            <a:schemeClr val="tx1"/>
                          </a:solidFill>
                          <a:latin typeface="Verdana" pitchFamily="34" charset="0"/>
                        </a:defRPr>
                      </a:lvl1pPr>
                      <a:lvl2pPr>
                        <a:spcBef>
                          <a:spcPct val="20000"/>
                        </a:spcBef>
                        <a:buClr>
                          <a:schemeClr val="tx2"/>
                        </a:buClr>
                        <a:buSzPct val="75000"/>
                        <a:buFont typeface="Wingdings" pitchFamily="2" charset="2"/>
                        <a:defRPr sz="2000">
                          <a:solidFill>
                            <a:schemeClr val="tx1"/>
                          </a:solidFill>
                          <a:latin typeface="Verdana" pitchFamily="34" charset="0"/>
                        </a:defRPr>
                      </a:lvl2pPr>
                      <a:lvl3pPr>
                        <a:spcBef>
                          <a:spcPct val="20000"/>
                        </a:spcBef>
                        <a:buClr>
                          <a:schemeClr val="accent1"/>
                        </a:buClr>
                        <a:buSzPct val="65000"/>
                        <a:buFont typeface="Wingdings" pitchFamily="2" charset="2"/>
                        <a:defRPr>
                          <a:solidFill>
                            <a:schemeClr val="tx1"/>
                          </a:solidFill>
                          <a:latin typeface="Verdana" pitchFamily="34" charset="0"/>
                        </a:defRPr>
                      </a:lvl3pPr>
                      <a:lvl4pPr>
                        <a:spcBef>
                          <a:spcPct val="20000"/>
                        </a:spcBef>
                        <a:buClr>
                          <a:schemeClr val="bg2"/>
                        </a:buClr>
                        <a:buFont typeface="Wingdings" pitchFamily="2" charset="2"/>
                        <a:defRPr sz="1600">
                          <a:solidFill>
                            <a:schemeClr val="tx1"/>
                          </a:solidFill>
                          <a:latin typeface="Verdana" pitchFamily="34" charset="0"/>
                        </a:defRPr>
                      </a:lvl4pPr>
                      <a:lvl5pPr>
                        <a:spcBef>
                          <a:spcPct val="20000"/>
                        </a:spcBef>
                        <a:buClr>
                          <a:schemeClr val="tx2"/>
                        </a:buClr>
                        <a:buSzPct val="80000"/>
                        <a:buFont typeface="Wingdings" pitchFamily="2" charset="2"/>
                        <a:defRPr sz="1600">
                          <a:solidFill>
                            <a:schemeClr val="tx1"/>
                          </a:solidFill>
                          <a:latin typeface="Verdana" pitchFamily="34" charset="0"/>
                        </a:defRPr>
                      </a:lvl5pPr>
                      <a:lvl6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6pPr>
                      <a:lvl7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7pPr>
                      <a:lvl8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8pPr>
                      <a:lvl9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9pPr>
                    </a:lstStyle>
                    <a:p>
                      <a:pPr marL="0" marR="0" lvl="0" indent="0" algn="ctr" defTabSz="914400" rtl="0" eaLnBrk="1" fontAlgn="base" latinLnBrk="0" hangingPunct="1">
                        <a:lnSpc>
                          <a:spcPct val="100000"/>
                        </a:lnSpc>
                        <a:spcBef>
                          <a:spcPct val="0"/>
                        </a:spcBef>
                        <a:spcAft>
                          <a:spcPct val="0"/>
                        </a:spcAft>
                        <a:buClr>
                          <a:schemeClr val="bg2"/>
                        </a:buClr>
                        <a:buSzPct val="75000"/>
                        <a:buFont typeface="Wingdings" pitchFamily="2" charset="2"/>
                        <a:buNone/>
                        <a:tabLst/>
                      </a:pPr>
                      <a:r>
                        <a:rPr kumimoji="0" lang="fr-FR" altLang="en-US" sz="1500" b="1" i="0" u="none" strike="noStrike" cap="none" normalizeH="0" baseline="0">
                          <a:ln>
                            <a:noFill/>
                          </a:ln>
                          <a:solidFill>
                            <a:schemeClr val="hlink"/>
                          </a:solidFill>
                          <a:effectLst/>
                          <a:latin typeface="Verdana" pitchFamily="34" charset="0"/>
                          <a:sym typeface="Wingdings" pitchFamily="2" charset="2"/>
                        </a:rPr>
                        <a:t></a:t>
                      </a:r>
                    </a:p>
                  </a:txBody>
                  <a:tcPr marL="0" marR="0" marT="0" marB="0" horzOverflow="overflow">
                    <a:lnL cap="flat">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249238">
                <a:tc>
                  <a:txBody>
                    <a:bodyPr/>
                    <a:lstStyle>
                      <a:lvl1pPr>
                        <a:spcBef>
                          <a:spcPct val="20000"/>
                        </a:spcBef>
                        <a:buClr>
                          <a:schemeClr val="bg2"/>
                        </a:buClr>
                        <a:buSzPct val="75000"/>
                        <a:buFont typeface="Wingdings" pitchFamily="2" charset="2"/>
                        <a:defRPr sz="2400">
                          <a:solidFill>
                            <a:schemeClr val="tx1"/>
                          </a:solidFill>
                          <a:latin typeface="Verdana" pitchFamily="34" charset="0"/>
                        </a:defRPr>
                      </a:lvl1pPr>
                      <a:lvl2pPr>
                        <a:spcBef>
                          <a:spcPct val="20000"/>
                        </a:spcBef>
                        <a:buClr>
                          <a:schemeClr val="tx2"/>
                        </a:buClr>
                        <a:buSzPct val="75000"/>
                        <a:buFont typeface="Wingdings" pitchFamily="2" charset="2"/>
                        <a:defRPr sz="2000">
                          <a:solidFill>
                            <a:schemeClr val="tx1"/>
                          </a:solidFill>
                          <a:latin typeface="Verdana" pitchFamily="34" charset="0"/>
                        </a:defRPr>
                      </a:lvl2pPr>
                      <a:lvl3pPr>
                        <a:spcBef>
                          <a:spcPct val="20000"/>
                        </a:spcBef>
                        <a:buClr>
                          <a:schemeClr val="accent1"/>
                        </a:buClr>
                        <a:buSzPct val="65000"/>
                        <a:buFont typeface="Wingdings" pitchFamily="2" charset="2"/>
                        <a:defRPr>
                          <a:solidFill>
                            <a:schemeClr val="tx1"/>
                          </a:solidFill>
                          <a:latin typeface="Verdana" pitchFamily="34" charset="0"/>
                        </a:defRPr>
                      </a:lvl3pPr>
                      <a:lvl4pPr>
                        <a:spcBef>
                          <a:spcPct val="20000"/>
                        </a:spcBef>
                        <a:buClr>
                          <a:schemeClr val="bg2"/>
                        </a:buClr>
                        <a:buFont typeface="Wingdings" pitchFamily="2" charset="2"/>
                        <a:defRPr sz="1600">
                          <a:solidFill>
                            <a:schemeClr val="tx1"/>
                          </a:solidFill>
                          <a:latin typeface="Verdana" pitchFamily="34" charset="0"/>
                        </a:defRPr>
                      </a:lvl4pPr>
                      <a:lvl5pPr>
                        <a:spcBef>
                          <a:spcPct val="20000"/>
                        </a:spcBef>
                        <a:buClr>
                          <a:schemeClr val="tx2"/>
                        </a:buClr>
                        <a:buSzPct val="80000"/>
                        <a:buFont typeface="Wingdings" pitchFamily="2" charset="2"/>
                        <a:defRPr sz="1600">
                          <a:solidFill>
                            <a:schemeClr val="tx1"/>
                          </a:solidFill>
                          <a:latin typeface="Verdana" pitchFamily="34" charset="0"/>
                        </a:defRPr>
                      </a:lvl5pPr>
                      <a:lvl6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6pPr>
                      <a:lvl7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7pPr>
                      <a:lvl8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8pPr>
                      <a:lvl9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9pPr>
                    </a:lstStyle>
                    <a:p>
                      <a:pPr marL="0" marR="0" lvl="0" indent="0" algn="ctr" defTabSz="914400" rtl="0" eaLnBrk="1" fontAlgn="base" latinLnBrk="0" hangingPunct="1">
                        <a:lnSpc>
                          <a:spcPct val="100000"/>
                        </a:lnSpc>
                        <a:spcBef>
                          <a:spcPct val="0"/>
                        </a:spcBef>
                        <a:spcAft>
                          <a:spcPct val="0"/>
                        </a:spcAft>
                        <a:buClr>
                          <a:schemeClr val="bg2"/>
                        </a:buClr>
                        <a:buSzPct val="75000"/>
                        <a:buFont typeface="Wingdings" pitchFamily="2" charset="2"/>
                        <a:buNone/>
                        <a:tabLst/>
                      </a:pPr>
                      <a:r>
                        <a:rPr kumimoji="0" lang="fr-FR" altLang="en-US" sz="1500" b="1" i="0" u="none" strike="noStrike" cap="none" normalizeH="0" baseline="0">
                          <a:ln>
                            <a:noFill/>
                          </a:ln>
                          <a:solidFill>
                            <a:schemeClr val="hlink"/>
                          </a:solidFill>
                          <a:effectLst/>
                          <a:latin typeface="Verdana" pitchFamily="34" charset="0"/>
                        </a:rPr>
                        <a:t>Biomes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249238">
                <a:tc>
                  <a:txBody>
                    <a:bodyPr/>
                    <a:lstStyle>
                      <a:lvl1pPr>
                        <a:spcBef>
                          <a:spcPct val="20000"/>
                        </a:spcBef>
                        <a:buClr>
                          <a:schemeClr val="bg2"/>
                        </a:buClr>
                        <a:buSzPct val="75000"/>
                        <a:buFont typeface="Wingdings" pitchFamily="2" charset="2"/>
                        <a:defRPr sz="2400">
                          <a:solidFill>
                            <a:schemeClr val="tx1"/>
                          </a:solidFill>
                          <a:latin typeface="Verdana" pitchFamily="34" charset="0"/>
                        </a:defRPr>
                      </a:lvl1pPr>
                      <a:lvl2pPr>
                        <a:spcBef>
                          <a:spcPct val="20000"/>
                        </a:spcBef>
                        <a:buClr>
                          <a:schemeClr val="tx2"/>
                        </a:buClr>
                        <a:buSzPct val="75000"/>
                        <a:buFont typeface="Wingdings" pitchFamily="2" charset="2"/>
                        <a:defRPr sz="2000">
                          <a:solidFill>
                            <a:schemeClr val="tx1"/>
                          </a:solidFill>
                          <a:latin typeface="Verdana" pitchFamily="34" charset="0"/>
                        </a:defRPr>
                      </a:lvl2pPr>
                      <a:lvl3pPr>
                        <a:spcBef>
                          <a:spcPct val="20000"/>
                        </a:spcBef>
                        <a:buClr>
                          <a:schemeClr val="accent1"/>
                        </a:buClr>
                        <a:buSzPct val="65000"/>
                        <a:buFont typeface="Wingdings" pitchFamily="2" charset="2"/>
                        <a:defRPr>
                          <a:solidFill>
                            <a:schemeClr val="tx1"/>
                          </a:solidFill>
                          <a:latin typeface="Verdana" pitchFamily="34" charset="0"/>
                        </a:defRPr>
                      </a:lvl3pPr>
                      <a:lvl4pPr>
                        <a:spcBef>
                          <a:spcPct val="20000"/>
                        </a:spcBef>
                        <a:buClr>
                          <a:schemeClr val="bg2"/>
                        </a:buClr>
                        <a:buFont typeface="Wingdings" pitchFamily="2" charset="2"/>
                        <a:defRPr sz="1600">
                          <a:solidFill>
                            <a:schemeClr val="tx1"/>
                          </a:solidFill>
                          <a:latin typeface="Verdana" pitchFamily="34" charset="0"/>
                        </a:defRPr>
                      </a:lvl4pPr>
                      <a:lvl5pPr>
                        <a:spcBef>
                          <a:spcPct val="20000"/>
                        </a:spcBef>
                        <a:buClr>
                          <a:schemeClr val="tx2"/>
                        </a:buClr>
                        <a:buSzPct val="80000"/>
                        <a:buFont typeface="Wingdings" pitchFamily="2" charset="2"/>
                        <a:defRPr sz="1600">
                          <a:solidFill>
                            <a:schemeClr val="tx1"/>
                          </a:solidFill>
                          <a:latin typeface="Verdana" pitchFamily="34" charset="0"/>
                        </a:defRPr>
                      </a:lvl5pPr>
                      <a:lvl6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6pPr>
                      <a:lvl7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7pPr>
                      <a:lvl8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8pPr>
                      <a:lvl9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9pPr>
                    </a:lstStyle>
                    <a:p>
                      <a:pPr marL="0" marR="0" lvl="0" indent="0" algn="ctr" defTabSz="914400" rtl="0" eaLnBrk="1" fontAlgn="base" latinLnBrk="0" hangingPunct="1">
                        <a:lnSpc>
                          <a:spcPct val="100000"/>
                        </a:lnSpc>
                        <a:spcBef>
                          <a:spcPct val="0"/>
                        </a:spcBef>
                        <a:spcAft>
                          <a:spcPct val="0"/>
                        </a:spcAft>
                        <a:buClr>
                          <a:schemeClr val="bg2"/>
                        </a:buClr>
                        <a:buSzPct val="75000"/>
                        <a:buFont typeface="Wingdings" pitchFamily="2" charset="2"/>
                        <a:buNone/>
                        <a:tabLst/>
                      </a:pPr>
                      <a:r>
                        <a:rPr kumimoji="0" lang="fr-FR" altLang="en-US" sz="1500" b="1" i="0" u="none" strike="noStrike" cap="none" normalizeH="0" baseline="0">
                          <a:ln>
                            <a:noFill/>
                          </a:ln>
                          <a:solidFill>
                            <a:schemeClr val="hlink"/>
                          </a:solidFill>
                          <a:effectLst/>
                          <a:latin typeface="Verdana" pitchFamily="34" charset="0"/>
                          <a:sym typeface="Wingdings" pitchFamily="2" charset="2"/>
                        </a:rPr>
                        <a:t></a:t>
                      </a:r>
                    </a:p>
                  </a:txBody>
                  <a:tcPr marL="0" marR="0" marT="0" marB="0" horzOverflow="overflow">
                    <a:lnL cap="flat">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247650">
                <a:tc>
                  <a:txBody>
                    <a:bodyPr/>
                    <a:lstStyle>
                      <a:lvl1pPr>
                        <a:spcBef>
                          <a:spcPct val="20000"/>
                        </a:spcBef>
                        <a:buClr>
                          <a:schemeClr val="bg2"/>
                        </a:buClr>
                        <a:buSzPct val="75000"/>
                        <a:buFont typeface="Wingdings" pitchFamily="2" charset="2"/>
                        <a:defRPr sz="2400">
                          <a:solidFill>
                            <a:schemeClr val="tx1"/>
                          </a:solidFill>
                          <a:latin typeface="Verdana" pitchFamily="34" charset="0"/>
                        </a:defRPr>
                      </a:lvl1pPr>
                      <a:lvl2pPr>
                        <a:spcBef>
                          <a:spcPct val="20000"/>
                        </a:spcBef>
                        <a:buClr>
                          <a:schemeClr val="tx2"/>
                        </a:buClr>
                        <a:buSzPct val="75000"/>
                        <a:buFont typeface="Wingdings" pitchFamily="2" charset="2"/>
                        <a:defRPr sz="2000">
                          <a:solidFill>
                            <a:schemeClr val="tx1"/>
                          </a:solidFill>
                          <a:latin typeface="Verdana" pitchFamily="34" charset="0"/>
                        </a:defRPr>
                      </a:lvl2pPr>
                      <a:lvl3pPr>
                        <a:spcBef>
                          <a:spcPct val="20000"/>
                        </a:spcBef>
                        <a:buClr>
                          <a:schemeClr val="accent1"/>
                        </a:buClr>
                        <a:buSzPct val="65000"/>
                        <a:buFont typeface="Wingdings" pitchFamily="2" charset="2"/>
                        <a:defRPr>
                          <a:solidFill>
                            <a:schemeClr val="tx1"/>
                          </a:solidFill>
                          <a:latin typeface="Verdana" pitchFamily="34" charset="0"/>
                        </a:defRPr>
                      </a:lvl3pPr>
                      <a:lvl4pPr>
                        <a:spcBef>
                          <a:spcPct val="20000"/>
                        </a:spcBef>
                        <a:buClr>
                          <a:schemeClr val="bg2"/>
                        </a:buClr>
                        <a:buFont typeface="Wingdings" pitchFamily="2" charset="2"/>
                        <a:defRPr sz="1600">
                          <a:solidFill>
                            <a:schemeClr val="tx1"/>
                          </a:solidFill>
                          <a:latin typeface="Verdana" pitchFamily="34" charset="0"/>
                        </a:defRPr>
                      </a:lvl4pPr>
                      <a:lvl5pPr>
                        <a:spcBef>
                          <a:spcPct val="20000"/>
                        </a:spcBef>
                        <a:buClr>
                          <a:schemeClr val="tx2"/>
                        </a:buClr>
                        <a:buSzPct val="80000"/>
                        <a:buFont typeface="Wingdings" pitchFamily="2" charset="2"/>
                        <a:defRPr sz="1600">
                          <a:solidFill>
                            <a:schemeClr val="tx1"/>
                          </a:solidFill>
                          <a:latin typeface="Verdana" pitchFamily="34" charset="0"/>
                        </a:defRPr>
                      </a:lvl5pPr>
                      <a:lvl6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6pPr>
                      <a:lvl7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7pPr>
                      <a:lvl8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8pPr>
                      <a:lvl9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9pPr>
                    </a:lstStyle>
                    <a:p>
                      <a:pPr marL="0" marR="0" lvl="0" indent="0" algn="ctr" defTabSz="914400" rtl="0" eaLnBrk="1" fontAlgn="base" latinLnBrk="0" hangingPunct="1">
                        <a:lnSpc>
                          <a:spcPct val="100000"/>
                        </a:lnSpc>
                        <a:spcBef>
                          <a:spcPct val="0"/>
                        </a:spcBef>
                        <a:spcAft>
                          <a:spcPct val="0"/>
                        </a:spcAft>
                        <a:buClr>
                          <a:schemeClr val="bg2"/>
                        </a:buClr>
                        <a:buSzPct val="75000"/>
                        <a:buFont typeface="Wingdings" pitchFamily="2" charset="2"/>
                        <a:buNone/>
                        <a:tabLst/>
                      </a:pPr>
                      <a:r>
                        <a:rPr kumimoji="0" lang="fr-FR" altLang="en-US" sz="1500" b="1" i="0" u="none" strike="noStrike" cap="none" normalizeH="0" baseline="0">
                          <a:ln>
                            <a:noFill/>
                          </a:ln>
                          <a:solidFill>
                            <a:schemeClr val="hlink"/>
                          </a:solidFill>
                          <a:effectLst/>
                          <a:latin typeface="Verdana" pitchFamily="34" charset="0"/>
                        </a:rPr>
                        <a:t>Paysages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249238">
                <a:tc>
                  <a:txBody>
                    <a:bodyPr/>
                    <a:lstStyle>
                      <a:lvl1pPr>
                        <a:spcBef>
                          <a:spcPct val="20000"/>
                        </a:spcBef>
                        <a:buClr>
                          <a:schemeClr val="bg2"/>
                        </a:buClr>
                        <a:buSzPct val="75000"/>
                        <a:buFont typeface="Wingdings" pitchFamily="2" charset="2"/>
                        <a:defRPr sz="2400">
                          <a:solidFill>
                            <a:schemeClr val="tx1"/>
                          </a:solidFill>
                          <a:latin typeface="Verdana" pitchFamily="34" charset="0"/>
                        </a:defRPr>
                      </a:lvl1pPr>
                      <a:lvl2pPr>
                        <a:spcBef>
                          <a:spcPct val="20000"/>
                        </a:spcBef>
                        <a:buClr>
                          <a:schemeClr val="tx2"/>
                        </a:buClr>
                        <a:buSzPct val="75000"/>
                        <a:buFont typeface="Wingdings" pitchFamily="2" charset="2"/>
                        <a:defRPr sz="2000">
                          <a:solidFill>
                            <a:schemeClr val="tx1"/>
                          </a:solidFill>
                          <a:latin typeface="Verdana" pitchFamily="34" charset="0"/>
                        </a:defRPr>
                      </a:lvl2pPr>
                      <a:lvl3pPr>
                        <a:spcBef>
                          <a:spcPct val="20000"/>
                        </a:spcBef>
                        <a:buClr>
                          <a:schemeClr val="accent1"/>
                        </a:buClr>
                        <a:buSzPct val="65000"/>
                        <a:buFont typeface="Wingdings" pitchFamily="2" charset="2"/>
                        <a:defRPr>
                          <a:solidFill>
                            <a:schemeClr val="tx1"/>
                          </a:solidFill>
                          <a:latin typeface="Verdana" pitchFamily="34" charset="0"/>
                        </a:defRPr>
                      </a:lvl3pPr>
                      <a:lvl4pPr>
                        <a:spcBef>
                          <a:spcPct val="20000"/>
                        </a:spcBef>
                        <a:buClr>
                          <a:schemeClr val="bg2"/>
                        </a:buClr>
                        <a:buFont typeface="Wingdings" pitchFamily="2" charset="2"/>
                        <a:defRPr sz="1600">
                          <a:solidFill>
                            <a:schemeClr val="tx1"/>
                          </a:solidFill>
                          <a:latin typeface="Verdana" pitchFamily="34" charset="0"/>
                        </a:defRPr>
                      </a:lvl4pPr>
                      <a:lvl5pPr>
                        <a:spcBef>
                          <a:spcPct val="20000"/>
                        </a:spcBef>
                        <a:buClr>
                          <a:schemeClr val="tx2"/>
                        </a:buClr>
                        <a:buSzPct val="80000"/>
                        <a:buFont typeface="Wingdings" pitchFamily="2" charset="2"/>
                        <a:defRPr sz="1600">
                          <a:solidFill>
                            <a:schemeClr val="tx1"/>
                          </a:solidFill>
                          <a:latin typeface="Verdana" pitchFamily="34" charset="0"/>
                        </a:defRPr>
                      </a:lvl5pPr>
                      <a:lvl6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6pPr>
                      <a:lvl7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7pPr>
                      <a:lvl8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8pPr>
                      <a:lvl9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9pPr>
                    </a:lstStyle>
                    <a:p>
                      <a:pPr marL="0" marR="0" lvl="0" indent="0" algn="ctr" defTabSz="914400" rtl="0" eaLnBrk="1" fontAlgn="base" latinLnBrk="0" hangingPunct="1">
                        <a:lnSpc>
                          <a:spcPct val="100000"/>
                        </a:lnSpc>
                        <a:spcBef>
                          <a:spcPct val="0"/>
                        </a:spcBef>
                        <a:spcAft>
                          <a:spcPct val="0"/>
                        </a:spcAft>
                        <a:buClr>
                          <a:schemeClr val="bg2"/>
                        </a:buClr>
                        <a:buSzPct val="75000"/>
                        <a:buFont typeface="Wingdings" pitchFamily="2" charset="2"/>
                        <a:buNone/>
                        <a:tabLst/>
                      </a:pPr>
                      <a:r>
                        <a:rPr kumimoji="0" lang="fr-FR" altLang="en-US" sz="1500" b="1" i="0" u="none" strike="noStrike" cap="none" normalizeH="0" baseline="0">
                          <a:ln>
                            <a:noFill/>
                          </a:ln>
                          <a:solidFill>
                            <a:schemeClr val="hlink"/>
                          </a:solidFill>
                          <a:effectLst/>
                          <a:latin typeface="Verdana" pitchFamily="34" charset="0"/>
                          <a:sym typeface="Wingdings" pitchFamily="2" charset="2"/>
                        </a:rPr>
                        <a:t></a:t>
                      </a:r>
                    </a:p>
                  </a:txBody>
                  <a:tcPr marL="0" marR="0" marT="0" marB="0" horzOverflow="overflow">
                    <a:lnL cap="flat">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247650">
                <a:tc>
                  <a:txBody>
                    <a:bodyPr/>
                    <a:lstStyle>
                      <a:lvl1pPr>
                        <a:spcBef>
                          <a:spcPct val="20000"/>
                        </a:spcBef>
                        <a:buClr>
                          <a:schemeClr val="bg2"/>
                        </a:buClr>
                        <a:buSzPct val="75000"/>
                        <a:buFont typeface="Wingdings" pitchFamily="2" charset="2"/>
                        <a:defRPr sz="2400">
                          <a:solidFill>
                            <a:schemeClr val="tx1"/>
                          </a:solidFill>
                          <a:latin typeface="Verdana" pitchFamily="34" charset="0"/>
                        </a:defRPr>
                      </a:lvl1pPr>
                      <a:lvl2pPr>
                        <a:spcBef>
                          <a:spcPct val="20000"/>
                        </a:spcBef>
                        <a:buClr>
                          <a:schemeClr val="tx2"/>
                        </a:buClr>
                        <a:buSzPct val="75000"/>
                        <a:buFont typeface="Wingdings" pitchFamily="2" charset="2"/>
                        <a:defRPr sz="2000">
                          <a:solidFill>
                            <a:schemeClr val="tx1"/>
                          </a:solidFill>
                          <a:latin typeface="Verdana" pitchFamily="34" charset="0"/>
                        </a:defRPr>
                      </a:lvl2pPr>
                      <a:lvl3pPr>
                        <a:spcBef>
                          <a:spcPct val="20000"/>
                        </a:spcBef>
                        <a:buClr>
                          <a:schemeClr val="accent1"/>
                        </a:buClr>
                        <a:buSzPct val="65000"/>
                        <a:buFont typeface="Wingdings" pitchFamily="2" charset="2"/>
                        <a:defRPr>
                          <a:solidFill>
                            <a:schemeClr val="tx1"/>
                          </a:solidFill>
                          <a:latin typeface="Verdana" pitchFamily="34" charset="0"/>
                        </a:defRPr>
                      </a:lvl3pPr>
                      <a:lvl4pPr>
                        <a:spcBef>
                          <a:spcPct val="20000"/>
                        </a:spcBef>
                        <a:buClr>
                          <a:schemeClr val="bg2"/>
                        </a:buClr>
                        <a:buFont typeface="Wingdings" pitchFamily="2" charset="2"/>
                        <a:defRPr sz="1600">
                          <a:solidFill>
                            <a:schemeClr val="tx1"/>
                          </a:solidFill>
                          <a:latin typeface="Verdana" pitchFamily="34" charset="0"/>
                        </a:defRPr>
                      </a:lvl4pPr>
                      <a:lvl5pPr>
                        <a:spcBef>
                          <a:spcPct val="20000"/>
                        </a:spcBef>
                        <a:buClr>
                          <a:schemeClr val="tx2"/>
                        </a:buClr>
                        <a:buSzPct val="80000"/>
                        <a:buFont typeface="Wingdings" pitchFamily="2" charset="2"/>
                        <a:defRPr sz="1600">
                          <a:solidFill>
                            <a:schemeClr val="tx1"/>
                          </a:solidFill>
                          <a:latin typeface="Verdana" pitchFamily="34" charset="0"/>
                        </a:defRPr>
                      </a:lvl5pPr>
                      <a:lvl6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6pPr>
                      <a:lvl7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7pPr>
                      <a:lvl8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8pPr>
                      <a:lvl9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9pPr>
                    </a:lstStyle>
                    <a:p>
                      <a:pPr marL="0" marR="0" lvl="0" indent="0" algn="ctr" defTabSz="914400" rtl="0" eaLnBrk="1" fontAlgn="base" latinLnBrk="0" hangingPunct="1">
                        <a:lnSpc>
                          <a:spcPct val="100000"/>
                        </a:lnSpc>
                        <a:spcBef>
                          <a:spcPct val="0"/>
                        </a:spcBef>
                        <a:spcAft>
                          <a:spcPct val="0"/>
                        </a:spcAft>
                        <a:buClr>
                          <a:schemeClr val="bg2"/>
                        </a:buClr>
                        <a:buSzPct val="75000"/>
                        <a:buFont typeface="Wingdings" pitchFamily="2" charset="2"/>
                        <a:buNone/>
                        <a:tabLst/>
                      </a:pPr>
                      <a:r>
                        <a:rPr kumimoji="0" lang="fr-FR" altLang="en-US" sz="1500" b="1" i="0" u="none" strike="noStrike" cap="none" normalizeH="0" baseline="0">
                          <a:ln>
                            <a:noFill/>
                          </a:ln>
                          <a:solidFill>
                            <a:schemeClr val="hlink"/>
                          </a:solidFill>
                          <a:effectLst/>
                          <a:latin typeface="Verdana" pitchFamily="34" charset="0"/>
                        </a:rPr>
                        <a:t>Ecosystèmes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3300">
                        <a:alpha val="50000"/>
                      </a:srgbClr>
                    </a:solidFill>
                  </a:tcPr>
                </a:tc>
                <a:extLst>
                  <a:ext uri="{0D108BD9-81ED-4DB2-BD59-A6C34878D82A}">
                    <a16:rowId xmlns:a16="http://schemas.microsoft.com/office/drawing/2014/main" xmlns="" val="10006"/>
                  </a:ext>
                </a:extLst>
              </a:tr>
              <a:tr h="247650">
                <a:tc>
                  <a:txBody>
                    <a:bodyPr/>
                    <a:lstStyle>
                      <a:lvl1pPr>
                        <a:spcBef>
                          <a:spcPct val="20000"/>
                        </a:spcBef>
                        <a:buClr>
                          <a:schemeClr val="bg2"/>
                        </a:buClr>
                        <a:buSzPct val="75000"/>
                        <a:buFont typeface="Wingdings" pitchFamily="2" charset="2"/>
                        <a:defRPr sz="2400">
                          <a:solidFill>
                            <a:schemeClr val="tx1"/>
                          </a:solidFill>
                          <a:latin typeface="Verdana" pitchFamily="34" charset="0"/>
                        </a:defRPr>
                      </a:lvl1pPr>
                      <a:lvl2pPr>
                        <a:spcBef>
                          <a:spcPct val="20000"/>
                        </a:spcBef>
                        <a:buClr>
                          <a:schemeClr val="tx2"/>
                        </a:buClr>
                        <a:buSzPct val="75000"/>
                        <a:buFont typeface="Wingdings" pitchFamily="2" charset="2"/>
                        <a:defRPr sz="2000">
                          <a:solidFill>
                            <a:schemeClr val="tx1"/>
                          </a:solidFill>
                          <a:latin typeface="Verdana" pitchFamily="34" charset="0"/>
                        </a:defRPr>
                      </a:lvl2pPr>
                      <a:lvl3pPr>
                        <a:spcBef>
                          <a:spcPct val="20000"/>
                        </a:spcBef>
                        <a:buClr>
                          <a:schemeClr val="accent1"/>
                        </a:buClr>
                        <a:buSzPct val="65000"/>
                        <a:buFont typeface="Wingdings" pitchFamily="2" charset="2"/>
                        <a:defRPr>
                          <a:solidFill>
                            <a:schemeClr val="tx1"/>
                          </a:solidFill>
                          <a:latin typeface="Verdana" pitchFamily="34" charset="0"/>
                        </a:defRPr>
                      </a:lvl3pPr>
                      <a:lvl4pPr>
                        <a:spcBef>
                          <a:spcPct val="20000"/>
                        </a:spcBef>
                        <a:buClr>
                          <a:schemeClr val="bg2"/>
                        </a:buClr>
                        <a:buFont typeface="Wingdings" pitchFamily="2" charset="2"/>
                        <a:defRPr sz="1600">
                          <a:solidFill>
                            <a:schemeClr val="tx1"/>
                          </a:solidFill>
                          <a:latin typeface="Verdana" pitchFamily="34" charset="0"/>
                        </a:defRPr>
                      </a:lvl4pPr>
                      <a:lvl5pPr>
                        <a:spcBef>
                          <a:spcPct val="20000"/>
                        </a:spcBef>
                        <a:buClr>
                          <a:schemeClr val="tx2"/>
                        </a:buClr>
                        <a:buSzPct val="80000"/>
                        <a:buFont typeface="Wingdings" pitchFamily="2" charset="2"/>
                        <a:defRPr sz="1600">
                          <a:solidFill>
                            <a:schemeClr val="tx1"/>
                          </a:solidFill>
                          <a:latin typeface="Verdana" pitchFamily="34" charset="0"/>
                        </a:defRPr>
                      </a:lvl5pPr>
                      <a:lvl6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6pPr>
                      <a:lvl7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7pPr>
                      <a:lvl8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8pPr>
                      <a:lvl9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9pPr>
                    </a:lstStyle>
                    <a:p>
                      <a:pPr marL="0" marR="0" lvl="0" indent="0" algn="ctr" defTabSz="914400" rtl="0" eaLnBrk="1" fontAlgn="base" latinLnBrk="0" hangingPunct="1">
                        <a:lnSpc>
                          <a:spcPct val="100000"/>
                        </a:lnSpc>
                        <a:spcBef>
                          <a:spcPct val="0"/>
                        </a:spcBef>
                        <a:spcAft>
                          <a:spcPct val="0"/>
                        </a:spcAft>
                        <a:buClr>
                          <a:schemeClr val="bg2"/>
                        </a:buClr>
                        <a:buSzPct val="75000"/>
                        <a:buFont typeface="Wingdings" pitchFamily="2" charset="2"/>
                        <a:buNone/>
                        <a:tabLst/>
                      </a:pPr>
                      <a:r>
                        <a:rPr kumimoji="0" lang="fr-FR" altLang="en-US" sz="1500" b="1" i="0" u="none" strike="noStrike" cap="none" normalizeH="0" baseline="0">
                          <a:ln>
                            <a:noFill/>
                          </a:ln>
                          <a:solidFill>
                            <a:schemeClr val="hlink"/>
                          </a:solidFill>
                          <a:effectLst/>
                          <a:latin typeface="Verdana" pitchFamily="34" charset="0"/>
                          <a:sym typeface="Wingdings" pitchFamily="2" charset="2"/>
                        </a:rPr>
                        <a:t></a:t>
                      </a:r>
                    </a:p>
                  </a:txBody>
                  <a:tcPr marL="0" marR="0" marT="0" marB="0" horzOverflow="overflow">
                    <a:lnL cap="flat">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r h="249238">
                <a:tc>
                  <a:txBody>
                    <a:bodyPr/>
                    <a:lstStyle>
                      <a:lvl1pPr>
                        <a:spcBef>
                          <a:spcPct val="20000"/>
                        </a:spcBef>
                        <a:buClr>
                          <a:schemeClr val="bg2"/>
                        </a:buClr>
                        <a:buSzPct val="75000"/>
                        <a:buFont typeface="Wingdings" pitchFamily="2" charset="2"/>
                        <a:defRPr sz="2400">
                          <a:solidFill>
                            <a:schemeClr val="tx1"/>
                          </a:solidFill>
                          <a:latin typeface="Verdana" pitchFamily="34" charset="0"/>
                        </a:defRPr>
                      </a:lvl1pPr>
                      <a:lvl2pPr>
                        <a:spcBef>
                          <a:spcPct val="20000"/>
                        </a:spcBef>
                        <a:buClr>
                          <a:schemeClr val="tx2"/>
                        </a:buClr>
                        <a:buSzPct val="75000"/>
                        <a:buFont typeface="Wingdings" pitchFamily="2" charset="2"/>
                        <a:defRPr sz="2000">
                          <a:solidFill>
                            <a:schemeClr val="tx1"/>
                          </a:solidFill>
                          <a:latin typeface="Verdana" pitchFamily="34" charset="0"/>
                        </a:defRPr>
                      </a:lvl2pPr>
                      <a:lvl3pPr>
                        <a:spcBef>
                          <a:spcPct val="20000"/>
                        </a:spcBef>
                        <a:buClr>
                          <a:schemeClr val="accent1"/>
                        </a:buClr>
                        <a:buSzPct val="65000"/>
                        <a:buFont typeface="Wingdings" pitchFamily="2" charset="2"/>
                        <a:defRPr>
                          <a:solidFill>
                            <a:schemeClr val="tx1"/>
                          </a:solidFill>
                          <a:latin typeface="Verdana" pitchFamily="34" charset="0"/>
                        </a:defRPr>
                      </a:lvl3pPr>
                      <a:lvl4pPr>
                        <a:spcBef>
                          <a:spcPct val="20000"/>
                        </a:spcBef>
                        <a:buClr>
                          <a:schemeClr val="bg2"/>
                        </a:buClr>
                        <a:buFont typeface="Wingdings" pitchFamily="2" charset="2"/>
                        <a:defRPr sz="1600">
                          <a:solidFill>
                            <a:schemeClr val="tx1"/>
                          </a:solidFill>
                          <a:latin typeface="Verdana" pitchFamily="34" charset="0"/>
                        </a:defRPr>
                      </a:lvl4pPr>
                      <a:lvl5pPr>
                        <a:spcBef>
                          <a:spcPct val="20000"/>
                        </a:spcBef>
                        <a:buClr>
                          <a:schemeClr val="tx2"/>
                        </a:buClr>
                        <a:buSzPct val="80000"/>
                        <a:buFont typeface="Wingdings" pitchFamily="2" charset="2"/>
                        <a:defRPr sz="1600">
                          <a:solidFill>
                            <a:schemeClr val="tx1"/>
                          </a:solidFill>
                          <a:latin typeface="Verdana" pitchFamily="34" charset="0"/>
                        </a:defRPr>
                      </a:lvl5pPr>
                      <a:lvl6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6pPr>
                      <a:lvl7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7pPr>
                      <a:lvl8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8pPr>
                      <a:lvl9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9pPr>
                    </a:lstStyle>
                    <a:p>
                      <a:pPr marL="0" marR="0" lvl="0" indent="0" algn="ctr" defTabSz="914400" rtl="0" eaLnBrk="1" fontAlgn="base" latinLnBrk="0" hangingPunct="1">
                        <a:lnSpc>
                          <a:spcPct val="100000"/>
                        </a:lnSpc>
                        <a:spcBef>
                          <a:spcPct val="0"/>
                        </a:spcBef>
                        <a:spcAft>
                          <a:spcPct val="0"/>
                        </a:spcAft>
                        <a:buClr>
                          <a:schemeClr val="bg2"/>
                        </a:buClr>
                        <a:buSzPct val="75000"/>
                        <a:buFont typeface="Wingdings" pitchFamily="2" charset="2"/>
                        <a:buNone/>
                        <a:tabLst/>
                      </a:pPr>
                      <a:r>
                        <a:rPr kumimoji="0" lang="fr-FR" altLang="en-US" sz="1500" b="1" i="0" u="none" strike="noStrike" cap="none" normalizeH="0" baseline="0">
                          <a:ln>
                            <a:noFill/>
                          </a:ln>
                          <a:solidFill>
                            <a:schemeClr val="hlink"/>
                          </a:solidFill>
                          <a:effectLst/>
                          <a:latin typeface="Verdana" pitchFamily="34" charset="0"/>
                        </a:rPr>
                        <a:t>Communautés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8"/>
                  </a:ext>
                </a:extLst>
              </a:tr>
              <a:tr h="247650">
                <a:tc>
                  <a:txBody>
                    <a:bodyPr/>
                    <a:lstStyle>
                      <a:lvl1pPr>
                        <a:spcBef>
                          <a:spcPct val="20000"/>
                        </a:spcBef>
                        <a:buClr>
                          <a:schemeClr val="bg2"/>
                        </a:buClr>
                        <a:buSzPct val="75000"/>
                        <a:buFont typeface="Wingdings" pitchFamily="2" charset="2"/>
                        <a:defRPr sz="2400">
                          <a:solidFill>
                            <a:schemeClr val="tx1"/>
                          </a:solidFill>
                          <a:latin typeface="Verdana" pitchFamily="34" charset="0"/>
                        </a:defRPr>
                      </a:lvl1pPr>
                      <a:lvl2pPr>
                        <a:spcBef>
                          <a:spcPct val="20000"/>
                        </a:spcBef>
                        <a:buClr>
                          <a:schemeClr val="tx2"/>
                        </a:buClr>
                        <a:buSzPct val="75000"/>
                        <a:buFont typeface="Wingdings" pitchFamily="2" charset="2"/>
                        <a:defRPr sz="2000">
                          <a:solidFill>
                            <a:schemeClr val="tx1"/>
                          </a:solidFill>
                          <a:latin typeface="Verdana" pitchFamily="34" charset="0"/>
                        </a:defRPr>
                      </a:lvl2pPr>
                      <a:lvl3pPr>
                        <a:spcBef>
                          <a:spcPct val="20000"/>
                        </a:spcBef>
                        <a:buClr>
                          <a:schemeClr val="accent1"/>
                        </a:buClr>
                        <a:buSzPct val="65000"/>
                        <a:buFont typeface="Wingdings" pitchFamily="2" charset="2"/>
                        <a:defRPr>
                          <a:solidFill>
                            <a:schemeClr val="tx1"/>
                          </a:solidFill>
                          <a:latin typeface="Verdana" pitchFamily="34" charset="0"/>
                        </a:defRPr>
                      </a:lvl3pPr>
                      <a:lvl4pPr>
                        <a:spcBef>
                          <a:spcPct val="20000"/>
                        </a:spcBef>
                        <a:buClr>
                          <a:schemeClr val="bg2"/>
                        </a:buClr>
                        <a:buFont typeface="Wingdings" pitchFamily="2" charset="2"/>
                        <a:defRPr sz="1600">
                          <a:solidFill>
                            <a:schemeClr val="tx1"/>
                          </a:solidFill>
                          <a:latin typeface="Verdana" pitchFamily="34" charset="0"/>
                        </a:defRPr>
                      </a:lvl4pPr>
                      <a:lvl5pPr>
                        <a:spcBef>
                          <a:spcPct val="20000"/>
                        </a:spcBef>
                        <a:buClr>
                          <a:schemeClr val="tx2"/>
                        </a:buClr>
                        <a:buSzPct val="80000"/>
                        <a:buFont typeface="Wingdings" pitchFamily="2" charset="2"/>
                        <a:defRPr sz="1600">
                          <a:solidFill>
                            <a:schemeClr val="tx1"/>
                          </a:solidFill>
                          <a:latin typeface="Verdana" pitchFamily="34" charset="0"/>
                        </a:defRPr>
                      </a:lvl5pPr>
                      <a:lvl6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6pPr>
                      <a:lvl7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7pPr>
                      <a:lvl8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8pPr>
                      <a:lvl9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9pPr>
                    </a:lstStyle>
                    <a:p>
                      <a:pPr marL="0" marR="0" lvl="0" indent="0" algn="ctr" defTabSz="914400" rtl="0" eaLnBrk="1" fontAlgn="base" latinLnBrk="0" hangingPunct="1">
                        <a:lnSpc>
                          <a:spcPct val="100000"/>
                        </a:lnSpc>
                        <a:spcBef>
                          <a:spcPct val="0"/>
                        </a:spcBef>
                        <a:spcAft>
                          <a:spcPct val="0"/>
                        </a:spcAft>
                        <a:buClr>
                          <a:schemeClr val="bg2"/>
                        </a:buClr>
                        <a:buSzPct val="75000"/>
                        <a:buFont typeface="Wingdings" pitchFamily="2" charset="2"/>
                        <a:buNone/>
                        <a:tabLst/>
                      </a:pPr>
                      <a:r>
                        <a:rPr kumimoji="0" lang="fr-FR" altLang="en-US" sz="1500" b="1" i="0" u="none" strike="noStrike" cap="none" normalizeH="0" baseline="0">
                          <a:ln>
                            <a:noFill/>
                          </a:ln>
                          <a:solidFill>
                            <a:schemeClr val="hlink"/>
                          </a:solidFill>
                          <a:effectLst/>
                          <a:latin typeface="Verdana" pitchFamily="34" charset="0"/>
                          <a:sym typeface="Wingdings" pitchFamily="2" charset="2"/>
                        </a:rPr>
                        <a:t></a:t>
                      </a:r>
                    </a:p>
                  </a:txBody>
                  <a:tcPr marL="0" marR="0" marT="0" marB="0" horzOverflow="overflow">
                    <a:lnL cap="flat">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9"/>
                  </a:ext>
                </a:extLst>
              </a:tr>
              <a:tr h="247650">
                <a:tc>
                  <a:txBody>
                    <a:bodyPr/>
                    <a:lstStyle>
                      <a:lvl1pPr>
                        <a:spcBef>
                          <a:spcPct val="20000"/>
                        </a:spcBef>
                        <a:buClr>
                          <a:schemeClr val="bg2"/>
                        </a:buClr>
                        <a:buSzPct val="75000"/>
                        <a:buFont typeface="Wingdings" pitchFamily="2" charset="2"/>
                        <a:defRPr sz="2400">
                          <a:solidFill>
                            <a:schemeClr val="tx1"/>
                          </a:solidFill>
                          <a:latin typeface="Verdana" pitchFamily="34" charset="0"/>
                        </a:defRPr>
                      </a:lvl1pPr>
                      <a:lvl2pPr>
                        <a:spcBef>
                          <a:spcPct val="20000"/>
                        </a:spcBef>
                        <a:buClr>
                          <a:schemeClr val="tx2"/>
                        </a:buClr>
                        <a:buSzPct val="75000"/>
                        <a:buFont typeface="Wingdings" pitchFamily="2" charset="2"/>
                        <a:defRPr sz="2000">
                          <a:solidFill>
                            <a:schemeClr val="tx1"/>
                          </a:solidFill>
                          <a:latin typeface="Verdana" pitchFamily="34" charset="0"/>
                        </a:defRPr>
                      </a:lvl2pPr>
                      <a:lvl3pPr>
                        <a:spcBef>
                          <a:spcPct val="20000"/>
                        </a:spcBef>
                        <a:buClr>
                          <a:schemeClr val="accent1"/>
                        </a:buClr>
                        <a:buSzPct val="65000"/>
                        <a:buFont typeface="Wingdings" pitchFamily="2" charset="2"/>
                        <a:defRPr>
                          <a:solidFill>
                            <a:schemeClr val="tx1"/>
                          </a:solidFill>
                          <a:latin typeface="Verdana" pitchFamily="34" charset="0"/>
                        </a:defRPr>
                      </a:lvl3pPr>
                      <a:lvl4pPr>
                        <a:spcBef>
                          <a:spcPct val="20000"/>
                        </a:spcBef>
                        <a:buClr>
                          <a:schemeClr val="bg2"/>
                        </a:buClr>
                        <a:buFont typeface="Wingdings" pitchFamily="2" charset="2"/>
                        <a:defRPr sz="1600">
                          <a:solidFill>
                            <a:schemeClr val="tx1"/>
                          </a:solidFill>
                          <a:latin typeface="Verdana" pitchFamily="34" charset="0"/>
                        </a:defRPr>
                      </a:lvl4pPr>
                      <a:lvl5pPr>
                        <a:spcBef>
                          <a:spcPct val="20000"/>
                        </a:spcBef>
                        <a:buClr>
                          <a:schemeClr val="tx2"/>
                        </a:buClr>
                        <a:buSzPct val="80000"/>
                        <a:buFont typeface="Wingdings" pitchFamily="2" charset="2"/>
                        <a:defRPr sz="1600">
                          <a:solidFill>
                            <a:schemeClr val="tx1"/>
                          </a:solidFill>
                          <a:latin typeface="Verdana" pitchFamily="34" charset="0"/>
                        </a:defRPr>
                      </a:lvl5pPr>
                      <a:lvl6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6pPr>
                      <a:lvl7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7pPr>
                      <a:lvl8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8pPr>
                      <a:lvl9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9pPr>
                    </a:lstStyle>
                    <a:p>
                      <a:pPr marL="0" marR="0" lvl="0" indent="0" algn="ctr" defTabSz="914400" rtl="0" eaLnBrk="1" fontAlgn="base" latinLnBrk="0" hangingPunct="1">
                        <a:lnSpc>
                          <a:spcPct val="100000"/>
                        </a:lnSpc>
                        <a:spcBef>
                          <a:spcPct val="0"/>
                        </a:spcBef>
                        <a:spcAft>
                          <a:spcPct val="0"/>
                        </a:spcAft>
                        <a:buClr>
                          <a:schemeClr val="bg2"/>
                        </a:buClr>
                        <a:buSzPct val="75000"/>
                        <a:buFont typeface="Wingdings" pitchFamily="2" charset="2"/>
                        <a:buNone/>
                        <a:tabLst/>
                      </a:pPr>
                      <a:r>
                        <a:rPr kumimoji="0" lang="fr-FR" altLang="en-US" sz="1500" b="1" i="0" u="none" strike="noStrike" cap="none" normalizeH="0" baseline="0">
                          <a:ln>
                            <a:noFill/>
                          </a:ln>
                          <a:solidFill>
                            <a:schemeClr val="hlink"/>
                          </a:solidFill>
                          <a:effectLst/>
                          <a:latin typeface="Verdana" pitchFamily="34" charset="0"/>
                        </a:rPr>
                        <a:t>Espèces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3300">
                        <a:alpha val="50000"/>
                      </a:srgbClr>
                    </a:solidFill>
                  </a:tcPr>
                </a:tc>
                <a:extLst>
                  <a:ext uri="{0D108BD9-81ED-4DB2-BD59-A6C34878D82A}">
                    <a16:rowId xmlns:a16="http://schemas.microsoft.com/office/drawing/2014/main" xmlns="" val="10010"/>
                  </a:ext>
                </a:extLst>
              </a:tr>
              <a:tr h="249238">
                <a:tc>
                  <a:txBody>
                    <a:bodyPr/>
                    <a:lstStyle>
                      <a:lvl1pPr>
                        <a:spcBef>
                          <a:spcPct val="20000"/>
                        </a:spcBef>
                        <a:buClr>
                          <a:schemeClr val="bg2"/>
                        </a:buClr>
                        <a:buSzPct val="75000"/>
                        <a:buFont typeface="Wingdings" pitchFamily="2" charset="2"/>
                        <a:defRPr sz="2400">
                          <a:solidFill>
                            <a:schemeClr val="tx1"/>
                          </a:solidFill>
                          <a:latin typeface="Verdana" pitchFamily="34" charset="0"/>
                        </a:defRPr>
                      </a:lvl1pPr>
                      <a:lvl2pPr>
                        <a:spcBef>
                          <a:spcPct val="20000"/>
                        </a:spcBef>
                        <a:buClr>
                          <a:schemeClr val="tx2"/>
                        </a:buClr>
                        <a:buSzPct val="75000"/>
                        <a:buFont typeface="Wingdings" pitchFamily="2" charset="2"/>
                        <a:defRPr sz="2000">
                          <a:solidFill>
                            <a:schemeClr val="tx1"/>
                          </a:solidFill>
                          <a:latin typeface="Verdana" pitchFamily="34" charset="0"/>
                        </a:defRPr>
                      </a:lvl2pPr>
                      <a:lvl3pPr>
                        <a:spcBef>
                          <a:spcPct val="20000"/>
                        </a:spcBef>
                        <a:buClr>
                          <a:schemeClr val="accent1"/>
                        </a:buClr>
                        <a:buSzPct val="65000"/>
                        <a:buFont typeface="Wingdings" pitchFamily="2" charset="2"/>
                        <a:defRPr>
                          <a:solidFill>
                            <a:schemeClr val="tx1"/>
                          </a:solidFill>
                          <a:latin typeface="Verdana" pitchFamily="34" charset="0"/>
                        </a:defRPr>
                      </a:lvl3pPr>
                      <a:lvl4pPr>
                        <a:spcBef>
                          <a:spcPct val="20000"/>
                        </a:spcBef>
                        <a:buClr>
                          <a:schemeClr val="bg2"/>
                        </a:buClr>
                        <a:buFont typeface="Wingdings" pitchFamily="2" charset="2"/>
                        <a:defRPr sz="1600">
                          <a:solidFill>
                            <a:schemeClr val="tx1"/>
                          </a:solidFill>
                          <a:latin typeface="Verdana" pitchFamily="34" charset="0"/>
                        </a:defRPr>
                      </a:lvl4pPr>
                      <a:lvl5pPr>
                        <a:spcBef>
                          <a:spcPct val="20000"/>
                        </a:spcBef>
                        <a:buClr>
                          <a:schemeClr val="tx2"/>
                        </a:buClr>
                        <a:buSzPct val="80000"/>
                        <a:buFont typeface="Wingdings" pitchFamily="2" charset="2"/>
                        <a:defRPr sz="1600">
                          <a:solidFill>
                            <a:schemeClr val="tx1"/>
                          </a:solidFill>
                          <a:latin typeface="Verdana" pitchFamily="34" charset="0"/>
                        </a:defRPr>
                      </a:lvl5pPr>
                      <a:lvl6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6pPr>
                      <a:lvl7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7pPr>
                      <a:lvl8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8pPr>
                      <a:lvl9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9pPr>
                    </a:lstStyle>
                    <a:p>
                      <a:pPr marL="0" marR="0" lvl="0" indent="0" algn="ctr" defTabSz="914400" rtl="0" eaLnBrk="1" fontAlgn="base" latinLnBrk="0" hangingPunct="1">
                        <a:lnSpc>
                          <a:spcPct val="100000"/>
                        </a:lnSpc>
                        <a:spcBef>
                          <a:spcPct val="0"/>
                        </a:spcBef>
                        <a:spcAft>
                          <a:spcPct val="0"/>
                        </a:spcAft>
                        <a:buClr>
                          <a:schemeClr val="bg2"/>
                        </a:buClr>
                        <a:buSzPct val="75000"/>
                        <a:buFont typeface="Wingdings" pitchFamily="2" charset="2"/>
                        <a:buNone/>
                        <a:tabLst/>
                      </a:pPr>
                      <a:r>
                        <a:rPr kumimoji="0" lang="fr-FR" altLang="en-US" sz="1500" b="1" i="0" u="none" strike="noStrike" cap="none" normalizeH="0" baseline="0">
                          <a:ln>
                            <a:noFill/>
                          </a:ln>
                          <a:solidFill>
                            <a:schemeClr val="hlink"/>
                          </a:solidFill>
                          <a:effectLst/>
                          <a:latin typeface="Verdana" pitchFamily="34" charset="0"/>
                          <a:sym typeface="Wingdings" pitchFamily="2" charset="2"/>
                        </a:rPr>
                        <a:t></a:t>
                      </a:r>
                    </a:p>
                  </a:txBody>
                  <a:tcPr marL="0" marR="0" marT="0" marB="0" horzOverflow="overflow">
                    <a:lnL cap="flat">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11"/>
                  </a:ext>
                </a:extLst>
              </a:tr>
              <a:tr h="249238">
                <a:tc>
                  <a:txBody>
                    <a:bodyPr/>
                    <a:lstStyle>
                      <a:lvl1pPr>
                        <a:spcBef>
                          <a:spcPct val="20000"/>
                        </a:spcBef>
                        <a:buClr>
                          <a:schemeClr val="bg2"/>
                        </a:buClr>
                        <a:buSzPct val="75000"/>
                        <a:buFont typeface="Wingdings" pitchFamily="2" charset="2"/>
                        <a:defRPr sz="2400">
                          <a:solidFill>
                            <a:schemeClr val="tx1"/>
                          </a:solidFill>
                          <a:latin typeface="Verdana" pitchFamily="34" charset="0"/>
                        </a:defRPr>
                      </a:lvl1pPr>
                      <a:lvl2pPr>
                        <a:spcBef>
                          <a:spcPct val="20000"/>
                        </a:spcBef>
                        <a:buClr>
                          <a:schemeClr val="tx2"/>
                        </a:buClr>
                        <a:buSzPct val="75000"/>
                        <a:buFont typeface="Wingdings" pitchFamily="2" charset="2"/>
                        <a:defRPr sz="2000">
                          <a:solidFill>
                            <a:schemeClr val="tx1"/>
                          </a:solidFill>
                          <a:latin typeface="Verdana" pitchFamily="34" charset="0"/>
                        </a:defRPr>
                      </a:lvl2pPr>
                      <a:lvl3pPr>
                        <a:spcBef>
                          <a:spcPct val="20000"/>
                        </a:spcBef>
                        <a:buClr>
                          <a:schemeClr val="accent1"/>
                        </a:buClr>
                        <a:buSzPct val="65000"/>
                        <a:buFont typeface="Wingdings" pitchFamily="2" charset="2"/>
                        <a:defRPr>
                          <a:solidFill>
                            <a:schemeClr val="tx1"/>
                          </a:solidFill>
                          <a:latin typeface="Verdana" pitchFamily="34" charset="0"/>
                        </a:defRPr>
                      </a:lvl3pPr>
                      <a:lvl4pPr>
                        <a:spcBef>
                          <a:spcPct val="20000"/>
                        </a:spcBef>
                        <a:buClr>
                          <a:schemeClr val="bg2"/>
                        </a:buClr>
                        <a:buFont typeface="Wingdings" pitchFamily="2" charset="2"/>
                        <a:defRPr sz="1600">
                          <a:solidFill>
                            <a:schemeClr val="tx1"/>
                          </a:solidFill>
                          <a:latin typeface="Verdana" pitchFamily="34" charset="0"/>
                        </a:defRPr>
                      </a:lvl4pPr>
                      <a:lvl5pPr>
                        <a:spcBef>
                          <a:spcPct val="20000"/>
                        </a:spcBef>
                        <a:buClr>
                          <a:schemeClr val="tx2"/>
                        </a:buClr>
                        <a:buSzPct val="80000"/>
                        <a:buFont typeface="Wingdings" pitchFamily="2" charset="2"/>
                        <a:defRPr sz="1600">
                          <a:solidFill>
                            <a:schemeClr val="tx1"/>
                          </a:solidFill>
                          <a:latin typeface="Verdana" pitchFamily="34" charset="0"/>
                        </a:defRPr>
                      </a:lvl5pPr>
                      <a:lvl6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6pPr>
                      <a:lvl7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7pPr>
                      <a:lvl8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8pPr>
                      <a:lvl9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9pPr>
                    </a:lstStyle>
                    <a:p>
                      <a:pPr marL="0" marR="0" lvl="0" indent="0" algn="ctr" defTabSz="914400" rtl="0" eaLnBrk="1" fontAlgn="base" latinLnBrk="0" hangingPunct="1">
                        <a:lnSpc>
                          <a:spcPct val="100000"/>
                        </a:lnSpc>
                        <a:spcBef>
                          <a:spcPct val="0"/>
                        </a:spcBef>
                        <a:spcAft>
                          <a:spcPct val="0"/>
                        </a:spcAft>
                        <a:buClr>
                          <a:schemeClr val="bg2"/>
                        </a:buClr>
                        <a:buSzPct val="75000"/>
                        <a:buFont typeface="Wingdings" pitchFamily="2" charset="2"/>
                        <a:buNone/>
                        <a:tabLst/>
                      </a:pPr>
                      <a:r>
                        <a:rPr kumimoji="0" lang="fr-FR" altLang="en-US" sz="1500" b="1" i="0" u="none" strike="noStrike" cap="none" normalizeH="0" baseline="0">
                          <a:ln>
                            <a:noFill/>
                          </a:ln>
                          <a:solidFill>
                            <a:schemeClr val="hlink"/>
                          </a:solidFill>
                          <a:effectLst/>
                          <a:latin typeface="Verdana" pitchFamily="34" charset="0"/>
                        </a:rPr>
                        <a:t>Populations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12"/>
                  </a:ext>
                </a:extLst>
              </a:tr>
              <a:tr h="247650">
                <a:tc>
                  <a:txBody>
                    <a:bodyPr/>
                    <a:lstStyle>
                      <a:lvl1pPr>
                        <a:spcBef>
                          <a:spcPct val="20000"/>
                        </a:spcBef>
                        <a:buClr>
                          <a:schemeClr val="bg2"/>
                        </a:buClr>
                        <a:buSzPct val="75000"/>
                        <a:buFont typeface="Wingdings" pitchFamily="2" charset="2"/>
                        <a:defRPr sz="2400">
                          <a:solidFill>
                            <a:schemeClr val="tx1"/>
                          </a:solidFill>
                          <a:latin typeface="Verdana" pitchFamily="34" charset="0"/>
                        </a:defRPr>
                      </a:lvl1pPr>
                      <a:lvl2pPr>
                        <a:spcBef>
                          <a:spcPct val="20000"/>
                        </a:spcBef>
                        <a:buClr>
                          <a:schemeClr val="tx2"/>
                        </a:buClr>
                        <a:buSzPct val="75000"/>
                        <a:buFont typeface="Wingdings" pitchFamily="2" charset="2"/>
                        <a:defRPr sz="2000">
                          <a:solidFill>
                            <a:schemeClr val="tx1"/>
                          </a:solidFill>
                          <a:latin typeface="Verdana" pitchFamily="34" charset="0"/>
                        </a:defRPr>
                      </a:lvl2pPr>
                      <a:lvl3pPr>
                        <a:spcBef>
                          <a:spcPct val="20000"/>
                        </a:spcBef>
                        <a:buClr>
                          <a:schemeClr val="accent1"/>
                        </a:buClr>
                        <a:buSzPct val="65000"/>
                        <a:buFont typeface="Wingdings" pitchFamily="2" charset="2"/>
                        <a:defRPr>
                          <a:solidFill>
                            <a:schemeClr val="tx1"/>
                          </a:solidFill>
                          <a:latin typeface="Verdana" pitchFamily="34" charset="0"/>
                        </a:defRPr>
                      </a:lvl3pPr>
                      <a:lvl4pPr>
                        <a:spcBef>
                          <a:spcPct val="20000"/>
                        </a:spcBef>
                        <a:buClr>
                          <a:schemeClr val="bg2"/>
                        </a:buClr>
                        <a:buFont typeface="Wingdings" pitchFamily="2" charset="2"/>
                        <a:defRPr sz="1600">
                          <a:solidFill>
                            <a:schemeClr val="tx1"/>
                          </a:solidFill>
                          <a:latin typeface="Verdana" pitchFamily="34" charset="0"/>
                        </a:defRPr>
                      </a:lvl4pPr>
                      <a:lvl5pPr>
                        <a:spcBef>
                          <a:spcPct val="20000"/>
                        </a:spcBef>
                        <a:buClr>
                          <a:schemeClr val="tx2"/>
                        </a:buClr>
                        <a:buSzPct val="80000"/>
                        <a:buFont typeface="Wingdings" pitchFamily="2" charset="2"/>
                        <a:defRPr sz="1600">
                          <a:solidFill>
                            <a:schemeClr val="tx1"/>
                          </a:solidFill>
                          <a:latin typeface="Verdana" pitchFamily="34" charset="0"/>
                        </a:defRPr>
                      </a:lvl5pPr>
                      <a:lvl6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6pPr>
                      <a:lvl7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7pPr>
                      <a:lvl8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8pPr>
                      <a:lvl9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9pPr>
                    </a:lstStyle>
                    <a:p>
                      <a:pPr marL="0" marR="0" lvl="0" indent="0" algn="ctr" defTabSz="914400" rtl="0" eaLnBrk="1" fontAlgn="base" latinLnBrk="0" hangingPunct="1">
                        <a:lnSpc>
                          <a:spcPct val="100000"/>
                        </a:lnSpc>
                        <a:spcBef>
                          <a:spcPct val="0"/>
                        </a:spcBef>
                        <a:spcAft>
                          <a:spcPct val="0"/>
                        </a:spcAft>
                        <a:buClr>
                          <a:schemeClr val="bg2"/>
                        </a:buClr>
                        <a:buSzPct val="75000"/>
                        <a:buFont typeface="Wingdings" pitchFamily="2" charset="2"/>
                        <a:buNone/>
                        <a:tabLst/>
                      </a:pPr>
                      <a:r>
                        <a:rPr kumimoji="0" lang="fr-FR" altLang="en-US" sz="1500" b="1" i="0" u="none" strike="noStrike" cap="none" normalizeH="0" baseline="0">
                          <a:ln>
                            <a:noFill/>
                          </a:ln>
                          <a:solidFill>
                            <a:schemeClr val="tx1"/>
                          </a:solidFill>
                          <a:effectLst/>
                          <a:latin typeface="Verdana" pitchFamily="34" charset="0"/>
                          <a:sym typeface="Wingdings" pitchFamily="2" charset="2"/>
                        </a:rPr>
                        <a:t></a:t>
                      </a:r>
                    </a:p>
                  </a:txBody>
                  <a:tcPr marL="0" marR="0" marT="0" marB="0" horzOverflow="overflow">
                    <a:lnL cap="flat">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13"/>
                  </a:ext>
                </a:extLst>
              </a:tr>
              <a:tr h="247650">
                <a:tc>
                  <a:txBody>
                    <a:bodyPr/>
                    <a:lstStyle>
                      <a:lvl1pPr>
                        <a:spcBef>
                          <a:spcPct val="20000"/>
                        </a:spcBef>
                        <a:buClr>
                          <a:schemeClr val="bg2"/>
                        </a:buClr>
                        <a:buSzPct val="75000"/>
                        <a:buFont typeface="Wingdings" pitchFamily="2" charset="2"/>
                        <a:defRPr sz="2400">
                          <a:solidFill>
                            <a:schemeClr val="tx1"/>
                          </a:solidFill>
                          <a:latin typeface="Verdana" pitchFamily="34" charset="0"/>
                        </a:defRPr>
                      </a:lvl1pPr>
                      <a:lvl2pPr>
                        <a:spcBef>
                          <a:spcPct val="20000"/>
                        </a:spcBef>
                        <a:buClr>
                          <a:schemeClr val="tx2"/>
                        </a:buClr>
                        <a:buSzPct val="75000"/>
                        <a:buFont typeface="Wingdings" pitchFamily="2" charset="2"/>
                        <a:defRPr sz="2000">
                          <a:solidFill>
                            <a:schemeClr val="tx1"/>
                          </a:solidFill>
                          <a:latin typeface="Verdana" pitchFamily="34" charset="0"/>
                        </a:defRPr>
                      </a:lvl2pPr>
                      <a:lvl3pPr>
                        <a:spcBef>
                          <a:spcPct val="20000"/>
                        </a:spcBef>
                        <a:buClr>
                          <a:schemeClr val="accent1"/>
                        </a:buClr>
                        <a:buSzPct val="65000"/>
                        <a:buFont typeface="Wingdings" pitchFamily="2" charset="2"/>
                        <a:defRPr>
                          <a:solidFill>
                            <a:schemeClr val="tx1"/>
                          </a:solidFill>
                          <a:latin typeface="Verdana" pitchFamily="34" charset="0"/>
                        </a:defRPr>
                      </a:lvl3pPr>
                      <a:lvl4pPr>
                        <a:spcBef>
                          <a:spcPct val="20000"/>
                        </a:spcBef>
                        <a:buClr>
                          <a:schemeClr val="bg2"/>
                        </a:buClr>
                        <a:buFont typeface="Wingdings" pitchFamily="2" charset="2"/>
                        <a:defRPr sz="1600">
                          <a:solidFill>
                            <a:schemeClr val="tx1"/>
                          </a:solidFill>
                          <a:latin typeface="Verdana" pitchFamily="34" charset="0"/>
                        </a:defRPr>
                      </a:lvl4pPr>
                      <a:lvl5pPr>
                        <a:spcBef>
                          <a:spcPct val="20000"/>
                        </a:spcBef>
                        <a:buClr>
                          <a:schemeClr val="tx2"/>
                        </a:buClr>
                        <a:buSzPct val="80000"/>
                        <a:buFont typeface="Wingdings" pitchFamily="2" charset="2"/>
                        <a:defRPr sz="1600">
                          <a:solidFill>
                            <a:schemeClr val="tx1"/>
                          </a:solidFill>
                          <a:latin typeface="Verdana" pitchFamily="34" charset="0"/>
                        </a:defRPr>
                      </a:lvl5pPr>
                      <a:lvl6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6pPr>
                      <a:lvl7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7pPr>
                      <a:lvl8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8pPr>
                      <a:lvl9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9pPr>
                    </a:lstStyle>
                    <a:p>
                      <a:pPr marL="0" marR="0" lvl="0" indent="0" algn="ctr" defTabSz="914400" rtl="0" eaLnBrk="1" fontAlgn="base" latinLnBrk="0" hangingPunct="1">
                        <a:lnSpc>
                          <a:spcPct val="100000"/>
                        </a:lnSpc>
                        <a:spcBef>
                          <a:spcPct val="0"/>
                        </a:spcBef>
                        <a:spcAft>
                          <a:spcPct val="0"/>
                        </a:spcAft>
                        <a:buClr>
                          <a:schemeClr val="bg2"/>
                        </a:buClr>
                        <a:buSzPct val="75000"/>
                        <a:buFont typeface="Wingdings" pitchFamily="2" charset="2"/>
                        <a:buNone/>
                        <a:tabLst/>
                      </a:pPr>
                      <a:r>
                        <a:rPr kumimoji="0" lang="fr-FR" altLang="en-US" sz="1500" b="1" i="0" u="none" strike="noStrike" cap="none" normalizeH="0" baseline="0">
                          <a:ln>
                            <a:noFill/>
                          </a:ln>
                          <a:solidFill>
                            <a:srgbClr val="009900"/>
                          </a:solidFill>
                          <a:effectLst/>
                          <a:latin typeface="Verdana" pitchFamily="34" charset="0"/>
                        </a:rPr>
                        <a:t>Individus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3300">
                        <a:alpha val="49001"/>
                      </a:srgbClr>
                    </a:solidFill>
                  </a:tcPr>
                </a:tc>
                <a:extLst>
                  <a:ext uri="{0D108BD9-81ED-4DB2-BD59-A6C34878D82A}">
                    <a16:rowId xmlns:a16="http://schemas.microsoft.com/office/drawing/2014/main" xmlns="" val="10014"/>
                  </a:ext>
                </a:extLst>
              </a:tr>
              <a:tr h="249238">
                <a:tc>
                  <a:txBody>
                    <a:bodyPr/>
                    <a:lstStyle>
                      <a:lvl1pPr>
                        <a:spcBef>
                          <a:spcPct val="20000"/>
                        </a:spcBef>
                        <a:buClr>
                          <a:schemeClr val="bg2"/>
                        </a:buClr>
                        <a:buSzPct val="75000"/>
                        <a:buFont typeface="Wingdings" pitchFamily="2" charset="2"/>
                        <a:defRPr sz="2400">
                          <a:solidFill>
                            <a:schemeClr val="tx1"/>
                          </a:solidFill>
                          <a:latin typeface="Verdana" pitchFamily="34" charset="0"/>
                        </a:defRPr>
                      </a:lvl1pPr>
                      <a:lvl2pPr>
                        <a:spcBef>
                          <a:spcPct val="20000"/>
                        </a:spcBef>
                        <a:buClr>
                          <a:schemeClr val="tx2"/>
                        </a:buClr>
                        <a:buSzPct val="75000"/>
                        <a:buFont typeface="Wingdings" pitchFamily="2" charset="2"/>
                        <a:defRPr sz="2000">
                          <a:solidFill>
                            <a:schemeClr val="tx1"/>
                          </a:solidFill>
                          <a:latin typeface="Verdana" pitchFamily="34" charset="0"/>
                        </a:defRPr>
                      </a:lvl2pPr>
                      <a:lvl3pPr>
                        <a:spcBef>
                          <a:spcPct val="20000"/>
                        </a:spcBef>
                        <a:buClr>
                          <a:schemeClr val="accent1"/>
                        </a:buClr>
                        <a:buSzPct val="65000"/>
                        <a:buFont typeface="Wingdings" pitchFamily="2" charset="2"/>
                        <a:defRPr>
                          <a:solidFill>
                            <a:schemeClr val="tx1"/>
                          </a:solidFill>
                          <a:latin typeface="Verdana" pitchFamily="34" charset="0"/>
                        </a:defRPr>
                      </a:lvl3pPr>
                      <a:lvl4pPr>
                        <a:spcBef>
                          <a:spcPct val="20000"/>
                        </a:spcBef>
                        <a:buClr>
                          <a:schemeClr val="bg2"/>
                        </a:buClr>
                        <a:buFont typeface="Wingdings" pitchFamily="2" charset="2"/>
                        <a:defRPr sz="1600">
                          <a:solidFill>
                            <a:schemeClr val="tx1"/>
                          </a:solidFill>
                          <a:latin typeface="Verdana" pitchFamily="34" charset="0"/>
                        </a:defRPr>
                      </a:lvl4pPr>
                      <a:lvl5pPr>
                        <a:spcBef>
                          <a:spcPct val="20000"/>
                        </a:spcBef>
                        <a:buClr>
                          <a:schemeClr val="tx2"/>
                        </a:buClr>
                        <a:buSzPct val="80000"/>
                        <a:buFont typeface="Wingdings" pitchFamily="2" charset="2"/>
                        <a:defRPr sz="1600">
                          <a:solidFill>
                            <a:schemeClr val="tx1"/>
                          </a:solidFill>
                          <a:latin typeface="Verdana" pitchFamily="34" charset="0"/>
                        </a:defRPr>
                      </a:lvl5pPr>
                      <a:lvl6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6pPr>
                      <a:lvl7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7pPr>
                      <a:lvl8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8pPr>
                      <a:lvl9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9pPr>
                    </a:lstStyle>
                    <a:p>
                      <a:pPr marL="0" marR="0" lvl="0" indent="0" algn="ctr" defTabSz="914400" rtl="0" eaLnBrk="1" fontAlgn="base" latinLnBrk="0" hangingPunct="1">
                        <a:lnSpc>
                          <a:spcPct val="100000"/>
                        </a:lnSpc>
                        <a:spcBef>
                          <a:spcPct val="0"/>
                        </a:spcBef>
                        <a:spcAft>
                          <a:spcPct val="0"/>
                        </a:spcAft>
                        <a:buClr>
                          <a:schemeClr val="bg2"/>
                        </a:buClr>
                        <a:buSzPct val="75000"/>
                        <a:buFont typeface="Wingdings" pitchFamily="2" charset="2"/>
                        <a:buNone/>
                        <a:tabLst/>
                      </a:pPr>
                      <a:r>
                        <a:rPr kumimoji="0" lang="fr-FR" altLang="en-US" sz="1500" b="1" i="0" u="none" strike="noStrike" cap="none" normalizeH="0" baseline="0">
                          <a:ln>
                            <a:noFill/>
                          </a:ln>
                          <a:solidFill>
                            <a:srgbClr val="009900"/>
                          </a:solidFill>
                          <a:effectLst/>
                          <a:latin typeface="Verdana" pitchFamily="34" charset="0"/>
                          <a:sym typeface="Wingdings" pitchFamily="2" charset="2"/>
                        </a:rPr>
                        <a:t></a:t>
                      </a:r>
                    </a:p>
                  </a:txBody>
                  <a:tcPr marL="0" marR="0" marT="0" marB="0" horzOverflow="overflow">
                    <a:lnL cap="flat">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15"/>
                  </a:ext>
                </a:extLst>
              </a:tr>
              <a:tr h="247650">
                <a:tc>
                  <a:txBody>
                    <a:bodyPr/>
                    <a:lstStyle>
                      <a:lvl1pPr>
                        <a:spcBef>
                          <a:spcPct val="20000"/>
                        </a:spcBef>
                        <a:buClr>
                          <a:schemeClr val="bg2"/>
                        </a:buClr>
                        <a:buSzPct val="75000"/>
                        <a:buFont typeface="Wingdings" pitchFamily="2" charset="2"/>
                        <a:defRPr sz="2400">
                          <a:solidFill>
                            <a:schemeClr val="tx1"/>
                          </a:solidFill>
                          <a:latin typeface="Verdana" pitchFamily="34" charset="0"/>
                        </a:defRPr>
                      </a:lvl1pPr>
                      <a:lvl2pPr>
                        <a:spcBef>
                          <a:spcPct val="20000"/>
                        </a:spcBef>
                        <a:buClr>
                          <a:schemeClr val="tx2"/>
                        </a:buClr>
                        <a:buSzPct val="75000"/>
                        <a:buFont typeface="Wingdings" pitchFamily="2" charset="2"/>
                        <a:defRPr sz="2000">
                          <a:solidFill>
                            <a:schemeClr val="tx1"/>
                          </a:solidFill>
                          <a:latin typeface="Verdana" pitchFamily="34" charset="0"/>
                        </a:defRPr>
                      </a:lvl2pPr>
                      <a:lvl3pPr>
                        <a:spcBef>
                          <a:spcPct val="20000"/>
                        </a:spcBef>
                        <a:buClr>
                          <a:schemeClr val="accent1"/>
                        </a:buClr>
                        <a:buSzPct val="65000"/>
                        <a:buFont typeface="Wingdings" pitchFamily="2" charset="2"/>
                        <a:defRPr>
                          <a:solidFill>
                            <a:schemeClr val="tx1"/>
                          </a:solidFill>
                          <a:latin typeface="Verdana" pitchFamily="34" charset="0"/>
                        </a:defRPr>
                      </a:lvl3pPr>
                      <a:lvl4pPr>
                        <a:spcBef>
                          <a:spcPct val="20000"/>
                        </a:spcBef>
                        <a:buClr>
                          <a:schemeClr val="bg2"/>
                        </a:buClr>
                        <a:buFont typeface="Wingdings" pitchFamily="2" charset="2"/>
                        <a:defRPr sz="1600">
                          <a:solidFill>
                            <a:schemeClr val="tx1"/>
                          </a:solidFill>
                          <a:latin typeface="Verdana" pitchFamily="34" charset="0"/>
                        </a:defRPr>
                      </a:lvl4pPr>
                      <a:lvl5pPr>
                        <a:spcBef>
                          <a:spcPct val="20000"/>
                        </a:spcBef>
                        <a:buClr>
                          <a:schemeClr val="tx2"/>
                        </a:buClr>
                        <a:buSzPct val="80000"/>
                        <a:buFont typeface="Wingdings" pitchFamily="2" charset="2"/>
                        <a:defRPr sz="1600">
                          <a:solidFill>
                            <a:schemeClr val="tx1"/>
                          </a:solidFill>
                          <a:latin typeface="Verdana" pitchFamily="34" charset="0"/>
                        </a:defRPr>
                      </a:lvl5pPr>
                      <a:lvl6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6pPr>
                      <a:lvl7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7pPr>
                      <a:lvl8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8pPr>
                      <a:lvl9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9pPr>
                    </a:lstStyle>
                    <a:p>
                      <a:pPr marL="0" marR="0" lvl="0" indent="0" algn="ctr" defTabSz="914400" rtl="0" eaLnBrk="1" fontAlgn="base" latinLnBrk="0" hangingPunct="1">
                        <a:lnSpc>
                          <a:spcPct val="100000"/>
                        </a:lnSpc>
                        <a:spcBef>
                          <a:spcPct val="0"/>
                        </a:spcBef>
                        <a:spcAft>
                          <a:spcPct val="0"/>
                        </a:spcAft>
                        <a:buClr>
                          <a:schemeClr val="bg2"/>
                        </a:buClr>
                        <a:buSzPct val="75000"/>
                        <a:buFont typeface="Wingdings" pitchFamily="2" charset="2"/>
                        <a:buNone/>
                        <a:tabLst/>
                      </a:pPr>
                      <a:r>
                        <a:rPr kumimoji="0" lang="fr-FR" altLang="en-US" sz="1500" b="1" i="0" u="none" strike="noStrike" cap="none" normalizeH="0" baseline="0">
                          <a:ln>
                            <a:noFill/>
                          </a:ln>
                          <a:solidFill>
                            <a:srgbClr val="009900"/>
                          </a:solidFill>
                          <a:effectLst/>
                          <a:latin typeface="Verdana" pitchFamily="34" charset="0"/>
                        </a:rPr>
                        <a:t>Organes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16"/>
                  </a:ext>
                </a:extLst>
              </a:tr>
              <a:tr h="249238">
                <a:tc>
                  <a:txBody>
                    <a:bodyPr/>
                    <a:lstStyle>
                      <a:lvl1pPr>
                        <a:spcBef>
                          <a:spcPct val="20000"/>
                        </a:spcBef>
                        <a:buClr>
                          <a:schemeClr val="bg2"/>
                        </a:buClr>
                        <a:buSzPct val="75000"/>
                        <a:buFont typeface="Wingdings" pitchFamily="2" charset="2"/>
                        <a:defRPr sz="2400">
                          <a:solidFill>
                            <a:schemeClr val="tx1"/>
                          </a:solidFill>
                          <a:latin typeface="Verdana" pitchFamily="34" charset="0"/>
                        </a:defRPr>
                      </a:lvl1pPr>
                      <a:lvl2pPr>
                        <a:spcBef>
                          <a:spcPct val="20000"/>
                        </a:spcBef>
                        <a:buClr>
                          <a:schemeClr val="tx2"/>
                        </a:buClr>
                        <a:buSzPct val="75000"/>
                        <a:buFont typeface="Wingdings" pitchFamily="2" charset="2"/>
                        <a:defRPr sz="2000">
                          <a:solidFill>
                            <a:schemeClr val="tx1"/>
                          </a:solidFill>
                          <a:latin typeface="Verdana" pitchFamily="34" charset="0"/>
                        </a:defRPr>
                      </a:lvl2pPr>
                      <a:lvl3pPr>
                        <a:spcBef>
                          <a:spcPct val="20000"/>
                        </a:spcBef>
                        <a:buClr>
                          <a:schemeClr val="accent1"/>
                        </a:buClr>
                        <a:buSzPct val="65000"/>
                        <a:buFont typeface="Wingdings" pitchFamily="2" charset="2"/>
                        <a:defRPr>
                          <a:solidFill>
                            <a:schemeClr val="tx1"/>
                          </a:solidFill>
                          <a:latin typeface="Verdana" pitchFamily="34" charset="0"/>
                        </a:defRPr>
                      </a:lvl3pPr>
                      <a:lvl4pPr>
                        <a:spcBef>
                          <a:spcPct val="20000"/>
                        </a:spcBef>
                        <a:buClr>
                          <a:schemeClr val="bg2"/>
                        </a:buClr>
                        <a:buFont typeface="Wingdings" pitchFamily="2" charset="2"/>
                        <a:defRPr sz="1600">
                          <a:solidFill>
                            <a:schemeClr val="tx1"/>
                          </a:solidFill>
                          <a:latin typeface="Verdana" pitchFamily="34" charset="0"/>
                        </a:defRPr>
                      </a:lvl4pPr>
                      <a:lvl5pPr>
                        <a:spcBef>
                          <a:spcPct val="20000"/>
                        </a:spcBef>
                        <a:buClr>
                          <a:schemeClr val="tx2"/>
                        </a:buClr>
                        <a:buSzPct val="80000"/>
                        <a:buFont typeface="Wingdings" pitchFamily="2" charset="2"/>
                        <a:defRPr sz="1600">
                          <a:solidFill>
                            <a:schemeClr val="tx1"/>
                          </a:solidFill>
                          <a:latin typeface="Verdana" pitchFamily="34" charset="0"/>
                        </a:defRPr>
                      </a:lvl5pPr>
                      <a:lvl6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6pPr>
                      <a:lvl7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7pPr>
                      <a:lvl8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8pPr>
                      <a:lvl9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9pPr>
                    </a:lstStyle>
                    <a:p>
                      <a:pPr marL="0" marR="0" lvl="0" indent="0" algn="ctr" defTabSz="914400" rtl="0" eaLnBrk="1" fontAlgn="base" latinLnBrk="0" hangingPunct="1">
                        <a:lnSpc>
                          <a:spcPct val="100000"/>
                        </a:lnSpc>
                        <a:spcBef>
                          <a:spcPct val="0"/>
                        </a:spcBef>
                        <a:spcAft>
                          <a:spcPct val="0"/>
                        </a:spcAft>
                        <a:buClr>
                          <a:schemeClr val="bg2"/>
                        </a:buClr>
                        <a:buSzPct val="75000"/>
                        <a:buFont typeface="Wingdings" pitchFamily="2" charset="2"/>
                        <a:buNone/>
                        <a:tabLst/>
                      </a:pPr>
                      <a:r>
                        <a:rPr kumimoji="0" lang="fr-FR" altLang="en-US" sz="1500" b="1" i="0" u="none" strike="noStrike" cap="none" normalizeH="0" baseline="0">
                          <a:ln>
                            <a:noFill/>
                          </a:ln>
                          <a:solidFill>
                            <a:schemeClr val="tx1"/>
                          </a:solidFill>
                          <a:effectLst/>
                          <a:latin typeface="Verdana" pitchFamily="34" charset="0"/>
                          <a:sym typeface="Wingdings" pitchFamily="2" charset="2"/>
                        </a:rPr>
                        <a:t></a:t>
                      </a:r>
                    </a:p>
                  </a:txBody>
                  <a:tcPr marL="0" marR="0" marT="0" marB="0" horzOverflow="overflow">
                    <a:lnL cap="flat">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17"/>
                  </a:ext>
                </a:extLst>
              </a:tr>
              <a:tr h="249238">
                <a:tc>
                  <a:txBody>
                    <a:bodyPr/>
                    <a:lstStyle>
                      <a:lvl1pPr>
                        <a:spcBef>
                          <a:spcPct val="20000"/>
                        </a:spcBef>
                        <a:buClr>
                          <a:schemeClr val="bg2"/>
                        </a:buClr>
                        <a:buSzPct val="75000"/>
                        <a:buFont typeface="Wingdings" pitchFamily="2" charset="2"/>
                        <a:defRPr sz="2400">
                          <a:solidFill>
                            <a:schemeClr val="tx1"/>
                          </a:solidFill>
                          <a:latin typeface="Verdana" pitchFamily="34" charset="0"/>
                        </a:defRPr>
                      </a:lvl1pPr>
                      <a:lvl2pPr>
                        <a:spcBef>
                          <a:spcPct val="20000"/>
                        </a:spcBef>
                        <a:buClr>
                          <a:schemeClr val="tx2"/>
                        </a:buClr>
                        <a:buSzPct val="75000"/>
                        <a:buFont typeface="Wingdings" pitchFamily="2" charset="2"/>
                        <a:defRPr sz="2000">
                          <a:solidFill>
                            <a:schemeClr val="tx1"/>
                          </a:solidFill>
                          <a:latin typeface="Verdana" pitchFamily="34" charset="0"/>
                        </a:defRPr>
                      </a:lvl2pPr>
                      <a:lvl3pPr>
                        <a:spcBef>
                          <a:spcPct val="20000"/>
                        </a:spcBef>
                        <a:buClr>
                          <a:schemeClr val="accent1"/>
                        </a:buClr>
                        <a:buSzPct val="65000"/>
                        <a:buFont typeface="Wingdings" pitchFamily="2" charset="2"/>
                        <a:defRPr>
                          <a:solidFill>
                            <a:schemeClr val="tx1"/>
                          </a:solidFill>
                          <a:latin typeface="Verdana" pitchFamily="34" charset="0"/>
                        </a:defRPr>
                      </a:lvl3pPr>
                      <a:lvl4pPr>
                        <a:spcBef>
                          <a:spcPct val="20000"/>
                        </a:spcBef>
                        <a:buClr>
                          <a:schemeClr val="bg2"/>
                        </a:buClr>
                        <a:buFont typeface="Wingdings" pitchFamily="2" charset="2"/>
                        <a:defRPr sz="1600">
                          <a:solidFill>
                            <a:schemeClr val="tx1"/>
                          </a:solidFill>
                          <a:latin typeface="Verdana" pitchFamily="34" charset="0"/>
                        </a:defRPr>
                      </a:lvl4pPr>
                      <a:lvl5pPr>
                        <a:spcBef>
                          <a:spcPct val="20000"/>
                        </a:spcBef>
                        <a:buClr>
                          <a:schemeClr val="tx2"/>
                        </a:buClr>
                        <a:buSzPct val="80000"/>
                        <a:buFont typeface="Wingdings" pitchFamily="2" charset="2"/>
                        <a:defRPr sz="1600">
                          <a:solidFill>
                            <a:schemeClr val="tx1"/>
                          </a:solidFill>
                          <a:latin typeface="Verdana" pitchFamily="34" charset="0"/>
                        </a:defRPr>
                      </a:lvl5pPr>
                      <a:lvl6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6pPr>
                      <a:lvl7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7pPr>
                      <a:lvl8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8pPr>
                      <a:lvl9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9pPr>
                    </a:lstStyle>
                    <a:p>
                      <a:pPr marL="0" marR="0" lvl="0" indent="0" algn="ctr" defTabSz="914400" rtl="0" eaLnBrk="1" fontAlgn="base" latinLnBrk="0" hangingPunct="1">
                        <a:lnSpc>
                          <a:spcPct val="100000"/>
                        </a:lnSpc>
                        <a:spcBef>
                          <a:spcPct val="0"/>
                        </a:spcBef>
                        <a:spcAft>
                          <a:spcPct val="0"/>
                        </a:spcAft>
                        <a:buClr>
                          <a:schemeClr val="bg2"/>
                        </a:buClr>
                        <a:buSzPct val="75000"/>
                        <a:buFont typeface="Wingdings" pitchFamily="2" charset="2"/>
                        <a:buNone/>
                        <a:tabLst/>
                      </a:pPr>
                      <a:r>
                        <a:rPr kumimoji="0" lang="fr-FR" altLang="en-US" sz="1500" b="1" i="0" u="none" strike="noStrike" cap="none" normalizeH="0" baseline="0">
                          <a:ln>
                            <a:noFill/>
                          </a:ln>
                          <a:solidFill>
                            <a:schemeClr val="tx2"/>
                          </a:solidFill>
                          <a:effectLst/>
                          <a:latin typeface="Verdana" pitchFamily="34" charset="0"/>
                        </a:rPr>
                        <a:t>Cellules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18"/>
                  </a:ext>
                </a:extLst>
              </a:tr>
              <a:tr h="246063">
                <a:tc>
                  <a:txBody>
                    <a:bodyPr/>
                    <a:lstStyle>
                      <a:lvl1pPr>
                        <a:spcBef>
                          <a:spcPct val="20000"/>
                        </a:spcBef>
                        <a:buClr>
                          <a:schemeClr val="bg2"/>
                        </a:buClr>
                        <a:buSzPct val="75000"/>
                        <a:buFont typeface="Wingdings" pitchFamily="2" charset="2"/>
                        <a:defRPr sz="2400">
                          <a:solidFill>
                            <a:schemeClr val="tx1"/>
                          </a:solidFill>
                          <a:latin typeface="Verdana" pitchFamily="34" charset="0"/>
                        </a:defRPr>
                      </a:lvl1pPr>
                      <a:lvl2pPr>
                        <a:spcBef>
                          <a:spcPct val="20000"/>
                        </a:spcBef>
                        <a:buClr>
                          <a:schemeClr val="tx2"/>
                        </a:buClr>
                        <a:buSzPct val="75000"/>
                        <a:buFont typeface="Wingdings" pitchFamily="2" charset="2"/>
                        <a:defRPr sz="2000">
                          <a:solidFill>
                            <a:schemeClr val="tx1"/>
                          </a:solidFill>
                          <a:latin typeface="Verdana" pitchFamily="34" charset="0"/>
                        </a:defRPr>
                      </a:lvl2pPr>
                      <a:lvl3pPr>
                        <a:spcBef>
                          <a:spcPct val="20000"/>
                        </a:spcBef>
                        <a:buClr>
                          <a:schemeClr val="accent1"/>
                        </a:buClr>
                        <a:buSzPct val="65000"/>
                        <a:buFont typeface="Wingdings" pitchFamily="2" charset="2"/>
                        <a:defRPr>
                          <a:solidFill>
                            <a:schemeClr val="tx1"/>
                          </a:solidFill>
                          <a:latin typeface="Verdana" pitchFamily="34" charset="0"/>
                        </a:defRPr>
                      </a:lvl3pPr>
                      <a:lvl4pPr>
                        <a:spcBef>
                          <a:spcPct val="20000"/>
                        </a:spcBef>
                        <a:buClr>
                          <a:schemeClr val="bg2"/>
                        </a:buClr>
                        <a:buFont typeface="Wingdings" pitchFamily="2" charset="2"/>
                        <a:defRPr sz="1600">
                          <a:solidFill>
                            <a:schemeClr val="tx1"/>
                          </a:solidFill>
                          <a:latin typeface="Verdana" pitchFamily="34" charset="0"/>
                        </a:defRPr>
                      </a:lvl4pPr>
                      <a:lvl5pPr>
                        <a:spcBef>
                          <a:spcPct val="20000"/>
                        </a:spcBef>
                        <a:buClr>
                          <a:schemeClr val="tx2"/>
                        </a:buClr>
                        <a:buSzPct val="80000"/>
                        <a:buFont typeface="Wingdings" pitchFamily="2" charset="2"/>
                        <a:defRPr sz="1600">
                          <a:solidFill>
                            <a:schemeClr val="tx1"/>
                          </a:solidFill>
                          <a:latin typeface="Verdana" pitchFamily="34" charset="0"/>
                        </a:defRPr>
                      </a:lvl5pPr>
                      <a:lvl6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6pPr>
                      <a:lvl7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7pPr>
                      <a:lvl8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8pPr>
                      <a:lvl9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9pPr>
                    </a:lstStyle>
                    <a:p>
                      <a:pPr marL="0" marR="0" lvl="0" indent="0" algn="ctr" defTabSz="914400" rtl="0" eaLnBrk="1" fontAlgn="base" latinLnBrk="0" hangingPunct="1">
                        <a:lnSpc>
                          <a:spcPct val="100000"/>
                        </a:lnSpc>
                        <a:spcBef>
                          <a:spcPct val="0"/>
                        </a:spcBef>
                        <a:spcAft>
                          <a:spcPct val="0"/>
                        </a:spcAft>
                        <a:buClr>
                          <a:schemeClr val="bg2"/>
                        </a:buClr>
                        <a:buSzPct val="75000"/>
                        <a:buFont typeface="Wingdings" pitchFamily="2" charset="2"/>
                        <a:buNone/>
                        <a:tabLst/>
                      </a:pPr>
                      <a:r>
                        <a:rPr kumimoji="0" lang="fr-FR" altLang="en-US" sz="1500" b="1" i="0" u="none" strike="noStrike" cap="none" normalizeH="0" baseline="0">
                          <a:ln>
                            <a:noFill/>
                          </a:ln>
                          <a:solidFill>
                            <a:schemeClr val="tx2"/>
                          </a:solidFill>
                          <a:effectLst/>
                          <a:latin typeface="Verdana" pitchFamily="34" charset="0"/>
                          <a:sym typeface="Wingdings" pitchFamily="2" charset="2"/>
                        </a:rPr>
                        <a:t></a:t>
                      </a:r>
                    </a:p>
                  </a:txBody>
                  <a:tcPr marL="0" marR="0" marT="0" marB="0" horzOverflow="overflow">
                    <a:lnL cap="flat">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19"/>
                  </a:ext>
                </a:extLst>
              </a:tr>
              <a:tr h="249238">
                <a:tc>
                  <a:txBody>
                    <a:bodyPr/>
                    <a:lstStyle>
                      <a:lvl1pPr>
                        <a:spcBef>
                          <a:spcPct val="20000"/>
                        </a:spcBef>
                        <a:buClr>
                          <a:schemeClr val="bg2"/>
                        </a:buClr>
                        <a:buSzPct val="75000"/>
                        <a:buFont typeface="Wingdings" pitchFamily="2" charset="2"/>
                        <a:defRPr sz="2400">
                          <a:solidFill>
                            <a:schemeClr val="tx1"/>
                          </a:solidFill>
                          <a:latin typeface="Verdana" pitchFamily="34" charset="0"/>
                        </a:defRPr>
                      </a:lvl1pPr>
                      <a:lvl2pPr>
                        <a:spcBef>
                          <a:spcPct val="20000"/>
                        </a:spcBef>
                        <a:buClr>
                          <a:schemeClr val="tx2"/>
                        </a:buClr>
                        <a:buSzPct val="75000"/>
                        <a:buFont typeface="Wingdings" pitchFamily="2" charset="2"/>
                        <a:defRPr sz="2000">
                          <a:solidFill>
                            <a:schemeClr val="tx1"/>
                          </a:solidFill>
                          <a:latin typeface="Verdana" pitchFamily="34" charset="0"/>
                        </a:defRPr>
                      </a:lvl2pPr>
                      <a:lvl3pPr>
                        <a:spcBef>
                          <a:spcPct val="20000"/>
                        </a:spcBef>
                        <a:buClr>
                          <a:schemeClr val="accent1"/>
                        </a:buClr>
                        <a:buSzPct val="65000"/>
                        <a:buFont typeface="Wingdings" pitchFamily="2" charset="2"/>
                        <a:defRPr>
                          <a:solidFill>
                            <a:schemeClr val="tx1"/>
                          </a:solidFill>
                          <a:latin typeface="Verdana" pitchFamily="34" charset="0"/>
                        </a:defRPr>
                      </a:lvl3pPr>
                      <a:lvl4pPr>
                        <a:spcBef>
                          <a:spcPct val="20000"/>
                        </a:spcBef>
                        <a:buClr>
                          <a:schemeClr val="bg2"/>
                        </a:buClr>
                        <a:buFont typeface="Wingdings" pitchFamily="2" charset="2"/>
                        <a:defRPr sz="1600">
                          <a:solidFill>
                            <a:schemeClr val="tx1"/>
                          </a:solidFill>
                          <a:latin typeface="Verdana" pitchFamily="34" charset="0"/>
                        </a:defRPr>
                      </a:lvl4pPr>
                      <a:lvl5pPr>
                        <a:spcBef>
                          <a:spcPct val="20000"/>
                        </a:spcBef>
                        <a:buClr>
                          <a:schemeClr val="tx2"/>
                        </a:buClr>
                        <a:buSzPct val="80000"/>
                        <a:buFont typeface="Wingdings" pitchFamily="2" charset="2"/>
                        <a:defRPr sz="1600">
                          <a:solidFill>
                            <a:schemeClr val="tx1"/>
                          </a:solidFill>
                          <a:latin typeface="Verdana" pitchFamily="34" charset="0"/>
                        </a:defRPr>
                      </a:lvl5pPr>
                      <a:lvl6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6pPr>
                      <a:lvl7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7pPr>
                      <a:lvl8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8pPr>
                      <a:lvl9pPr fontAlgn="base">
                        <a:spcBef>
                          <a:spcPct val="20000"/>
                        </a:spcBef>
                        <a:spcAft>
                          <a:spcPct val="0"/>
                        </a:spcAft>
                        <a:buClr>
                          <a:schemeClr val="tx2"/>
                        </a:buClr>
                        <a:buSzPct val="80000"/>
                        <a:buFont typeface="Wingdings" pitchFamily="2" charset="2"/>
                        <a:defRPr sz="1600">
                          <a:solidFill>
                            <a:schemeClr val="tx1"/>
                          </a:solidFill>
                          <a:latin typeface="Verdana" pitchFamily="34" charset="0"/>
                        </a:defRPr>
                      </a:lvl9pPr>
                    </a:lstStyle>
                    <a:p>
                      <a:pPr marL="0" marR="0" lvl="0" indent="0" algn="ctr" defTabSz="914400" rtl="0" eaLnBrk="1" fontAlgn="base" latinLnBrk="0" hangingPunct="1">
                        <a:lnSpc>
                          <a:spcPct val="100000"/>
                        </a:lnSpc>
                        <a:spcBef>
                          <a:spcPct val="0"/>
                        </a:spcBef>
                        <a:spcAft>
                          <a:spcPct val="0"/>
                        </a:spcAft>
                        <a:buClr>
                          <a:schemeClr val="bg2"/>
                        </a:buClr>
                        <a:buSzPct val="75000"/>
                        <a:buFont typeface="Wingdings" pitchFamily="2" charset="2"/>
                        <a:buNone/>
                        <a:tabLst/>
                      </a:pPr>
                      <a:r>
                        <a:rPr kumimoji="0" lang="fr-FR" altLang="en-US" sz="1500" b="1" i="0" u="none" strike="noStrike" cap="none" normalizeH="0" baseline="0">
                          <a:ln>
                            <a:noFill/>
                          </a:ln>
                          <a:solidFill>
                            <a:schemeClr val="tx2"/>
                          </a:solidFill>
                          <a:effectLst/>
                          <a:latin typeface="Verdana" pitchFamily="34" charset="0"/>
                        </a:rPr>
                        <a:t>Molécules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20"/>
                  </a:ext>
                </a:extLst>
              </a:tr>
            </a:tbl>
          </a:graphicData>
        </a:graphic>
      </p:graphicFrame>
      <p:pic>
        <p:nvPicPr>
          <p:cNvPr id="16454" name="Picture 90" descr="MCj02788480000[1]"/>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5359400" y="6202363"/>
            <a:ext cx="531813"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455" name="Picture 91" descr="MCj04296770000[1]"/>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160963" y="2628900"/>
            <a:ext cx="927100" cy="66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456" name="Picture 92" descr="MCj04401060000[1]"/>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5357813" y="1506538"/>
            <a:ext cx="630237"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457" name="Picture 93" descr="MCj03295670000[1]"/>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5192713" y="4730750"/>
            <a:ext cx="996950"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737723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233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La biodiversité comme tissu vivant de la planète</a:t>
            </a:r>
          </a:p>
        </p:txBody>
      </p:sp>
      <p:pic>
        <p:nvPicPr>
          <p:cNvPr id="1026" name="Picture 2" descr="https://coreybradshaw.files.wordpress.com/2016/08/network.png"/>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1089273" y="1519057"/>
            <a:ext cx="7011119" cy="5228488"/>
          </a:xfrm>
          <a:prstGeom prst="rect">
            <a:avLst/>
          </a:prstGeom>
          <a:noFill/>
          <a:extLst>
            <a:ext uri="{909E8E84-426E-40DD-AFC4-6F175D3DCCD1}">
              <a14:hiddenFill xmlns:a14="http://schemas.microsoft.com/office/drawing/2010/main">
                <a:solidFill>
                  <a:srgbClr val="FFFFFF"/>
                </a:solidFill>
              </a14:hiddenFill>
            </a:ext>
          </a:extLst>
        </p:spPr>
      </p:pic>
      <p:sp>
        <p:nvSpPr>
          <p:cNvPr id="4" name="Ellipse 3"/>
          <p:cNvSpPr/>
          <p:nvPr/>
        </p:nvSpPr>
        <p:spPr>
          <a:xfrm>
            <a:off x="6963122" y="3933366"/>
            <a:ext cx="108000" cy="1080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156398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
          <p:cNvSpPr>
            <a:spLocks noGrp="1" noChangeArrowheads="1"/>
          </p:cNvSpPr>
          <p:nvPr>
            <p:ph type="body" idx="1"/>
          </p:nvPr>
        </p:nvSpPr>
        <p:spPr/>
        <p:txBody>
          <a:bodyPr/>
          <a:lstStyle/>
          <a:p>
            <a:pPr eaLnBrk="1" hangingPunct="1"/>
            <a:r>
              <a:rPr lang="fr-FR" altLang="en-US" sz="2400" dirty="0"/>
              <a:t>Ensemble des êtres vivants  dans un endroit donné + leur environnement physique + leurs interactions</a:t>
            </a:r>
          </a:p>
          <a:p>
            <a:pPr lvl="1" eaLnBrk="1" hangingPunct="1"/>
            <a:r>
              <a:rPr lang="fr-FR" altLang="en-US" sz="2000" dirty="0"/>
              <a:t>Forêt, mare, prairie…</a:t>
            </a:r>
          </a:p>
        </p:txBody>
      </p:sp>
      <p:sp>
        <p:nvSpPr>
          <p:cNvPr id="12291" name="Rectangle 4"/>
          <p:cNvSpPr>
            <a:spLocks noGrp="1" noChangeArrowheads="1"/>
          </p:cNvSpPr>
          <p:nvPr>
            <p:ph type="title"/>
          </p:nvPr>
        </p:nvSpPr>
        <p:spPr>
          <a:noFill/>
        </p:spPr>
        <p:txBody>
          <a:bodyPr/>
          <a:lstStyle/>
          <a:p>
            <a:pPr eaLnBrk="1" hangingPunct="1"/>
            <a:r>
              <a:rPr lang="fr-FR" altLang="en-US" sz="4000" dirty="0"/>
              <a:t>Ecosystèmes</a:t>
            </a:r>
          </a:p>
        </p:txBody>
      </p:sp>
      <p:pic>
        <p:nvPicPr>
          <p:cNvPr id="12292" name="Picture 6" descr="écosystème"/>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594171" y="3429000"/>
            <a:ext cx="3833813" cy="2697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3" name="Picture 8" descr="ecosystems_1"/>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157788" y="2844800"/>
            <a:ext cx="3271837" cy="341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806198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fr-FR" altLang="en-US" sz="4000"/>
              <a:t>Historiquement, deux façons « biologiques » d’aborder la biodiversité</a:t>
            </a:r>
          </a:p>
        </p:txBody>
      </p:sp>
      <p:sp>
        <p:nvSpPr>
          <p:cNvPr id="146437" name="Rectangle 5"/>
          <p:cNvSpPr>
            <a:spLocks noGrp="1" noChangeArrowheads="1"/>
          </p:cNvSpPr>
          <p:nvPr>
            <p:ph type="body" sz="half" idx="1"/>
          </p:nvPr>
        </p:nvSpPr>
        <p:spPr>
          <a:xfrm>
            <a:off x="457200" y="1600200"/>
            <a:ext cx="4038600" cy="5084763"/>
          </a:xfrm>
        </p:spPr>
        <p:txBody>
          <a:bodyPr/>
          <a:lstStyle/>
          <a:p>
            <a:pPr eaLnBrk="1" hangingPunct="1">
              <a:lnSpc>
                <a:spcPct val="90000"/>
              </a:lnSpc>
            </a:pPr>
            <a:r>
              <a:rPr lang="fr-FR" altLang="en-US" sz="2000" dirty="0"/>
              <a:t>Vision évolutive</a:t>
            </a:r>
          </a:p>
          <a:p>
            <a:pPr lvl="1" eaLnBrk="1" hangingPunct="1">
              <a:lnSpc>
                <a:spcPct val="90000"/>
              </a:lnSpc>
            </a:pPr>
            <a:r>
              <a:rPr lang="fr-FR" altLang="en-US" sz="1800" dirty="0"/>
              <a:t>Ecologie évolutive</a:t>
            </a:r>
          </a:p>
          <a:p>
            <a:pPr lvl="1" eaLnBrk="1" hangingPunct="1">
              <a:lnSpc>
                <a:spcPct val="90000"/>
              </a:lnSpc>
            </a:pPr>
            <a:endParaRPr lang="fr-FR" altLang="en-US" sz="1800" dirty="0"/>
          </a:p>
          <a:p>
            <a:pPr lvl="1" eaLnBrk="1" hangingPunct="1">
              <a:lnSpc>
                <a:spcPct val="90000"/>
              </a:lnSpc>
            </a:pPr>
            <a:endParaRPr lang="fr-FR" altLang="en-US" sz="1800" dirty="0"/>
          </a:p>
          <a:p>
            <a:pPr lvl="1" eaLnBrk="1" hangingPunct="1">
              <a:lnSpc>
                <a:spcPct val="90000"/>
              </a:lnSpc>
            </a:pPr>
            <a:endParaRPr lang="fr-FR" altLang="en-US" sz="1800" dirty="0"/>
          </a:p>
          <a:p>
            <a:pPr lvl="1" eaLnBrk="1" hangingPunct="1">
              <a:lnSpc>
                <a:spcPct val="90000"/>
              </a:lnSpc>
            </a:pPr>
            <a:endParaRPr lang="fr-FR" altLang="en-US" sz="1800" dirty="0"/>
          </a:p>
          <a:p>
            <a:pPr lvl="1" eaLnBrk="1" hangingPunct="1">
              <a:lnSpc>
                <a:spcPct val="90000"/>
              </a:lnSpc>
            </a:pPr>
            <a:endParaRPr lang="fr-FR" altLang="en-US" sz="1800" dirty="0"/>
          </a:p>
          <a:p>
            <a:pPr lvl="1" eaLnBrk="1" hangingPunct="1">
              <a:lnSpc>
                <a:spcPct val="90000"/>
              </a:lnSpc>
            </a:pPr>
            <a:endParaRPr lang="fr-FR" altLang="en-US" sz="1800" dirty="0"/>
          </a:p>
          <a:p>
            <a:pPr lvl="1" eaLnBrk="1" hangingPunct="1">
              <a:lnSpc>
                <a:spcPct val="90000"/>
              </a:lnSpc>
            </a:pPr>
            <a:endParaRPr lang="fr-FR" altLang="en-US" sz="1800" dirty="0"/>
          </a:p>
          <a:p>
            <a:pPr lvl="1" eaLnBrk="1" hangingPunct="1">
              <a:lnSpc>
                <a:spcPct val="90000"/>
              </a:lnSpc>
            </a:pPr>
            <a:endParaRPr lang="fr-FR" altLang="en-US" sz="1800" dirty="0"/>
          </a:p>
          <a:p>
            <a:pPr lvl="1" eaLnBrk="1" hangingPunct="1">
              <a:lnSpc>
                <a:spcPct val="90000"/>
              </a:lnSpc>
            </a:pPr>
            <a:endParaRPr lang="fr-FR" altLang="en-US" sz="1800" dirty="0"/>
          </a:p>
          <a:p>
            <a:pPr lvl="1" eaLnBrk="1" hangingPunct="1">
              <a:lnSpc>
                <a:spcPct val="90000"/>
              </a:lnSpc>
            </a:pPr>
            <a:endParaRPr lang="fr-FR" altLang="en-US" sz="1800" dirty="0"/>
          </a:p>
          <a:p>
            <a:pPr lvl="1" eaLnBrk="1" hangingPunct="1">
              <a:lnSpc>
                <a:spcPct val="90000"/>
              </a:lnSpc>
            </a:pPr>
            <a:r>
              <a:rPr lang="fr-FR" altLang="en-US" sz="1800" dirty="0"/>
              <a:t>Loi de la sélection naturelle</a:t>
            </a:r>
          </a:p>
          <a:p>
            <a:pPr lvl="1" eaLnBrk="1" hangingPunct="1">
              <a:lnSpc>
                <a:spcPct val="90000"/>
              </a:lnSpc>
            </a:pPr>
            <a:r>
              <a:rPr lang="fr-FR" altLang="en-US" sz="1800" dirty="0"/>
              <a:t>Centrée sur les populations et les espèces</a:t>
            </a:r>
          </a:p>
          <a:p>
            <a:pPr lvl="1" eaLnBrk="1" hangingPunct="1">
              <a:lnSpc>
                <a:spcPct val="90000"/>
              </a:lnSpc>
            </a:pPr>
            <a:r>
              <a:rPr lang="fr-FR" altLang="en-US" sz="1800" dirty="0"/>
              <a:t>Origine de la </a:t>
            </a:r>
            <a:r>
              <a:rPr lang="fr-FR" altLang="en-US" sz="1800" u="sng" dirty="0"/>
              <a:t>diversité</a:t>
            </a:r>
          </a:p>
        </p:txBody>
      </p:sp>
      <p:sp>
        <p:nvSpPr>
          <p:cNvPr id="146438" name="Rectangle 6"/>
          <p:cNvSpPr>
            <a:spLocks noGrp="1" noChangeArrowheads="1"/>
          </p:cNvSpPr>
          <p:nvPr>
            <p:ph type="body" sz="half" idx="2"/>
          </p:nvPr>
        </p:nvSpPr>
        <p:spPr>
          <a:xfrm>
            <a:off x="4648200" y="1600200"/>
            <a:ext cx="4388296" cy="5257800"/>
          </a:xfrm>
        </p:spPr>
        <p:txBody>
          <a:bodyPr/>
          <a:lstStyle/>
          <a:p>
            <a:pPr eaLnBrk="1" hangingPunct="1">
              <a:lnSpc>
                <a:spcPct val="90000"/>
              </a:lnSpc>
            </a:pPr>
            <a:r>
              <a:rPr lang="fr-FR" altLang="en-US" sz="2000" dirty="0"/>
              <a:t>Vision fonctionnelle</a:t>
            </a:r>
          </a:p>
          <a:p>
            <a:pPr lvl="1" eaLnBrk="1" hangingPunct="1">
              <a:lnSpc>
                <a:spcPct val="90000"/>
              </a:lnSpc>
            </a:pPr>
            <a:r>
              <a:rPr lang="fr-FR" altLang="en-US" sz="1800" dirty="0"/>
              <a:t>Ecologie fonctionnelle</a:t>
            </a:r>
          </a:p>
          <a:p>
            <a:pPr lvl="1" eaLnBrk="1" hangingPunct="1">
              <a:lnSpc>
                <a:spcPct val="90000"/>
              </a:lnSpc>
            </a:pPr>
            <a:endParaRPr lang="fr-FR" altLang="en-US" sz="1800" dirty="0"/>
          </a:p>
          <a:p>
            <a:pPr lvl="1" eaLnBrk="1" hangingPunct="1">
              <a:lnSpc>
                <a:spcPct val="90000"/>
              </a:lnSpc>
            </a:pPr>
            <a:endParaRPr lang="fr-FR" altLang="en-US" sz="1800" dirty="0"/>
          </a:p>
          <a:p>
            <a:pPr lvl="1" eaLnBrk="1" hangingPunct="1">
              <a:lnSpc>
                <a:spcPct val="90000"/>
              </a:lnSpc>
            </a:pPr>
            <a:endParaRPr lang="fr-FR" altLang="en-US" sz="1800" dirty="0"/>
          </a:p>
          <a:p>
            <a:pPr lvl="1" eaLnBrk="1" hangingPunct="1">
              <a:lnSpc>
                <a:spcPct val="90000"/>
              </a:lnSpc>
            </a:pPr>
            <a:endParaRPr lang="fr-FR" altLang="en-US" sz="1800" dirty="0"/>
          </a:p>
          <a:p>
            <a:pPr lvl="1" eaLnBrk="1" hangingPunct="1">
              <a:lnSpc>
                <a:spcPct val="90000"/>
              </a:lnSpc>
            </a:pPr>
            <a:endParaRPr lang="fr-FR" altLang="en-US" sz="1800" dirty="0"/>
          </a:p>
          <a:p>
            <a:pPr lvl="1" eaLnBrk="1" hangingPunct="1">
              <a:lnSpc>
                <a:spcPct val="90000"/>
              </a:lnSpc>
            </a:pPr>
            <a:endParaRPr lang="fr-FR" altLang="en-US" sz="1800" dirty="0"/>
          </a:p>
          <a:p>
            <a:pPr lvl="1" eaLnBrk="1" hangingPunct="1">
              <a:lnSpc>
                <a:spcPct val="90000"/>
              </a:lnSpc>
            </a:pPr>
            <a:endParaRPr lang="fr-FR" altLang="en-US" sz="1800" dirty="0"/>
          </a:p>
          <a:p>
            <a:pPr lvl="1" eaLnBrk="1" hangingPunct="1">
              <a:lnSpc>
                <a:spcPct val="90000"/>
              </a:lnSpc>
            </a:pPr>
            <a:endParaRPr lang="fr-FR" altLang="en-US" sz="1800" dirty="0"/>
          </a:p>
          <a:p>
            <a:pPr lvl="1" eaLnBrk="1" hangingPunct="1">
              <a:lnSpc>
                <a:spcPct val="90000"/>
              </a:lnSpc>
            </a:pPr>
            <a:endParaRPr lang="fr-FR" altLang="en-US" sz="1800" dirty="0"/>
          </a:p>
          <a:p>
            <a:pPr lvl="1" eaLnBrk="1" hangingPunct="1">
              <a:lnSpc>
                <a:spcPct val="90000"/>
              </a:lnSpc>
            </a:pPr>
            <a:endParaRPr lang="fr-FR" altLang="en-US" sz="1800" dirty="0"/>
          </a:p>
          <a:p>
            <a:pPr lvl="1" eaLnBrk="1" hangingPunct="1">
              <a:lnSpc>
                <a:spcPct val="90000"/>
              </a:lnSpc>
            </a:pPr>
            <a:r>
              <a:rPr lang="fr-FR" altLang="en-US" sz="1800" dirty="0"/>
              <a:t>Lois physico-chimiques : flux de  matière et d’énergie</a:t>
            </a:r>
          </a:p>
          <a:p>
            <a:pPr lvl="1" eaLnBrk="1" hangingPunct="1">
              <a:lnSpc>
                <a:spcPct val="90000"/>
              </a:lnSpc>
            </a:pPr>
            <a:r>
              <a:rPr lang="fr-FR" altLang="en-US" sz="1800" dirty="0"/>
              <a:t>Centrée sur les écosystèmes</a:t>
            </a:r>
          </a:p>
          <a:p>
            <a:pPr lvl="1" eaLnBrk="1" hangingPunct="1">
              <a:lnSpc>
                <a:spcPct val="90000"/>
              </a:lnSpc>
            </a:pPr>
            <a:r>
              <a:rPr lang="fr-FR" altLang="en-US" sz="1800" dirty="0"/>
              <a:t>Origine et rôle de </a:t>
            </a:r>
            <a:r>
              <a:rPr lang="fr-FR" altLang="en-US" sz="1800" u="sng" dirty="0"/>
              <a:t>l’abondance</a:t>
            </a:r>
            <a:r>
              <a:rPr lang="fr-FR" altLang="en-US" sz="1800" dirty="0"/>
              <a:t> des êtres vivants</a:t>
            </a:r>
          </a:p>
        </p:txBody>
      </p:sp>
      <p:pic>
        <p:nvPicPr>
          <p:cNvPr id="146439" name="Picture 7"/>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103313" y="2508250"/>
            <a:ext cx="2362200" cy="25971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nvGrpSpPr>
          <p:cNvPr id="146454" name="Group 22"/>
          <p:cNvGrpSpPr>
            <a:grpSpLocks/>
          </p:cNvGrpSpPr>
          <p:nvPr/>
        </p:nvGrpSpPr>
        <p:grpSpPr bwMode="auto">
          <a:xfrm>
            <a:off x="4451350" y="2408659"/>
            <a:ext cx="4692650" cy="2676525"/>
            <a:chOff x="2804" y="1408"/>
            <a:chExt cx="2956" cy="1686"/>
          </a:xfrm>
        </p:grpSpPr>
        <p:pic>
          <p:nvPicPr>
            <p:cNvPr id="19463" name="Picture 9" descr="Oak-tree"/>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3453" y="1561"/>
              <a:ext cx="1712" cy="1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4" name="Line 10"/>
            <p:cNvSpPr>
              <a:spLocks noChangeShapeType="1"/>
            </p:cNvSpPr>
            <p:nvPr/>
          </p:nvSpPr>
          <p:spPr bwMode="auto">
            <a:xfrm flipH="1" flipV="1">
              <a:off x="3393" y="1677"/>
              <a:ext cx="247" cy="159"/>
            </a:xfrm>
            <a:prstGeom prst="line">
              <a:avLst/>
            </a:prstGeom>
            <a:noFill/>
            <a:ln w="76200">
              <a:solidFill>
                <a:srgbClr val="0000FF"/>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9465" name="Line 11"/>
            <p:cNvSpPr>
              <a:spLocks noChangeShapeType="1"/>
            </p:cNvSpPr>
            <p:nvPr/>
          </p:nvSpPr>
          <p:spPr bwMode="auto">
            <a:xfrm flipH="1" flipV="1">
              <a:off x="3251" y="2003"/>
              <a:ext cx="247" cy="159"/>
            </a:xfrm>
            <a:prstGeom prst="line">
              <a:avLst/>
            </a:prstGeom>
            <a:noFill/>
            <a:ln w="76200">
              <a:solidFill>
                <a:srgbClr val="0000FF"/>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9466" name="Text Box 12"/>
            <p:cNvSpPr txBox="1">
              <a:spLocks noChangeArrowheads="1"/>
            </p:cNvSpPr>
            <p:nvPr/>
          </p:nvSpPr>
          <p:spPr bwMode="auto">
            <a:xfrm>
              <a:off x="2804" y="1848"/>
              <a:ext cx="4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bg2"/>
                </a:buClr>
                <a:buSzPct val="75000"/>
                <a:buFont typeface="Wingdings" pitchFamily="2" charset="2"/>
                <a:buChar char="p"/>
                <a:defRPr sz="2800">
                  <a:solidFill>
                    <a:schemeClr val="tx1"/>
                  </a:solidFill>
                  <a:latin typeface="Verdana" pitchFamily="34"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9pPr>
            </a:lstStyle>
            <a:p>
              <a:pPr algn="ctr" eaLnBrk="1" hangingPunct="1">
                <a:spcBef>
                  <a:spcPct val="50000"/>
                </a:spcBef>
                <a:buClrTx/>
                <a:buSzTx/>
                <a:buFontTx/>
                <a:buNone/>
              </a:pPr>
              <a:r>
                <a:rPr lang="fr-FR" altLang="en-US" sz="1400" b="1">
                  <a:solidFill>
                    <a:srgbClr val="0000FF"/>
                  </a:solidFill>
                </a:rPr>
                <a:t>Eau</a:t>
              </a:r>
            </a:p>
          </p:txBody>
        </p:sp>
        <p:sp>
          <p:nvSpPr>
            <p:cNvPr id="19467" name="Text Box 13"/>
            <p:cNvSpPr txBox="1">
              <a:spLocks noChangeArrowheads="1"/>
            </p:cNvSpPr>
            <p:nvPr/>
          </p:nvSpPr>
          <p:spPr bwMode="auto">
            <a:xfrm>
              <a:off x="2994" y="1509"/>
              <a:ext cx="4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bg2"/>
                </a:buClr>
                <a:buSzPct val="75000"/>
                <a:buFont typeface="Wingdings" pitchFamily="2" charset="2"/>
                <a:buChar char="p"/>
                <a:defRPr sz="2800">
                  <a:solidFill>
                    <a:schemeClr val="tx1"/>
                  </a:solidFill>
                  <a:latin typeface="Verdana" pitchFamily="34"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9pPr>
            </a:lstStyle>
            <a:p>
              <a:pPr algn="ctr" eaLnBrk="1" hangingPunct="1">
                <a:spcBef>
                  <a:spcPct val="50000"/>
                </a:spcBef>
                <a:buClrTx/>
                <a:buSzTx/>
                <a:buFontTx/>
                <a:buNone/>
              </a:pPr>
              <a:r>
                <a:rPr lang="fr-FR" altLang="en-US" sz="1400" b="1">
                  <a:solidFill>
                    <a:srgbClr val="0000FF"/>
                  </a:solidFill>
                </a:rPr>
                <a:t>O</a:t>
              </a:r>
              <a:r>
                <a:rPr lang="fr-FR" altLang="en-US" sz="1400" b="1" baseline="-25000">
                  <a:solidFill>
                    <a:srgbClr val="0000FF"/>
                  </a:solidFill>
                </a:rPr>
                <a:t>2</a:t>
              </a:r>
            </a:p>
          </p:txBody>
        </p:sp>
        <p:sp>
          <p:nvSpPr>
            <p:cNvPr id="19468" name="Line 14"/>
            <p:cNvSpPr>
              <a:spLocks noChangeShapeType="1"/>
            </p:cNvSpPr>
            <p:nvPr/>
          </p:nvSpPr>
          <p:spPr bwMode="auto">
            <a:xfrm flipH="1">
              <a:off x="4812" y="1479"/>
              <a:ext cx="292" cy="176"/>
            </a:xfrm>
            <a:prstGeom prst="line">
              <a:avLst/>
            </a:prstGeom>
            <a:noFill/>
            <a:ln w="76200">
              <a:solidFill>
                <a:srgbClr val="FF00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9469" name="Line 15"/>
            <p:cNvSpPr>
              <a:spLocks noChangeShapeType="1"/>
            </p:cNvSpPr>
            <p:nvPr/>
          </p:nvSpPr>
          <p:spPr bwMode="auto">
            <a:xfrm flipH="1">
              <a:off x="5037" y="1634"/>
              <a:ext cx="292" cy="176"/>
            </a:xfrm>
            <a:prstGeom prst="line">
              <a:avLst/>
            </a:prstGeom>
            <a:noFill/>
            <a:ln w="76200">
              <a:solidFill>
                <a:srgbClr val="FF00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9470" name="Text Box 16"/>
            <p:cNvSpPr txBox="1">
              <a:spLocks noChangeArrowheads="1"/>
            </p:cNvSpPr>
            <p:nvPr/>
          </p:nvSpPr>
          <p:spPr bwMode="auto">
            <a:xfrm>
              <a:off x="5030" y="1408"/>
              <a:ext cx="46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bg2"/>
                </a:buClr>
                <a:buSzPct val="75000"/>
                <a:buFont typeface="Wingdings" pitchFamily="2" charset="2"/>
                <a:buChar char="p"/>
                <a:defRPr sz="2800">
                  <a:solidFill>
                    <a:schemeClr val="tx1"/>
                  </a:solidFill>
                  <a:latin typeface="Verdana" pitchFamily="34"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9pPr>
            </a:lstStyle>
            <a:p>
              <a:pPr algn="ctr" eaLnBrk="1" hangingPunct="1">
                <a:spcBef>
                  <a:spcPct val="50000"/>
                </a:spcBef>
                <a:buClrTx/>
                <a:buSzTx/>
                <a:buFontTx/>
                <a:buNone/>
              </a:pPr>
              <a:r>
                <a:rPr lang="fr-FR" altLang="en-US" sz="1400" b="1">
                  <a:solidFill>
                    <a:srgbClr val="FF0000"/>
                  </a:solidFill>
                </a:rPr>
                <a:t>CO</a:t>
              </a:r>
              <a:r>
                <a:rPr lang="fr-FR" altLang="en-US" sz="1400" b="1" baseline="-25000">
                  <a:solidFill>
                    <a:srgbClr val="FF0000"/>
                  </a:solidFill>
                </a:rPr>
                <a:t>2</a:t>
              </a:r>
            </a:p>
          </p:txBody>
        </p:sp>
        <p:sp>
          <p:nvSpPr>
            <p:cNvPr id="19471" name="Text Box 17"/>
            <p:cNvSpPr txBox="1">
              <a:spLocks noChangeArrowheads="1"/>
            </p:cNvSpPr>
            <p:nvPr/>
          </p:nvSpPr>
          <p:spPr bwMode="auto">
            <a:xfrm>
              <a:off x="5254" y="1690"/>
              <a:ext cx="506"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bg2"/>
                </a:buClr>
                <a:buSzPct val="75000"/>
                <a:buFont typeface="Wingdings" pitchFamily="2" charset="2"/>
                <a:buChar char="p"/>
                <a:defRPr sz="2800">
                  <a:solidFill>
                    <a:schemeClr val="tx1"/>
                  </a:solidFill>
                  <a:latin typeface="Verdana" pitchFamily="34"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9pPr>
            </a:lstStyle>
            <a:p>
              <a:pPr algn="ctr" eaLnBrk="1" hangingPunct="1">
                <a:spcBef>
                  <a:spcPct val="50000"/>
                </a:spcBef>
                <a:buClrTx/>
                <a:buSzTx/>
                <a:buFontTx/>
                <a:buNone/>
              </a:pPr>
              <a:r>
                <a:rPr lang="fr-FR" altLang="en-US" sz="1000" b="1">
                  <a:solidFill>
                    <a:srgbClr val="FF0000"/>
                  </a:solidFill>
                </a:rPr>
                <a:t>Lumière</a:t>
              </a:r>
              <a:endParaRPr lang="fr-FR" altLang="en-US" sz="1000" b="1" baseline="-25000">
                <a:solidFill>
                  <a:srgbClr val="FF0000"/>
                </a:solidFill>
              </a:endParaRPr>
            </a:p>
          </p:txBody>
        </p:sp>
        <p:sp>
          <p:nvSpPr>
            <p:cNvPr id="19472" name="Line 18"/>
            <p:cNvSpPr>
              <a:spLocks noChangeShapeType="1"/>
            </p:cNvSpPr>
            <p:nvPr/>
          </p:nvSpPr>
          <p:spPr bwMode="auto">
            <a:xfrm flipH="1" flipV="1">
              <a:off x="4486" y="2936"/>
              <a:ext cx="279" cy="77"/>
            </a:xfrm>
            <a:prstGeom prst="line">
              <a:avLst/>
            </a:prstGeom>
            <a:noFill/>
            <a:ln w="76200">
              <a:solidFill>
                <a:srgbClr val="FF00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9473" name="Line 19"/>
            <p:cNvSpPr>
              <a:spLocks noChangeShapeType="1"/>
            </p:cNvSpPr>
            <p:nvPr/>
          </p:nvSpPr>
          <p:spPr bwMode="auto">
            <a:xfrm flipV="1">
              <a:off x="3761" y="2936"/>
              <a:ext cx="279" cy="77"/>
            </a:xfrm>
            <a:prstGeom prst="line">
              <a:avLst/>
            </a:prstGeom>
            <a:noFill/>
            <a:ln w="76200">
              <a:solidFill>
                <a:srgbClr val="FF00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9474" name="Text Box 20"/>
            <p:cNvSpPr txBox="1">
              <a:spLocks noChangeArrowheads="1"/>
            </p:cNvSpPr>
            <p:nvPr/>
          </p:nvSpPr>
          <p:spPr bwMode="auto">
            <a:xfrm>
              <a:off x="3092" y="2940"/>
              <a:ext cx="735"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bg2"/>
                </a:buClr>
                <a:buSzPct val="75000"/>
                <a:buFont typeface="Wingdings" pitchFamily="2" charset="2"/>
                <a:buChar char="p"/>
                <a:defRPr sz="2800">
                  <a:solidFill>
                    <a:schemeClr val="tx1"/>
                  </a:solidFill>
                  <a:latin typeface="Verdana" pitchFamily="34"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9pPr>
            </a:lstStyle>
            <a:p>
              <a:pPr algn="ctr" eaLnBrk="1" hangingPunct="1">
                <a:spcBef>
                  <a:spcPct val="50000"/>
                </a:spcBef>
                <a:buClrTx/>
                <a:buSzTx/>
                <a:buFontTx/>
                <a:buNone/>
              </a:pPr>
              <a:r>
                <a:rPr lang="fr-FR" altLang="en-US" sz="1000" b="1">
                  <a:solidFill>
                    <a:srgbClr val="FF0000"/>
                  </a:solidFill>
                </a:rPr>
                <a:t>Minéraux</a:t>
              </a:r>
              <a:endParaRPr lang="fr-FR" altLang="en-US" sz="1000" b="1" baseline="-25000">
                <a:solidFill>
                  <a:srgbClr val="FF0000"/>
                </a:solidFill>
              </a:endParaRPr>
            </a:p>
          </p:txBody>
        </p:sp>
        <p:sp>
          <p:nvSpPr>
            <p:cNvPr id="19475" name="Text Box 21"/>
            <p:cNvSpPr txBox="1">
              <a:spLocks noChangeArrowheads="1"/>
            </p:cNvSpPr>
            <p:nvPr/>
          </p:nvSpPr>
          <p:spPr bwMode="auto">
            <a:xfrm>
              <a:off x="4587" y="2902"/>
              <a:ext cx="73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bg2"/>
                </a:buClr>
                <a:buSzPct val="75000"/>
                <a:buFont typeface="Wingdings" pitchFamily="2" charset="2"/>
                <a:buChar char="p"/>
                <a:defRPr sz="2800">
                  <a:solidFill>
                    <a:schemeClr val="tx1"/>
                  </a:solidFill>
                  <a:latin typeface="Verdana" pitchFamily="34"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9pPr>
            </a:lstStyle>
            <a:p>
              <a:pPr algn="ctr" eaLnBrk="1" hangingPunct="1">
                <a:spcBef>
                  <a:spcPct val="50000"/>
                </a:spcBef>
                <a:buClrTx/>
                <a:buSzTx/>
                <a:buFontTx/>
                <a:buNone/>
              </a:pPr>
              <a:r>
                <a:rPr lang="fr-FR" altLang="en-US" sz="1400" b="1">
                  <a:solidFill>
                    <a:srgbClr val="FF0000"/>
                  </a:solidFill>
                </a:rPr>
                <a:t>Eau</a:t>
              </a:r>
              <a:endParaRPr lang="fr-FR" altLang="en-US" sz="1400" b="1" baseline="-25000">
                <a:solidFill>
                  <a:srgbClr val="FF0000"/>
                </a:solidFill>
              </a:endParaRPr>
            </a:p>
          </p:txBody>
        </p:sp>
      </p:grpSp>
    </p:spTree>
    <p:extLst>
      <p:ext uri="{BB962C8B-B14F-4D97-AF65-F5344CB8AC3E}">
        <p14:creationId xmlns:p14="http://schemas.microsoft.com/office/powerpoint/2010/main" val="6166678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643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6437">
                                            <p:txEl>
                                              <p:pRg st="12" end="1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6437">
                                            <p:txEl>
                                              <p:pRg st="13" end="1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6437">
                                            <p:txEl>
                                              <p:pRg st="14" end="14"/>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4645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6438">
                                            <p:txEl>
                                              <p:pRg st="12" end="1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6438">
                                            <p:txEl>
                                              <p:pRg st="13" end="1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6438">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Crise de la biodiversité (1)</a:t>
            </a:r>
          </a:p>
        </p:txBody>
      </p:sp>
      <p:sp>
        <p:nvSpPr>
          <p:cNvPr id="5" name="Espace réservé du contenu 4"/>
          <p:cNvSpPr>
            <a:spLocks noGrp="1"/>
          </p:cNvSpPr>
          <p:nvPr>
            <p:ph sz="half" idx="1"/>
          </p:nvPr>
        </p:nvSpPr>
        <p:spPr>
          <a:xfrm>
            <a:off x="457200" y="1600200"/>
            <a:ext cx="4114800" cy="4530725"/>
          </a:xfrm>
        </p:spPr>
        <p:txBody>
          <a:bodyPr/>
          <a:lstStyle/>
          <a:p>
            <a:r>
              <a:rPr lang="fr-FR" sz="2400" dirty="0"/>
              <a:t>Extinctions d’espèces</a:t>
            </a:r>
          </a:p>
          <a:p>
            <a:r>
              <a:rPr lang="fr-FR" sz="2400" dirty="0"/>
              <a:t>Changements de distribution et d’abondance</a:t>
            </a:r>
          </a:p>
          <a:p>
            <a:pPr lvl="1"/>
            <a:r>
              <a:rPr lang="fr-FR" sz="2000" dirty="0"/>
              <a:t>Mammifères / 177 espèces; toutes ont perdu 30% ou plus de leur aire de distribution</a:t>
            </a:r>
          </a:p>
          <a:p>
            <a:pPr lvl="1"/>
            <a:r>
              <a:rPr lang="fr-FR" sz="2000" dirty="0"/>
              <a:t>Oiseaux : 30% de diminution d’abondance en 15 ans en France</a:t>
            </a:r>
          </a:p>
          <a:p>
            <a:pPr lvl="1"/>
            <a:r>
              <a:rPr lang="fr-FR" sz="2000" dirty="0"/>
              <a:t>Insectes : -75% en 30 ans en Allemagne</a:t>
            </a:r>
          </a:p>
        </p:txBody>
      </p:sp>
      <p:sp>
        <p:nvSpPr>
          <p:cNvPr id="6" name="Espace réservé du contenu 5"/>
          <p:cNvSpPr>
            <a:spLocks noGrp="1"/>
          </p:cNvSpPr>
          <p:nvPr>
            <p:ph sz="half" idx="2"/>
          </p:nvPr>
        </p:nvSpPr>
        <p:spPr/>
        <p:txBody>
          <a:bodyPr/>
          <a:lstStyle/>
          <a:p>
            <a:endParaRPr lang="fr-FR"/>
          </a:p>
        </p:txBody>
      </p:sp>
      <p:pic>
        <p:nvPicPr>
          <p:cNvPr id="4" name="Picture 3"/>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4504582" y="1772816"/>
            <a:ext cx="4504403" cy="39604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3"/>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770856" y="2445790"/>
            <a:ext cx="4121624" cy="37195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5" descr="https://duckduckgo.com/i/9ce505eb.jpg"/>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6992938" y="116632"/>
            <a:ext cx="2043558" cy="1536510"/>
          </a:xfrm>
          <a:prstGeom prst="rect">
            <a:avLst/>
          </a:prstGeom>
          <a:noFill/>
          <a:extLst>
            <a:ext uri="{909E8E84-426E-40DD-AFC4-6F175D3DCCD1}">
              <a14:hiddenFill xmlns:a14="http://schemas.microsoft.com/office/drawing/2010/main">
                <a:solidFill>
                  <a:srgbClr val="FFFFFF"/>
                </a:solidFill>
              </a14:hiddenFill>
            </a:ext>
          </a:extLst>
        </p:spPr>
      </p:pic>
      <p:sp>
        <p:nvSpPr>
          <p:cNvPr id="3" name="ZoneTexte 2"/>
          <p:cNvSpPr txBox="1"/>
          <p:nvPr/>
        </p:nvSpPr>
        <p:spPr>
          <a:xfrm>
            <a:off x="179512" y="6525344"/>
            <a:ext cx="4303312" cy="307777"/>
          </a:xfrm>
          <a:prstGeom prst="rect">
            <a:avLst/>
          </a:prstGeom>
          <a:noFill/>
        </p:spPr>
        <p:txBody>
          <a:bodyPr wrap="square" rtlCol="0">
            <a:spAutoFit/>
          </a:bodyPr>
          <a:lstStyle/>
          <a:p>
            <a:r>
              <a:rPr lang="fr-FR" sz="1400" dirty="0" err="1"/>
              <a:t>Ceballos</a:t>
            </a:r>
            <a:r>
              <a:rPr lang="fr-FR" sz="1400" dirty="0"/>
              <a:t> et al. 2017; </a:t>
            </a:r>
            <a:r>
              <a:rPr lang="fr-FR" sz="1400" dirty="0" err="1"/>
              <a:t>Hallmann</a:t>
            </a:r>
            <a:r>
              <a:rPr lang="fr-FR" sz="1400" dirty="0"/>
              <a:t> et al. 2017</a:t>
            </a:r>
          </a:p>
        </p:txBody>
      </p:sp>
    </p:spTree>
    <p:extLst>
      <p:ext uri="{BB962C8B-B14F-4D97-AF65-F5344CB8AC3E}">
        <p14:creationId xmlns:p14="http://schemas.microsoft.com/office/powerpoint/2010/main" val="906832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7"/>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8"/>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Crise de la biodiversité (2)</a:t>
            </a:r>
          </a:p>
        </p:txBody>
      </p:sp>
      <p:sp>
        <p:nvSpPr>
          <p:cNvPr id="5" name="Espace réservé du contenu 4"/>
          <p:cNvSpPr>
            <a:spLocks noGrp="1"/>
          </p:cNvSpPr>
          <p:nvPr>
            <p:ph sz="half" idx="1"/>
          </p:nvPr>
        </p:nvSpPr>
        <p:spPr>
          <a:xfrm>
            <a:off x="457200" y="1600200"/>
            <a:ext cx="4114800" cy="4530725"/>
          </a:xfrm>
        </p:spPr>
        <p:txBody>
          <a:bodyPr/>
          <a:lstStyle/>
          <a:p>
            <a:r>
              <a:rPr lang="fr-FR" sz="2200" dirty="0"/>
              <a:t>Changements de fonctionnement</a:t>
            </a:r>
          </a:p>
          <a:p>
            <a:pPr lvl="1"/>
            <a:r>
              <a:rPr lang="fr-FR" sz="1800" dirty="0"/>
              <a:t>Modification des communautés</a:t>
            </a:r>
          </a:p>
          <a:p>
            <a:pPr lvl="2"/>
            <a:r>
              <a:rPr lang="fr-FR" sz="1400" dirty="0"/>
              <a:t>Espèces affectées selon leur niveau trophique, spécialisation écologique, etc… </a:t>
            </a:r>
          </a:p>
          <a:p>
            <a:endParaRPr lang="fr-FR" sz="2400" dirty="0"/>
          </a:p>
        </p:txBody>
      </p:sp>
      <p:sp>
        <p:nvSpPr>
          <p:cNvPr id="9" name="Espace réservé du contenu 5"/>
          <p:cNvSpPr>
            <a:spLocks noGrp="1"/>
          </p:cNvSpPr>
          <p:nvPr>
            <p:ph sz="half" idx="2"/>
          </p:nvPr>
        </p:nvSpPr>
        <p:spPr>
          <a:xfrm>
            <a:off x="4509970" y="1600200"/>
            <a:ext cx="4719089" cy="4530725"/>
          </a:xfrm>
        </p:spPr>
        <p:txBody>
          <a:bodyPr/>
          <a:lstStyle/>
          <a:p>
            <a:pPr lvl="1"/>
            <a:r>
              <a:rPr lang="fr-FR" sz="1800" dirty="0"/>
              <a:t>Basculement (catastrophiques) d’écosystèmes</a:t>
            </a:r>
          </a:p>
          <a:p>
            <a:pPr lvl="1"/>
            <a:endParaRPr lang="fr-FR" sz="1800" dirty="0"/>
          </a:p>
          <a:p>
            <a:pPr lvl="1"/>
            <a:endParaRPr lang="fr-FR" sz="1800" dirty="0"/>
          </a:p>
          <a:p>
            <a:pPr lvl="1"/>
            <a:endParaRPr lang="fr-FR" sz="1800" dirty="0"/>
          </a:p>
          <a:p>
            <a:pPr lvl="1"/>
            <a:endParaRPr lang="fr-FR" sz="1800" dirty="0"/>
          </a:p>
          <a:p>
            <a:pPr lvl="1"/>
            <a:endParaRPr lang="fr-FR" sz="1800" dirty="0"/>
          </a:p>
          <a:p>
            <a:pPr lvl="1"/>
            <a:endParaRPr lang="fr-FR" sz="1800" dirty="0"/>
          </a:p>
          <a:p>
            <a:pPr lvl="1"/>
            <a:endParaRPr lang="fr-FR" sz="1800" dirty="0"/>
          </a:p>
          <a:p>
            <a:pPr lvl="1"/>
            <a:endParaRPr lang="fr-FR" sz="1800" dirty="0"/>
          </a:p>
          <a:p>
            <a:pPr lvl="1"/>
            <a:r>
              <a:rPr lang="fr-FR" sz="1800" dirty="0"/>
              <a:t>Exemples :</a:t>
            </a:r>
          </a:p>
          <a:p>
            <a:pPr lvl="2"/>
            <a:r>
              <a:rPr lang="fr-FR" sz="1400" dirty="0"/>
              <a:t>Eutrophisation</a:t>
            </a:r>
          </a:p>
          <a:p>
            <a:pPr lvl="2"/>
            <a:r>
              <a:rPr lang="fr-FR" sz="1400" dirty="0"/>
              <a:t>Forêts/prairies</a:t>
            </a:r>
          </a:p>
          <a:p>
            <a:pPr lvl="2"/>
            <a:r>
              <a:rPr lang="fr-FR" sz="1400" dirty="0"/>
              <a:t>Désertification</a:t>
            </a:r>
          </a:p>
        </p:txBody>
      </p:sp>
      <p:pic>
        <p:nvPicPr>
          <p:cNvPr id="14" name="Picture 4"/>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636071" y="3839580"/>
            <a:ext cx="3521259" cy="2722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6" name="Picture 2"/>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454501" y="2287356"/>
            <a:ext cx="3125973" cy="25576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ZoneTexte 2"/>
          <p:cNvSpPr txBox="1"/>
          <p:nvPr/>
        </p:nvSpPr>
        <p:spPr>
          <a:xfrm>
            <a:off x="6868638" y="2154651"/>
            <a:ext cx="2052083" cy="276999"/>
          </a:xfrm>
          <a:prstGeom prst="rect">
            <a:avLst/>
          </a:prstGeom>
          <a:noFill/>
        </p:spPr>
        <p:txBody>
          <a:bodyPr wrap="square" rtlCol="0">
            <a:spAutoFit/>
          </a:bodyPr>
          <a:lstStyle/>
          <a:p>
            <a:r>
              <a:rPr lang="fr-FR" sz="1200" dirty="0"/>
              <a:t>Scheffer et al. 2001</a:t>
            </a:r>
          </a:p>
        </p:txBody>
      </p:sp>
      <p:pic>
        <p:nvPicPr>
          <p:cNvPr id="15" name="Picture 4"/>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7369574" y="4844970"/>
            <a:ext cx="1675673" cy="1793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68020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14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xEl>
                                              <p:pRg st="11" end="1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xEl>
                                              <p:pRg st="12" end="1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Dépendance des sociétés humaines vis-à-vis de la biodiversité/nature</a:t>
            </a:r>
          </a:p>
        </p:txBody>
      </p:sp>
      <p:sp>
        <p:nvSpPr>
          <p:cNvPr id="3" name="Espace réservé du contenu 2"/>
          <p:cNvSpPr>
            <a:spLocks noGrp="1"/>
          </p:cNvSpPr>
          <p:nvPr>
            <p:ph sz="half" idx="1"/>
          </p:nvPr>
        </p:nvSpPr>
        <p:spPr/>
        <p:txBody>
          <a:bodyPr/>
          <a:lstStyle/>
          <a:p>
            <a:r>
              <a:rPr lang="fr-FR" sz="2400" dirty="0"/>
              <a:t>Besoins d’un être humain</a:t>
            </a:r>
          </a:p>
        </p:txBody>
      </p:sp>
      <p:sp>
        <p:nvSpPr>
          <p:cNvPr id="4" name="Espace réservé du contenu 3"/>
          <p:cNvSpPr>
            <a:spLocks noGrp="1"/>
          </p:cNvSpPr>
          <p:nvPr>
            <p:ph sz="half" idx="2"/>
          </p:nvPr>
        </p:nvSpPr>
        <p:spPr/>
        <p:txBody>
          <a:bodyPr/>
          <a:lstStyle/>
          <a:p>
            <a:r>
              <a:rPr lang="fr-FR" sz="2400" dirty="0"/>
              <a:t>Limites planétaires</a:t>
            </a:r>
          </a:p>
          <a:p>
            <a:endParaRPr lang="fr-FR" sz="2400" dirty="0"/>
          </a:p>
          <a:p>
            <a:endParaRPr lang="fr-FR" sz="2400" dirty="0"/>
          </a:p>
          <a:p>
            <a:endParaRPr lang="fr-FR" sz="2400" dirty="0"/>
          </a:p>
          <a:p>
            <a:endParaRPr lang="fr-FR" sz="2400" dirty="0"/>
          </a:p>
          <a:p>
            <a:endParaRPr lang="fr-FR" sz="2400" dirty="0"/>
          </a:p>
          <a:p>
            <a:endParaRPr lang="fr-FR" sz="2400" dirty="0"/>
          </a:p>
          <a:p>
            <a:endParaRPr lang="fr-FR" sz="2400" dirty="0"/>
          </a:p>
          <a:p>
            <a:endParaRPr lang="fr-FR" sz="2400" dirty="0"/>
          </a:p>
          <a:p>
            <a:pPr marL="0" indent="0">
              <a:buNone/>
            </a:pPr>
            <a:r>
              <a:rPr lang="fr-FR" sz="2400" dirty="0">
                <a:sym typeface="Wingdings"/>
              </a:rPr>
              <a:t> </a:t>
            </a:r>
            <a:r>
              <a:rPr lang="fr-FR" sz="2400" dirty="0"/>
              <a:t>Quelles conséquences des changements de biodiversité ?</a:t>
            </a:r>
          </a:p>
        </p:txBody>
      </p:sp>
      <p:sp>
        <p:nvSpPr>
          <p:cNvPr id="5" name="ZoneTexte 4"/>
          <p:cNvSpPr txBox="1"/>
          <p:nvPr/>
        </p:nvSpPr>
        <p:spPr>
          <a:xfrm>
            <a:off x="2961519" y="2558534"/>
            <a:ext cx="662717" cy="369332"/>
          </a:xfrm>
          <a:prstGeom prst="rect">
            <a:avLst/>
          </a:prstGeom>
          <a:noFill/>
        </p:spPr>
        <p:txBody>
          <a:bodyPr wrap="square" rtlCol="0">
            <a:spAutoFit/>
          </a:bodyPr>
          <a:lstStyle/>
          <a:p>
            <a:pPr algn="ctr"/>
            <a:r>
              <a:rPr lang="fr-FR" b="1" dirty="0">
                <a:solidFill>
                  <a:srgbClr val="00B0F0"/>
                </a:solidFill>
              </a:rPr>
              <a:t>0</a:t>
            </a:r>
            <a:r>
              <a:rPr lang="fr-FR" b="1" baseline="-25000" dirty="0">
                <a:solidFill>
                  <a:srgbClr val="00B0F0"/>
                </a:solidFill>
              </a:rPr>
              <a:t>2</a:t>
            </a:r>
          </a:p>
        </p:txBody>
      </p:sp>
      <p:pic>
        <p:nvPicPr>
          <p:cNvPr id="1028" name="Picture 4" descr="https://allergylosangeles.com/wp-content/uploads/2014/09/food-pyramid.jpg"/>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1328759" y="4074422"/>
            <a:ext cx="2910675" cy="2578858"/>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NomadDesign: Transgender icon and graphics"/>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295240" y="2756848"/>
            <a:ext cx="1853484" cy="2781964"/>
          </a:xfrm>
          <a:prstGeom prst="rect">
            <a:avLst/>
          </a:prstGeom>
          <a:noFill/>
          <a:extLst>
            <a:ext uri="{909E8E84-426E-40DD-AFC4-6F175D3DCCD1}">
              <a14:hiddenFill xmlns:a14="http://schemas.microsoft.com/office/drawing/2010/main">
                <a:solidFill>
                  <a:srgbClr val="FFFFFF"/>
                </a:solidFill>
              </a14:hiddenFill>
            </a:ext>
          </a:extLst>
        </p:spPr>
      </p:pic>
      <p:cxnSp>
        <p:nvCxnSpPr>
          <p:cNvPr id="7" name="Connecteur en arc 6"/>
          <p:cNvCxnSpPr>
            <a:stCxn id="1028" idx="0"/>
          </p:cNvCxnSpPr>
          <p:nvPr/>
        </p:nvCxnSpPr>
        <p:spPr>
          <a:xfrm rot="16200000" flipV="1">
            <a:off x="1832328" y="3122652"/>
            <a:ext cx="948242" cy="955297"/>
          </a:xfrm>
          <a:prstGeom prst="curvedConnector2">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Connecteur en arc 10"/>
          <p:cNvCxnSpPr/>
          <p:nvPr/>
        </p:nvCxnSpPr>
        <p:spPr>
          <a:xfrm rot="10800000" flipV="1">
            <a:off x="1828800" y="2756847"/>
            <a:ext cx="1255594" cy="198031"/>
          </a:xfrm>
          <a:prstGeom prst="curvedConnector3">
            <a:avLst>
              <a:gd name="adj1" fmla="val 50000"/>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7170" name="Picture 2" descr="C:\Users\Emmanuelle PORCHER\AppData\Local\Microsoft\Windows\Temporary Internet Files\Content.IE5\LEBEU1CZ\planet-earth-1457453_960_720[1].png"/>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621803" y="1556507"/>
            <a:ext cx="4299466" cy="42994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062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2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17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Apparition de la notion de service écosystémique</a:t>
            </a:r>
          </a:p>
        </p:txBody>
      </p:sp>
      <p:sp>
        <p:nvSpPr>
          <p:cNvPr id="5" name="Espace réservé du contenu 4"/>
          <p:cNvSpPr>
            <a:spLocks noGrp="1"/>
          </p:cNvSpPr>
          <p:nvPr>
            <p:ph sz="half" idx="1"/>
          </p:nvPr>
        </p:nvSpPr>
        <p:spPr/>
        <p:txBody>
          <a:bodyPr/>
          <a:lstStyle/>
          <a:p>
            <a:r>
              <a:rPr lang="fr-FR" sz="2000" dirty="0"/>
              <a:t>Services de la nature, services écologiques, services environnementaux…</a:t>
            </a:r>
          </a:p>
          <a:p>
            <a:endParaRPr lang="fr-FR" sz="2000" dirty="0"/>
          </a:p>
          <a:p>
            <a:r>
              <a:rPr lang="fr-FR" sz="2000" dirty="0"/>
              <a:t>Définition : </a:t>
            </a:r>
            <a:r>
              <a:rPr lang="fr-FR" sz="2000" b="1" dirty="0"/>
              <a:t>Bénéfices que les humains tirent des écosystèmes</a:t>
            </a:r>
          </a:p>
          <a:p>
            <a:endParaRPr lang="fr-FR" sz="2000" dirty="0"/>
          </a:p>
          <a:p>
            <a:r>
              <a:rPr lang="fr-FR" sz="2000" dirty="0"/>
              <a:t>Rend compte de la dépendance des êtres humains vis-à-vis de la biodiversité</a:t>
            </a:r>
          </a:p>
          <a:p>
            <a:endParaRPr lang="fr-FR" sz="2000" dirty="0"/>
          </a:p>
        </p:txBody>
      </p:sp>
      <p:pic>
        <p:nvPicPr>
          <p:cNvPr id="2050" name="Picture 2" descr="https://images-na.ssl-images-amazon.com/images/I/61YIcPL0DbL.jpg"/>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4932527" y="930165"/>
            <a:ext cx="3785804" cy="57187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51952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fr-FR" altLang="en-US"/>
              <a:t>Valeur instrumentale (utilitaire)</a:t>
            </a:r>
          </a:p>
        </p:txBody>
      </p:sp>
      <p:sp>
        <p:nvSpPr>
          <p:cNvPr id="47107" name="Rectangle 3"/>
          <p:cNvSpPr>
            <a:spLocks noGrp="1" noChangeArrowheads="1"/>
          </p:cNvSpPr>
          <p:nvPr>
            <p:ph type="body" sz="half" idx="1"/>
          </p:nvPr>
        </p:nvSpPr>
        <p:spPr>
          <a:xfrm>
            <a:off x="330200" y="1600200"/>
            <a:ext cx="4038600" cy="4530725"/>
          </a:xfrm>
        </p:spPr>
        <p:txBody>
          <a:bodyPr/>
          <a:lstStyle/>
          <a:p>
            <a:pPr eaLnBrk="1" hangingPunct="1"/>
            <a:r>
              <a:rPr lang="fr-FR" altLang="en-US" sz="2000" dirty="0"/>
              <a:t>Les sociétés humaines sont très sensibles aux changements de l’environnement</a:t>
            </a:r>
          </a:p>
          <a:p>
            <a:pPr eaLnBrk="1" hangingPunct="1"/>
            <a:endParaRPr lang="fr-FR" altLang="en-US" sz="2000" dirty="0"/>
          </a:p>
          <a:p>
            <a:r>
              <a:rPr lang="fr-FR" altLang="en-US" sz="2000" dirty="0"/>
              <a:t>Quel impact des changements de la biodiversité et des services écosystémiques ?</a:t>
            </a:r>
          </a:p>
        </p:txBody>
      </p:sp>
      <p:grpSp>
        <p:nvGrpSpPr>
          <p:cNvPr id="35846" name="Group 6"/>
          <p:cNvGrpSpPr>
            <a:grpSpLocks/>
          </p:cNvGrpSpPr>
          <p:nvPr/>
        </p:nvGrpSpPr>
        <p:grpSpPr bwMode="auto">
          <a:xfrm>
            <a:off x="4470400" y="1670050"/>
            <a:ext cx="4622800" cy="5137150"/>
            <a:chOff x="2816" y="1052"/>
            <a:chExt cx="2912" cy="3236"/>
          </a:xfrm>
        </p:grpSpPr>
        <p:pic>
          <p:nvPicPr>
            <p:cNvPr id="47109" name="Picture 4"/>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816" y="1052"/>
              <a:ext cx="2895" cy="2779"/>
            </a:xfrm>
            <a:prstGeom prst="rect">
              <a:avLst/>
            </a:prstGeom>
            <a:noFill/>
            <a:ln>
              <a:noFill/>
            </a:ln>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Lst>
          </p:spPr>
        </p:pic>
        <p:sp>
          <p:nvSpPr>
            <p:cNvPr id="47110" name="Text Box 5"/>
            <p:cNvSpPr txBox="1">
              <a:spLocks noChangeArrowheads="1"/>
            </p:cNvSpPr>
            <p:nvPr/>
          </p:nvSpPr>
          <p:spPr bwMode="auto">
            <a:xfrm>
              <a:off x="4336" y="4096"/>
              <a:ext cx="139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bg2"/>
                </a:buClr>
                <a:buSzPct val="75000"/>
                <a:buFont typeface="Wingdings" pitchFamily="2" charset="2"/>
                <a:buChar char="p"/>
                <a:defRPr sz="2800">
                  <a:solidFill>
                    <a:schemeClr val="tx1"/>
                  </a:solidFill>
                  <a:latin typeface="Verdana" pitchFamily="34"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9pPr>
            </a:lstStyle>
            <a:p>
              <a:pPr algn="ctr" eaLnBrk="1" hangingPunct="1">
                <a:spcBef>
                  <a:spcPct val="50000"/>
                </a:spcBef>
                <a:buClrTx/>
                <a:buSzTx/>
                <a:buFontTx/>
                <a:buNone/>
              </a:pPr>
              <a:r>
                <a:rPr lang="fr-FR" altLang="en-US" sz="1400" i="1"/>
                <a:t>Zhang et al. 2007</a:t>
              </a:r>
            </a:p>
          </p:txBody>
        </p:sp>
      </p:grpSp>
    </p:spTree>
    <p:extLst>
      <p:ext uri="{BB962C8B-B14F-4D97-AF65-F5344CB8AC3E}">
        <p14:creationId xmlns:p14="http://schemas.microsoft.com/office/powerpoint/2010/main" val="342512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58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0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a:t>Millennium Ecosystem Assessment</a:t>
            </a:r>
          </a:p>
        </p:txBody>
      </p:sp>
      <p:sp>
        <p:nvSpPr>
          <p:cNvPr id="3" name="Espace réservé du contenu 2"/>
          <p:cNvSpPr>
            <a:spLocks noGrp="1"/>
          </p:cNvSpPr>
          <p:nvPr>
            <p:ph sz="half" idx="1"/>
          </p:nvPr>
        </p:nvSpPr>
        <p:spPr/>
        <p:txBody>
          <a:bodyPr/>
          <a:lstStyle/>
          <a:p>
            <a:r>
              <a:rPr lang="fr-FR" sz="2000" dirty="0"/>
              <a:t>A la demande des Nations-Unies (2000)</a:t>
            </a:r>
          </a:p>
        </p:txBody>
      </p:sp>
      <p:sp>
        <p:nvSpPr>
          <p:cNvPr id="4" name="Espace réservé du contenu 3"/>
          <p:cNvSpPr>
            <a:spLocks noGrp="1"/>
          </p:cNvSpPr>
          <p:nvPr>
            <p:ph sz="half" idx="2"/>
          </p:nvPr>
        </p:nvSpPr>
        <p:spPr/>
        <p:txBody>
          <a:bodyPr/>
          <a:lstStyle/>
          <a:p>
            <a:r>
              <a:rPr lang="fr-FR" altLang="en-US" sz="2000" dirty="0"/>
              <a:t>Bilan mondial de l’état des écosystèmes</a:t>
            </a:r>
          </a:p>
          <a:p>
            <a:pPr lvl="1"/>
            <a:r>
              <a:rPr lang="fr-FR" altLang="en-US" sz="1800" dirty="0"/>
              <a:t>&gt;1300 experts </a:t>
            </a:r>
          </a:p>
          <a:p>
            <a:pPr lvl="1"/>
            <a:r>
              <a:rPr lang="fr-FR" altLang="en-US" sz="1800" dirty="0"/>
              <a:t>1</a:t>
            </a:r>
            <a:r>
              <a:rPr lang="fr-FR" altLang="en-US" sz="1800" baseline="30000" dirty="0"/>
              <a:t>er</a:t>
            </a:r>
            <a:r>
              <a:rPr lang="fr-FR" altLang="en-US" sz="1800" dirty="0"/>
              <a:t> rapport en 2005 </a:t>
            </a:r>
          </a:p>
          <a:p>
            <a:pPr lvl="1"/>
            <a:endParaRPr lang="fr-FR" altLang="en-US" sz="1800" dirty="0"/>
          </a:p>
          <a:p>
            <a:r>
              <a:rPr lang="fr-FR" altLang="en-US" sz="2000" dirty="0"/>
              <a:t>Répertorie les services écosystémiques majeurs en quatre catégories</a:t>
            </a:r>
          </a:p>
          <a:p>
            <a:pPr lvl="1"/>
            <a:r>
              <a:rPr lang="fr-FR" altLang="en-US" sz="1800" dirty="0"/>
              <a:t>De l’ordre de 24 services</a:t>
            </a:r>
          </a:p>
          <a:p>
            <a:pPr lvl="1"/>
            <a:endParaRPr lang="fr-FR" altLang="en-US" sz="1600" dirty="0"/>
          </a:p>
          <a:p>
            <a:r>
              <a:rPr lang="fr-FR" altLang="en-US" sz="2000" dirty="0"/>
              <a:t>Evalue leur tendance temporelle</a:t>
            </a:r>
          </a:p>
          <a:p>
            <a:pPr lvl="1"/>
            <a:endParaRPr lang="fr-FR" altLang="en-US" sz="1600" dirty="0"/>
          </a:p>
          <a:p>
            <a:r>
              <a:rPr lang="fr-FR" altLang="en-US" sz="2000" dirty="0"/>
              <a:t>Propose quatre grands types de scénarios pour 2050</a:t>
            </a:r>
          </a:p>
          <a:p>
            <a:pPr marL="0" indent="0">
              <a:buNone/>
            </a:pPr>
            <a:endParaRPr lang="fr-FR" dirty="0"/>
          </a:p>
        </p:txBody>
      </p:sp>
      <p:pic>
        <p:nvPicPr>
          <p:cNvPr id="8198" name="Picture 6" descr="Biodiversity | WWF"/>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559612" y="2490602"/>
            <a:ext cx="3684906" cy="360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6204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19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AutoShape 2"/>
          <p:cNvSpPr>
            <a:spLocks noChangeArrowheads="1"/>
          </p:cNvSpPr>
          <p:nvPr/>
        </p:nvSpPr>
        <p:spPr bwMode="auto">
          <a:xfrm rot="3510678">
            <a:off x="4389438" y="1581150"/>
            <a:ext cx="298450" cy="5302250"/>
          </a:xfrm>
          <a:prstGeom prst="downArrow">
            <a:avLst>
              <a:gd name="adj1" fmla="val 50000"/>
              <a:gd name="adj2" fmla="val 444149"/>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bg2"/>
              </a:buClr>
              <a:buSzPct val="75000"/>
              <a:buFont typeface="Wingdings" pitchFamily="2" charset="2"/>
              <a:buChar char="p"/>
              <a:defRPr sz="2800">
                <a:solidFill>
                  <a:schemeClr val="tx1"/>
                </a:solidFill>
                <a:latin typeface="Verdana" pitchFamily="34"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9pPr>
          </a:lstStyle>
          <a:p>
            <a:pPr eaLnBrk="1" hangingPunct="1">
              <a:spcBef>
                <a:spcPct val="0"/>
              </a:spcBef>
              <a:buClrTx/>
              <a:buSzTx/>
              <a:buFontTx/>
              <a:buNone/>
            </a:pPr>
            <a:endParaRPr lang="en-US" altLang="en-US" sz="1800"/>
          </a:p>
        </p:txBody>
      </p:sp>
      <p:sp>
        <p:nvSpPr>
          <p:cNvPr id="48131" name="Rectangle 3"/>
          <p:cNvSpPr>
            <a:spLocks noGrp="1" noChangeArrowheads="1"/>
          </p:cNvSpPr>
          <p:nvPr>
            <p:ph type="title"/>
          </p:nvPr>
        </p:nvSpPr>
        <p:spPr/>
        <p:txBody>
          <a:bodyPr/>
          <a:lstStyle/>
          <a:p>
            <a:pPr eaLnBrk="1" hangingPunct="1"/>
            <a:r>
              <a:rPr lang="fr-FR" altLang="en-US" sz="4000"/>
              <a:t>Les différents types de services écosystémiques</a:t>
            </a:r>
          </a:p>
        </p:txBody>
      </p:sp>
      <p:sp>
        <p:nvSpPr>
          <p:cNvPr id="48132" name="Rectangle 4"/>
          <p:cNvSpPr>
            <a:spLocks noChangeArrowheads="1"/>
          </p:cNvSpPr>
          <p:nvPr/>
        </p:nvSpPr>
        <p:spPr bwMode="auto">
          <a:xfrm>
            <a:off x="6627813" y="1573213"/>
            <a:ext cx="2478087" cy="161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chemeClr val="bg2"/>
              </a:buClr>
              <a:buSzPct val="75000"/>
              <a:buFont typeface="Wingdings" pitchFamily="2" charset="2"/>
              <a:buChar char="p"/>
              <a:defRPr sz="2800">
                <a:solidFill>
                  <a:schemeClr val="tx1"/>
                </a:solidFill>
                <a:latin typeface="Verdana" pitchFamily="34"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9pPr>
          </a:lstStyle>
          <a:p>
            <a:pPr algn="ctr" eaLnBrk="1" hangingPunct="1">
              <a:spcBef>
                <a:spcPct val="0"/>
              </a:spcBef>
              <a:buClrTx/>
              <a:buSzTx/>
              <a:buFontTx/>
              <a:buNone/>
            </a:pPr>
            <a:r>
              <a:rPr lang="fr-FR" altLang="en-US" sz="2000" b="1">
                <a:solidFill>
                  <a:schemeClr val="accent1"/>
                </a:solidFill>
              </a:rPr>
              <a:t>Support</a:t>
            </a:r>
          </a:p>
          <a:p>
            <a:pPr algn="ctr" eaLnBrk="1" hangingPunct="1">
              <a:spcBef>
                <a:spcPct val="0"/>
              </a:spcBef>
              <a:buClrTx/>
              <a:buSzTx/>
              <a:buFontTx/>
              <a:buNone/>
            </a:pPr>
            <a:r>
              <a:rPr lang="fr-FR" altLang="en-US" sz="1600"/>
              <a:t>Production primaire</a:t>
            </a:r>
          </a:p>
          <a:p>
            <a:pPr algn="ctr" eaLnBrk="1" hangingPunct="1">
              <a:spcBef>
                <a:spcPct val="0"/>
              </a:spcBef>
              <a:buClrTx/>
              <a:buSzTx/>
              <a:buFontTx/>
              <a:buNone/>
            </a:pPr>
            <a:r>
              <a:rPr lang="fr-FR" altLang="en-US" sz="1600"/>
              <a:t>Recyclage ; Fertilité des sols ; Pollinisation Habitat pour les espèces</a:t>
            </a:r>
          </a:p>
        </p:txBody>
      </p:sp>
      <p:sp>
        <p:nvSpPr>
          <p:cNvPr id="48133" name="Rectangle 5"/>
          <p:cNvSpPr>
            <a:spLocks noChangeArrowheads="1"/>
          </p:cNvSpPr>
          <p:nvPr/>
        </p:nvSpPr>
        <p:spPr bwMode="auto">
          <a:xfrm>
            <a:off x="6462713" y="3706813"/>
            <a:ext cx="2820987" cy="284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chemeClr val="bg2"/>
              </a:buClr>
              <a:buSzPct val="75000"/>
              <a:buFont typeface="Wingdings" pitchFamily="2" charset="2"/>
              <a:buChar char="p"/>
              <a:defRPr sz="2800">
                <a:solidFill>
                  <a:schemeClr val="tx1"/>
                </a:solidFill>
                <a:latin typeface="Verdana" pitchFamily="34"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9pPr>
          </a:lstStyle>
          <a:p>
            <a:pPr algn="ctr" eaLnBrk="1" hangingPunct="1">
              <a:spcBef>
                <a:spcPct val="0"/>
              </a:spcBef>
              <a:buClrTx/>
              <a:buSzTx/>
              <a:buFontTx/>
              <a:buNone/>
            </a:pPr>
            <a:r>
              <a:rPr lang="fr-FR" altLang="en-US" sz="1600"/>
              <a:t>Régulation du climat</a:t>
            </a:r>
          </a:p>
          <a:p>
            <a:pPr algn="ctr" eaLnBrk="1" hangingPunct="1">
              <a:spcBef>
                <a:spcPct val="0"/>
              </a:spcBef>
              <a:buClrTx/>
              <a:buSzTx/>
              <a:buFontTx/>
              <a:buNone/>
            </a:pPr>
            <a:r>
              <a:rPr lang="fr-FR" altLang="en-US" sz="1600"/>
              <a:t>Purification des eaux </a:t>
            </a:r>
          </a:p>
          <a:p>
            <a:pPr algn="ctr" eaLnBrk="1" hangingPunct="1">
              <a:spcBef>
                <a:spcPct val="0"/>
              </a:spcBef>
              <a:buClrTx/>
              <a:buSzTx/>
              <a:buFontTx/>
              <a:buNone/>
            </a:pPr>
            <a:r>
              <a:rPr lang="fr-FR" altLang="en-US" sz="1600"/>
              <a:t>et de l’air ; Régulation </a:t>
            </a:r>
          </a:p>
          <a:p>
            <a:pPr algn="ctr" eaLnBrk="1" hangingPunct="1">
              <a:spcBef>
                <a:spcPct val="0"/>
              </a:spcBef>
              <a:buClrTx/>
              <a:buSzTx/>
              <a:buFontTx/>
              <a:buNone/>
            </a:pPr>
            <a:r>
              <a:rPr lang="fr-FR" altLang="en-US" sz="1600"/>
              <a:t>des flux hydriques ; Atténuation des pertur-bations ; Contrôle de l’érosion ; Contrôle biologique ; Prévention des épidémies</a:t>
            </a:r>
          </a:p>
          <a:p>
            <a:pPr algn="ctr" eaLnBrk="1" hangingPunct="1">
              <a:spcBef>
                <a:spcPct val="0"/>
              </a:spcBef>
              <a:buClrTx/>
              <a:buSzTx/>
              <a:buFontTx/>
              <a:buNone/>
            </a:pPr>
            <a:r>
              <a:rPr lang="fr-FR" altLang="en-US" sz="1800" b="1">
                <a:solidFill>
                  <a:schemeClr val="accent1"/>
                </a:solidFill>
              </a:rPr>
              <a:t>Régulation </a:t>
            </a:r>
          </a:p>
          <a:p>
            <a:pPr algn="ctr" eaLnBrk="1" hangingPunct="1">
              <a:spcBef>
                <a:spcPct val="0"/>
              </a:spcBef>
              <a:buClrTx/>
              <a:buSzTx/>
              <a:buFontTx/>
              <a:buNone/>
            </a:pPr>
            <a:r>
              <a:rPr lang="fr-FR" altLang="en-US" sz="1800" b="1">
                <a:solidFill>
                  <a:schemeClr val="accent1"/>
                </a:solidFill>
              </a:rPr>
              <a:t>Environnementale</a:t>
            </a:r>
          </a:p>
        </p:txBody>
      </p:sp>
      <p:sp>
        <p:nvSpPr>
          <p:cNvPr id="48134" name="Rectangle 6"/>
          <p:cNvSpPr>
            <a:spLocks noChangeArrowheads="1"/>
          </p:cNvSpPr>
          <p:nvPr/>
        </p:nvSpPr>
        <p:spPr bwMode="auto">
          <a:xfrm>
            <a:off x="379413" y="5483225"/>
            <a:ext cx="2478087" cy="1130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chemeClr val="bg2"/>
              </a:buClr>
              <a:buSzPct val="75000"/>
              <a:buFont typeface="Wingdings" pitchFamily="2" charset="2"/>
              <a:buChar char="p"/>
              <a:defRPr sz="2800">
                <a:solidFill>
                  <a:schemeClr val="tx1"/>
                </a:solidFill>
                <a:latin typeface="Verdana" pitchFamily="34"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9pPr>
          </a:lstStyle>
          <a:p>
            <a:pPr algn="ctr" eaLnBrk="1" hangingPunct="1">
              <a:spcBef>
                <a:spcPct val="0"/>
              </a:spcBef>
              <a:buClrTx/>
              <a:buSzTx/>
              <a:buFontTx/>
              <a:buNone/>
            </a:pPr>
            <a:r>
              <a:rPr lang="fr-FR" altLang="en-US" sz="2000" b="1">
                <a:solidFill>
                  <a:schemeClr val="accent1"/>
                </a:solidFill>
              </a:rPr>
              <a:t>Culture</a:t>
            </a:r>
          </a:p>
          <a:p>
            <a:pPr algn="ctr" eaLnBrk="1" hangingPunct="1">
              <a:spcBef>
                <a:spcPct val="0"/>
              </a:spcBef>
              <a:buClrTx/>
              <a:buSzTx/>
              <a:buFontTx/>
              <a:buNone/>
            </a:pPr>
            <a:r>
              <a:rPr lang="fr-FR" altLang="en-US" sz="1600"/>
              <a:t>Écotourisme ; Loisirs</a:t>
            </a:r>
          </a:p>
          <a:p>
            <a:pPr algn="ctr" eaLnBrk="1" hangingPunct="1">
              <a:spcBef>
                <a:spcPct val="0"/>
              </a:spcBef>
              <a:buClrTx/>
              <a:buSzTx/>
              <a:buFontTx/>
              <a:buNone/>
            </a:pPr>
            <a:r>
              <a:rPr lang="fr-FR" altLang="en-US" sz="1600"/>
              <a:t>Éthique ; Esthétique</a:t>
            </a:r>
          </a:p>
          <a:p>
            <a:pPr algn="ctr" eaLnBrk="1" hangingPunct="1">
              <a:spcBef>
                <a:spcPct val="0"/>
              </a:spcBef>
              <a:buClrTx/>
              <a:buSzTx/>
              <a:buFontTx/>
              <a:buNone/>
            </a:pPr>
            <a:r>
              <a:rPr lang="fr-FR" altLang="en-US" sz="1600"/>
              <a:t>Éducation</a:t>
            </a:r>
          </a:p>
        </p:txBody>
      </p:sp>
      <p:sp>
        <p:nvSpPr>
          <p:cNvPr id="48135" name="Rectangle 7"/>
          <p:cNvSpPr>
            <a:spLocks noChangeArrowheads="1"/>
          </p:cNvSpPr>
          <p:nvPr/>
        </p:nvSpPr>
        <p:spPr bwMode="auto">
          <a:xfrm>
            <a:off x="100013" y="1636713"/>
            <a:ext cx="3113087" cy="186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spcBef>
                <a:spcPct val="20000"/>
              </a:spcBef>
              <a:buClr>
                <a:schemeClr val="bg2"/>
              </a:buClr>
              <a:buSzPct val="75000"/>
              <a:buFont typeface="Wingdings" pitchFamily="2" charset="2"/>
              <a:buChar char="p"/>
              <a:defRPr sz="2800">
                <a:solidFill>
                  <a:schemeClr val="tx1"/>
                </a:solidFill>
                <a:latin typeface="Verdana" pitchFamily="34"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9pPr>
          </a:lstStyle>
          <a:p>
            <a:pPr algn="ctr" eaLnBrk="1" hangingPunct="1">
              <a:spcBef>
                <a:spcPct val="0"/>
              </a:spcBef>
              <a:buClrTx/>
              <a:buSzTx/>
              <a:buFontTx/>
              <a:buNone/>
            </a:pPr>
            <a:r>
              <a:rPr lang="fr-FR" altLang="en-US" sz="2000" b="1">
                <a:solidFill>
                  <a:schemeClr val="accent1"/>
                </a:solidFill>
              </a:rPr>
              <a:t>Approvisionnement</a:t>
            </a:r>
          </a:p>
          <a:p>
            <a:pPr algn="ctr" eaLnBrk="1" hangingPunct="1">
              <a:spcBef>
                <a:spcPct val="0"/>
              </a:spcBef>
              <a:buClrTx/>
              <a:buSzTx/>
              <a:buFontTx/>
              <a:buNone/>
            </a:pPr>
            <a:r>
              <a:rPr lang="fr-FR" altLang="en-US" sz="1600"/>
              <a:t>Cultures ; Élevage</a:t>
            </a:r>
          </a:p>
          <a:p>
            <a:pPr algn="ctr" eaLnBrk="1" hangingPunct="1">
              <a:spcBef>
                <a:spcPct val="0"/>
              </a:spcBef>
              <a:buClrTx/>
              <a:buSzTx/>
              <a:buFontTx/>
              <a:buNone/>
            </a:pPr>
            <a:r>
              <a:rPr lang="fr-FR" altLang="en-US" sz="1600"/>
              <a:t>Pêcheries ; Aquaculture</a:t>
            </a:r>
          </a:p>
          <a:p>
            <a:pPr algn="ctr" eaLnBrk="1" hangingPunct="1">
              <a:spcBef>
                <a:spcPct val="0"/>
              </a:spcBef>
              <a:buClrTx/>
              <a:buSzTx/>
              <a:buFontTx/>
              <a:buNone/>
            </a:pPr>
            <a:r>
              <a:rPr lang="fr-FR" altLang="en-US" sz="1600"/>
              <a:t>Gibier; cueillette</a:t>
            </a:r>
          </a:p>
          <a:p>
            <a:pPr algn="ctr" eaLnBrk="1" hangingPunct="1">
              <a:spcBef>
                <a:spcPct val="0"/>
              </a:spcBef>
              <a:buClrTx/>
              <a:buSzTx/>
              <a:buFontTx/>
              <a:buNone/>
            </a:pPr>
            <a:r>
              <a:rPr lang="fr-FR" altLang="en-US" sz="1600"/>
              <a:t>Bois ; Ressources génétiques</a:t>
            </a:r>
          </a:p>
          <a:p>
            <a:pPr algn="ctr" eaLnBrk="1" hangingPunct="1">
              <a:spcBef>
                <a:spcPct val="0"/>
              </a:spcBef>
              <a:buClrTx/>
              <a:buSzTx/>
              <a:buFontTx/>
              <a:buNone/>
            </a:pPr>
            <a:r>
              <a:rPr lang="fr-FR" altLang="en-US" sz="1600"/>
              <a:t>Eau potable</a:t>
            </a:r>
          </a:p>
        </p:txBody>
      </p:sp>
      <p:sp>
        <p:nvSpPr>
          <p:cNvPr id="48136" name="AutoShape 8"/>
          <p:cNvSpPr>
            <a:spLocks noChangeArrowheads="1"/>
          </p:cNvSpPr>
          <p:nvPr/>
        </p:nvSpPr>
        <p:spPr bwMode="auto">
          <a:xfrm>
            <a:off x="7785100" y="3251200"/>
            <a:ext cx="228600" cy="495300"/>
          </a:xfrm>
          <a:prstGeom prst="downArrow">
            <a:avLst>
              <a:gd name="adj1" fmla="val 50000"/>
              <a:gd name="adj2" fmla="val 54167"/>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bg2"/>
              </a:buClr>
              <a:buSzPct val="75000"/>
              <a:buFont typeface="Wingdings" pitchFamily="2" charset="2"/>
              <a:buChar char="p"/>
              <a:defRPr sz="2800">
                <a:solidFill>
                  <a:schemeClr val="tx1"/>
                </a:solidFill>
                <a:latin typeface="Verdana" pitchFamily="34"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9pPr>
          </a:lstStyle>
          <a:p>
            <a:pPr eaLnBrk="1" hangingPunct="1">
              <a:spcBef>
                <a:spcPct val="0"/>
              </a:spcBef>
              <a:buClrTx/>
              <a:buSzTx/>
              <a:buFontTx/>
              <a:buNone/>
            </a:pPr>
            <a:endParaRPr lang="en-US" altLang="en-US" sz="1800"/>
          </a:p>
        </p:txBody>
      </p:sp>
      <p:sp>
        <p:nvSpPr>
          <p:cNvPr id="48137" name="AutoShape 9"/>
          <p:cNvSpPr>
            <a:spLocks noChangeArrowheads="1"/>
          </p:cNvSpPr>
          <p:nvPr/>
        </p:nvSpPr>
        <p:spPr bwMode="auto">
          <a:xfrm rot="5400000">
            <a:off x="4597400" y="355600"/>
            <a:ext cx="292100" cy="3556000"/>
          </a:xfrm>
          <a:prstGeom prst="downArrow">
            <a:avLst>
              <a:gd name="adj1" fmla="val 50000"/>
              <a:gd name="adj2" fmla="val 304348"/>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bg2"/>
              </a:buClr>
              <a:buSzPct val="75000"/>
              <a:buFont typeface="Wingdings" pitchFamily="2" charset="2"/>
              <a:buChar char="p"/>
              <a:defRPr sz="2800">
                <a:solidFill>
                  <a:schemeClr val="tx1"/>
                </a:solidFill>
                <a:latin typeface="Verdana" pitchFamily="34"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defRPr>
            </a:lvl9pPr>
          </a:lstStyle>
          <a:p>
            <a:pPr eaLnBrk="1" hangingPunct="1">
              <a:spcBef>
                <a:spcPct val="0"/>
              </a:spcBef>
              <a:buClrTx/>
              <a:buSzTx/>
              <a:buFontTx/>
              <a:buNone/>
            </a:pPr>
            <a:endParaRPr lang="en-US" altLang="en-US" sz="1800"/>
          </a:p>
        </p:txBody>
      </p:sp>
      <p:pic>
        <p:nvPicPr>
          <p:cNvPr id="48138" name="Picture 10"/>
          <p:cNvPicPr>
            <a:picLocks noChangeAspect="1" noChangeArrowheads="1"/>
          </p:cNvPicPr>
          <p:nvPr/>
        </p:nvPicPr>
        <p:blipFill>
          <a:blip r:embed="rId2">
            <a:clrChange>
              <a:clrFrom>
                <a:srgbClr val="CBC5B4"/>
              </a:clrFrom>
              <a:clrTo>
                <a:srgbClr val="CBC5B4">
                  <a:alpha val="0"/>
                </a:srgbClr>
              </a:clrTo>
            </a:clrChange>
            <a:extLst>
              <a:ext uri="{28A0092B-C50C-407E-A947-70E740481C1C}">
                <a14:useLocalDpi xmlns:a14="http://schemas.microsoft.com/office/drawing/2010/main"/>
              </a:ext>
            </a:extLst>
          </a:blip>
          <a:srcRect/>
          <a:stretch>
            <a:fillRect/>
          </a:stretch>
        </p:blipFill>
        <p:spPr bwMode="auto">
          <a:xfrm>
            <a:off x="2265363" y="1746250"/>
            <a:ext cx="4548187" cy="4519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 name="Groupe 3"/>
          <p:cNvGrpSpPr/>
          <p:nvPr/>
        </p:nvGrpSpPr>
        <p:grpSpPr>
          <a:xfrm>
            <a:off x="7160064" y="1693745"/>
            <a:ext cx="1440000" cy="1440000"/>
            <a:chOff x="7160064" y="1693745"/>
            <a:chExt cx="1440000" cy="1440000"/>
          </a:xfrm>
        </p:grpSpPr>
        <p:cxnSp>
          <p:nvCxnSpPr>
            <p:cNvPr id="3" name="Connecteur droit 2"/>
            <p:cNvCxnSpPr/>
            <p:nvPr/>
          </p:nvCxnSpPr>
          <p:spPr>
            <a:xfrm>
              <a:off x="7160064" y="1693745"/>
              <a:ext cx="1440000" cy="144000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Connecteur droit 12"/>
            <p:cNvCxnSpPr/>
            <p:nvPr/>
          </p:nvCxnSpPr>
          <p:spPr>
            <a:xfrm rot="16200000">
              <a:off x="7160064" y="1693745"/>
              <a:ext cx="1440000" cy="144000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60776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66" name="Picture 18"/>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304800" y="3624213"/>
            <a:ext cx="4267200" cy="2724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re 1"/>
          <p:cNvSpPr>
            <a:spLocks noGrp="1"/>
          </p:cNvSpPr>
          <p:nvPr>
            <p:ph type="title"/>
          </p:nvPr>
        </p:nvSpPr>
        <p:spPr/>
        <p:txBody>
          <a:bodyPr/>
          <a:lstStyle/>
          <a:p>
            <a:r>
              <a:rPr lang="fr-FR" dirty="0"/>
              <a:t>Services d’approvisionnement</a:t>
            </a:r>
          </a:p>
        </p:txBody>
      </p:sp>
      <p:sp>
        <p:nvSpPr>
          <p:cNvPr id="3" name="Espace réservé du contenu 2"/>
          <p:cNvSpPr>
            <a:spLocks noGrp="1"/>
          </p:cNvSpPr>
          <p:nvPr>
            <p:ph sz="half" idx="1"/>
          </p:nvPr>
        </p:nvSpPr>
        <p:spPr/>
        <p:txBody>
          <a:bodyPr/>
          <a:lstStyle/>
          <a:p>
            <a:r>
              <a:rPr lang="fr-FR" sz="2400" dirty="0"/>
              <a:t>Un des rares services en augmentation</a:t>
            </a:r>
          </a:p>
          <a:p>
            <a:pPr lvl="1"/>
            <a:r>
              <a:rPr lang="fr-FR" sz="2000" dirty="0"/>
              <a:t>Agriculture</a:t>
            </a:r>
          </a:p>
          <a:p>
            <a:pPr lvl="1"/>
            <a:r>
              <a:rPr lang="fr-FR" sz="2000" dirty="0"/>
              <a:t>Autre exemple : Bois de chauffage</a:t>
            </a:r>
          </a:p>
          <a:p>
            <a:pPr lvl="1"/>
            <a:endParaRPr lang="fr-FR" sz="2000" dirty="0"/>
          </a:p>
          <a:p>
            <a:pPr lvl="1"/>
            <a:endParaRPr lang="fr-FR" sz="2000" dirty="0"/>
          </a:p>
          <a:p>
            <a:pPr lvl="1"/>
            <a:endParaRPr lang="fr-FR" sz="2000" dirty="0"/>
          </a:p>
          <a:p>
            <a:pPr lvl="1"/>
            <a:endParaRPr lang="fr-FR" sz="2000" dirty="0"/>
          </a:p>
          <a:p>
            <a:pPr lvl="1"/>
            <a:endParaRPr lang="fr-FR" sz="2000" dirty="0"/>
          </a:p>
          <a:p>
            <a:pPr lvl="1"/>
            <a:endParaRPr lang="fr-FR" sz="2000" dirty="0"/>
          </a:p>
          <a:p>
            <a:pPr lvl="1"/>
            <a:endParaRPr lang="fr-FR" sz="2000" dirty="0"/>
          </a:p>
          <a:p>
            <a:pPr lvl="1"/>
            <a:endParaRPr lang="fr-FR" sz="2000" dirty="0"/>
          </a:p>
          <a:p>
            <a:pPr lvl="1"/>
            <a:r>
              <a:rPr lang="fr-FR" sz="2000" dirty="0"/>
              <a:t>Mais pêcheries en déclin</a:t>
            </a:r>
          </a:p>
        </p:txBody>
      </p:sp>
      <p:grpSp>
        <p:nvGrpSpPr>
          <p:cNvPr id="6" name="Groupe 5"/>
          <p:cNvGrpSpPr/>
          <p:nvPr/>
        </p:nvGrpSpPr>
        <p:grpSpPr>
          <a:xfrm>
            <a:off x="4614541" y="1584267"/>
            <a:ext cx="4775509" cy="5299530"/>
            <a:chOff x="4614541" y="1584267"/>
            <a:chExt cx="4775509" cy="5299530"/>
          </a:xfrm>
        </p:grpSpPr>
        <p:sp>
          <p:nvSpPr>
            <p:cNvPr id="12" name="ZoneTexte 11"/>
            <p:cNvSpPr txBox="1"/>
            <p:nvPr/>
          </p:nvSpPr>
          <p:spPr>
            <a:xfrm>
              <a:off x="7455777" y="2781708"/>
              <a:ext cx="1934273" cy="523220"/>
            </a:xfrm>
            <a:prstGeom prst="rect">
              <a:avLst/>
            </a:prstGeom>
            <a:noFill/>
          </p:spPr>
          <p:txBody>
            <a:bodyPr wrap="square" rtlCol="0">
              <a:spAutoFit/>
            </a:bodyPr>
            <a:lstStyle/>
            <a:p>
              <a:pPr algn="ctr"/>
              <a:r>
                <a:rPr lang="fr-FR" sz="1400" dirty="0"/>
                <a:t>Bois de construction</a:t>
              </a:r>
            </a:p>
          </p:txBody>
        </p:sp>
        <p:pic>
          <p:nvPicPr>
            <p:cNvPr id="2051" name="Picture 3"/>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5063319" y="3281834"/>
              <a:ext cx="3425588" cy="1917972"/>
            </a:xfrm>
            <a:prstGeom prst="round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2" name="Picture 4"/>
            <p:cNvPicPr>
              <a:picLocks noChangeAspect="1" noChangeArrowheads="1"/>
            </p:cNvPicPr>
            <p:nvPr/>
          </p:nvPicPr>
          <p:blipFill rotWithShape="1">
            <a:blip r:embed="rId5" cstate="screen">
              <a:extLst>
                <a:ext uri="{28A0092B-C50C-407E-A947-70E740481C1C}">
                  <a14:useLocalDpi xmlns:a14="http://schemas.microsoft.com/office/drawing/2010/main"/>
                </a:ext>
              </a:extLst>
            </a:blip>
            <a:srcRect/>
            <a:stretch/>
          </p:blipFill>
          <p:spPr bwMode="auto">
            <a:xfrm>
              <a:off x="7792393" y="1584267"/>
              <a:ext cx="1261040" cy="1260000"/>
            </a:xfrm>
            <a:prstGeom prst="ellipse">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4" name="Picture 6" descr="What's that? A wood pellet boiler - Portland Press Herald"/>
            <p:cNvPicPr>
              <a:picLocks noChangeAspect="1" noChangeArrowheads="1"/>
            </p:cNvPicPr>
            <p:nvPr/>
          </p:nvPicPr>
          <p:blipFill rotWithShape="1">
            <a:blip r:embed="rId6" cstate="screen">
              <a:extLst>
                <a:ext uri="{28A0092B-C50C-407E-A947-70E740481C1C}">
                  <a14:useLocalDpi xmlns:a14="http://schemas.microsoft.com/office/drawing/2010/main"/>
                </a:ext>
              </a:extLst>
            </a:blip>
            <a:srcRect/>
            <a:stretch/>
          </p:blipFill>
          <p:spPr bwMode="auto">
            <a:xfrm>
              <a:off x="6223386" y="1584267"/>
              <a:ext cx="1318455" cy="1260000"/>
            </a:xfrm>
            <a:prstGeom prst="ellipse">
              <a:avLst/>
            </a:prstGeom>
            <a:noFill/>
            <a:extLst>
              <a:ext uri="{909E8E84-426E-40DD-AFC4-6F175D3DCCD1}">
                <a14:hiddenFill xmlns:a14="http://schemas.microsoft.com/office/drawing/2010/main">
                  <a:solidFill>
                    <a:srgbClr val="FFFFFF"/>
                  </a:solidFill>
                </a14:hiddenFill>
              </a:ext>
            </a:extLst>
          </p:spPr>
        </p:pic>
        <p:pic>
          <p:nvPicPr>
            <p:cNvPr id="2055" name="Picture 7"/>
            <p:cNvPicPr>
              <a:picLocks noChangeAspect="1" noChangeArrowheads="1"/>
            </p:cNvPicPr>
            <p:nvPr/>
          </p:nvPicPr>
          <p:blipFill rotWithShape="1">
            <a:blip r:embed="rId7" cstate="screen">
              <a:extLst>
                <a:ext uri="{28A0092B-C50C-407E-A947-70E740481C1C}">
                  <a14:useLocalDpi xmlns:a14="http://schemas.microsoft.com/office/drawing/2010/main"/>
                </a:ext>
              </a:extLst>
            </a:blip>
            <a:srcRect/>
            <a:stretch/>
          </p:blipFill>
          <p:spPr bwMode="auto">
            <a:xfrm>
              <a:off x="4788495" y="1584267"/>
              <a:ext cx="1287458" cy="1260000"/>
            </a:xfrm>
            <a:prstGeom prst="ellipse">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ZoneTexte 4"/>
            <p:cNvSpPr txBox="1"/>
            <p:nvPr/>
          </p:nvSpPr>
          <p:spPr>
            <a:xfrm>
              <a:off x="4788495" y="2889430"/>
              <a:ext cx="1287458" cy="307777"/>
            </a:xfrm>
            <a:prstGeom prst="rect">
              <a:avLst/>
            </a:prstGeom>
            <a:noFill/>
          </p:spPr>
          <p:txBody>
            <a:bodyPr wrap="square" rtlCol="0">
              <a:spAutoFit/>
            </a:bodyPr>
            <a:lstStyle/>
            <a:p>
              <a:pPr algn="ctr"/>
              <a:r>
                <a:rPr lang="fr-FR" sz="1400" dirty="0"/>
                <a:t>Fibres</a:t>
              </a:r>
            </a:p>
          </p:txBody>
        </p:sp>
        <p:sp>
          <p:nvSpPr>
            <p:cNvPr id="11" name="ZoneTexte 10"/>
            <p:cNvSpPr txBox="1"/>
            <p:nvPr/>
          </p:nvSpPr>
          <p:spPr>
            <a:xfrm>
              <a:off x="5915477" y="2889430"/>
              <a:ext cx="1934273" cy="307777"/>
            </a:xfrm>
            <a:prstGeom prst="rect">
              <a:avLst/>
            </a:prstGeom>
            <a:noFill/>
          </p:spPr>
          <p:txBody>
            <a:bodyPr wrap="square" rtlCol="0">
              <a:spAutoFit/>
            </a:bodyPr>
            <a:lstStyle/>
            <a:p>
              <a:pPr algn="ctr"/>
              <a:r>
                <a:rPr lang="fr-FR" sz="1400" dirty="0"/>
                <a:t>Bois de chauffage</a:t>
              </a:r>
            </a:p>
          </p:txBody>
        </p:sp>
        <p:sp>
          <p:nvSpPr>
            <p:cNvPr id="13" name="ZoneTexte 12"/>
            <p:cNvSpPr txBox="1"/>
            <p:nvPr/>
          </p:nvSpPr>
          <p:spPr>
            <a:xfrm>
              <a:off x="4614541" y="6576020"/>
              <a:ext cx="1635366" cy="307777"/>
            </a:xfrm>
            <a:prstGeom prst="rect">
              <a:avLst/>
            </a:prstGeom>
            <a:noFill/>
          </p:spPr>
          <p:txBody>
            <a:bodyPr wrap="square" rtlCol="0">
              <a:spAutoFit/>
            </a:bodyPr>
            <a:lstStyle/>
            <a:p>
              <a:pPr algn="ctr"/>
              <a:r>
                <a:rPr lang="fr-FR" sz="1400" dirty="0"/>
                <a:t>Résines et latex</a:t>
              </a:r>
            </a:p>
          </p:txBody>
        </p:sp>
        <p:pic>
          <p:nvPicPr>
            <p:cNvPr id="2057" name="Picture 9" descr="https://upload.wikimedia.org/wikipedia/commons/thumb/4/49/Latex_-_Hevea_-_Cameroun.JPG/220px-Latex_-_Hevea_-_Cameroun.JPG"/>
            <p:cNvPicPr>
              <a:picLocks noChangeAspect="1" noChangeArrowheads="1"/>
            </p:cNvPicPr>
            <p:nvPr/>
          </p:nvPicPr>
          <p:blipFill rotWithShape="1">
            <a:blip r:embed="rId8" cstate="screen">
              <a:extLst>
                <a:ext uri="{28A0092B-C50C-407E-A947-70E740481C1C}">
                  <a14:useLocalDpi xmlns:a14="http://schemas.microsoft.com/office/drawing/2010/main"/>
                </a:ext>
              </a:extLst>
            </a:blip>
            <a:srcRect/>
            <a:stretch/>
          </p:blipFill>
          <p:spPr bwMode="auto">
            <a:xfrm>
              <a:off x="4754160" y="5316020"/>
              <a:ext cx="1356128" cy="1260000"/>
            </a:xfrm>
            <a:prstGeom prst="ellipse">
              <a:avLst/>
            </a:prstGeom>
            <a:noFill/>
            <a:extLst>
              <a:ext uri="{909E8E84-426E-40DD-AFC4-6F175D3DCCD1}">
                <a14:hiddenFill xmlns:a14="http://schemas.microsoft.com/office/drawing/2010/main">
                  <a:solidFill>
                    <a:srgbClr val="FFFFFF"/>
                  </a:solidFill>
                </a14:hiddenFill>
              </a:ext>
            </a:extLst>
          </p:spPr>
        </p:pic>
        <p:sp>
          <p:nvSpPr>
            <p:cNvPr id="15" name="ZoneTexte 14"/>
            <p:cNvSpPr txBox="1"/>
            <p:nvPr/>
          </p:nvSpPr>
          <p:spPr>
            <a:xfrm>
              <a:off x="6376943" y="6576020"/>
              <a:ext cx="1287458" cy="307777"/>
            </a:xfrm>
            <a:prstGeom prst="rect">
              <a:avLst/>
            </a:prstGeom>
            <a:noFill/>
          </p:spPr>
          <p:txBody>
            <a:bodyPr wrap="square" rtlCol="0">
              <a:spAutoFit/>
            </a:bodyPr>
            <a:lstStyle/>
            <a:p>
              <a:pPr algn="ctr"/>
              <a:r>
                <a:rPr lang="fr-FR" sz="1400" dirty="0"/>
                <a:t>Nourriture</a:t>
              </a:r>
            </a:p>
          </p:txBody>
        </p:sp>
        <p:pic>
          <p:nvPicPr>
            <p:cNvPr id="2061" name="Picture 13"/>
            <p:cNvPicPr>
              <a:picLocks noChangeAspect="1" noChangeArrowheads="1"/>
            </p:cNvPicPr>
            <p:nvPr/>
          </p:nvPicPr>
          <p:blipFill rotWithShape="1">
            <a:blip r:embed="rId9" cstate="screen">
              <a:extLst>
                <a:ext uri="{28A0092B-C50C-407E-A947-70E740481C1C}">
                  <a14:useLocalDpi xmlns:a14="http://schemas.microsoft.com/office/drawing/2010/main"/>
                </a:ext>
              </a:extLst>
            </a:blip>
            <a:srcRect/>
            <a:stretch/>
          </p:blipFill>
          <p:spPr bwMode="auto">
            <a:xfrm>
              <a:off x="6631717" y="5908503"/>
              <a:ext cx="724912" cy="720000"/>
            </a:xfrm>
            <a:prstGeom prst="ellipse">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62" name="Picture 14"/>
            <p:cNvPicPr>
              <a:picLocks noChangeAspect="1" noChangeArrowheads="1"/>
            </p:cNvPicPr>
            <p:nvPr/>
          </p:nvPicPr>
          <p:blipFill>
            <a:blip r:embed="rId10" cstate="screen">
              <a:extLst>
                <a:ext uri="{28A0092B-C50C-407E-A947-70E740481C1C}">
                  <a14:useLocalDpi xmlns:a14="http://schemas.microsoft.com/office/drawing/2010/main"/>
                </a:ext>
              </a:extLst>
            </a:blip>
            <a:srcRect/>
            <a:stretch>
              <a:fillRect/>
            </a:stretch>
          </p:blipFill>
          <p:spPr bwMode="auto">
            <a:xfrm>
              <a:off x="6949749" y="5298740"/>
              <a:ext cx="720000" cy="720000"/>
            </a:xfrm>
            <a:prstGeom prst="ellipse">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60" name="Picture 12"/>
            <p:cNvPicPr>
              <a:picLocks noChangeAspect="1" noChangeArrowheads="1"/>
            </p:cNvPicPr>
            <p:nvPr/>
          </p:nvPicPr>
          <p:blipFill rotWithShape="1">
            <a:blip r:embed="rId11" cstate="screen">
              <a:extLst>
                <a:ext uri="{28A0092B-C50C-407E-A947-70E740481C1C}">
                  <a14:useLocalDpi xmlns:a14="http://schemas.microsoft.com/office/drawing/2010/main"/>
                </a:ext>
              </a:extLst>
            </a:blip>
            <a:srcRect/>
            <a:stretch/>
          </p:blipFill>
          <p:spPr bwMode="auto">
            <a:xfrm>
              <a:off x="6260540" y="5298740"/>
              <a:ext cx="764409" cy="720000"/>
            </a:xfrm>
            <a:prstGeom prst="ellipse">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0" name="ZoneTexte 19"/>
            <p:cNvSpPr txBox="1"/>
            <p:nvPr/>
          </p:nvSpPr>
          <p:spPr>
            <a:xfrm>
              <a:off x="7686335" y="5411743"/>
              <a:ext cx="1473157" cy="1169551"/>
            </a:xfrm>
            <a:prstGeom prst="rect">
              <a:avLst/>
            </a:prstGeom>
            <a:noFill/>
          </p:spPr>
          <p:txBody>
            <a:bodyPr wrap="square" rtlCol="0">
              <a:spAutoFit/>
            </a:bodyPr>
            <a:lstStyle/>
            <a:p>
              <a:pPr algn="ctr"/>
              <a:r>
                <a:rPr lang="fr-FR" sz="1400" dirty="0"/>
                <a:t>Fourrage, médicaments, parfums et cosmétiques, colorants,…</a:t>
              </a:r>
            </a:p>
          </p:txBody>
        </p:sp>
      </p:grpSp>
    </p:spTree>
    <p:extLst>
      <p:ext uri="{BB962C8B-B14F-4D97-AF65-F5344CB8AC3E}">
        <p14:creationId xmlns:p14="http://schemas.microsoft.com/office/powerpoint/2010/main" val="2746938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6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bg2"/>
              </a:buClr>
              <a:buSzPct val="75000"/>
              <a:buFont typeface="Wingdings" pitchFamily="2" charset="2"/>
              <a:buChar char="p"/>
              <a:defRPr sz="2800">
                <a:solidFill>
                  <a:schemeClr val="tx1"/>
                </a:solidFill>
                <a:latin typeface="Verdana" pitchFamily="34" charset="0"/>
                <a:cs typeface="Arial"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cs typeface="Arial"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cs typeface="Arial"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cs typeface="Arial"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cs typeface="Arial"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9pPr>
          </a:lstStyle>
          <a:p>
            <a:pPr eaLnBrk="1" hangingPunct="1">
              <a:spcBef>
                <a:spcPct val="0"/>
              </a:spcBef>
              <a:buClrTx/>
              <a:buSzTx/>
              <a:buFontTx/>
              <a:buNone/>
            </a:pPr>
            <a:fld id="{3D8F765F-EF8F-4D1B-938A-01380578BB47}" type="slidenum">
              <a:rPr lang="fr-FR" altLang="en-US" sz="1000" smtClean="0"/>
              <a:pPr eaLnBrk="1" hangingPunct="1">
                <a:spcBef>
                  <a:spcPct val="0"/>
                </a:spcBef>
                <a:buClrTx/>
                <a:buSzTx/>
                <a:buFontTx/>
                <a:buNone/>
              </a:pPr>
              <a:t>14</a:t>
            </a:fld>
            <a:endParaRPr lang="fr-FR" altLang="en-US" sz="1000"/>
          </a:p>
        </p:txBody>
      </p:sp>
      <p:sp>
        <p:nvSpPr>
          <p:cNvPr id="10243" name="Espace réservé du contenu 2"/>
          <p:cNvSpPr>
            <a:spLocks noGrp="1"/>
          </p:cNvSpPr>
          <p:nvPr>
            <p:ph type="body" idx="1"/>
          </p:nvPr>
        </p:nvSpPr>
        <p:spPr>
          <a:xfrm>
            <a:off x="457200" y="1609725"/>
            <a:ext cx="8686800" cy="4530725"/>
          </a:xfrm>
        </p:spPr>
        <p:txBody>
          <a:bodyPr/>
          <a:lstStyle/>
          <a:p>
            <a:r>
              <a:rPr lang="fr-FR" altLang="en-US" sz="2000" dirty="0"/>
              <a:t>Nouveaux produits/activités inspirés du vivant (</a:t>
            </a:r>
            <a:r>
              <a:rPr lang="fr-FR" altLang="en-US" sz="2000" dirty="0" err="1"/>
              <a:t>biomimétisme</a:t>
            </a:r>
            <a:r>
              <a:rPr lang="fr-FR" altLang="en-US" sz="2000" dirty="0"/>
              <a:t>)</a:t>
            </a:r>
            <a:endParaRPr lang="en-CA" altLang="en-US" sz="2000" dirty="0"/>
          </a:p>
        </p:txBody>
      </p:sp>
      <p:sp>
        <p:nvSpPr>
          <p:cNvPr id="10244" name="Titre 1"/>
          <p:cNvSpPr>
            <a:spLocks noGrp="1"/>
          </p:cNvSpPr>
          <p:nvPr>
            <p:ph type="title"/>
          </p:nvPr>
        </p:nvSpPr>
        <p:spPr/>
        <p:txBody>
          <a:bodyPr/>
          <a:lstStyle/>
          <a:p>
            <a:r>
              <a:rPr lang="fr-FR" altLang="en-US"/>
              <a:t>Services d’approvisionnement</a:t>
            </a:r>
            <a:endParaRPr lang="en-CA" altLang="en-US"/>
          </a:p>
        </p:txBody>
      </p:sp>
      <p:sp>
        <p:nvSpPr>
          <p:cNvPr id="10245" name="Text Box 46"/>
          <p:cNvSpPr txBox="1">
            <a:spLocks noChangeArrowheads="1"/>
          </p:cNvSpPr>
          <p:nvPr/>
        </p:nvSpPr>
        <p:spPr bwMode="auto">
          <a:xfrm>
            <a:off x="954088" y="3748881"/>
            <a:ext cx="15017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bg2"/>
              </a:buClr>
              <a:buSzPct val="75000"/>
              <a:buFont typeface="Wingdings" pitchFamily="2" charset="2"/>
              <a:buChar char="p"/>
              <a:defRPr sz="2800">
                <a:solidFill>
                  <a:schemeClr val="tx1"/>
                </a:solidFill>
                <a:latin typeface="Verdana" pitchFamily="34" charset="0"/>
                <a:cs typeface="Arial"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cs typeface="Arial"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cs typeface="Arial"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cs typeface="Arial"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cs typeface="Arial"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9pPr>
          </a:lstStyle>
          <a:p>
            <a:pPr algn="ctr" eaLnBrk="1" hangingPunct="1">
              <a:spcBef>
                <a:spcPct val="50000"/>
              </a:spcBef>
              <a:buClrTx/>
              <a:buSzTx/>
              <a:buFontTx/>
              <a:buNone/>
            </a:pPr>
            <a:r>
              <a:rPr lang="fr-FR" altLang="en-US" sz="1400" dirty="0"/>
              <a:t>Antibiotiques</a:t>
            </a:r>
          </a:p>
        </p:txBody>
      </p:sp>
      <p:pic>
        <p:nvPicPr>
          <p:cNvPr id="10246" name="Picture 48" descr="240px-Penicillium_notatum"/>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893763" y="2181225"/>
            <a:ext cx="1622425" cy="152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7" name="Picture 50" descr="lotus-leaf-dew"/>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6664325" y="2305844"/>
            <a:ext cx="1803400" cy="127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8" name="Text Box 51"/>
          <p:cNvSpPr txBox="1">
            <a:spLocks noChangeArrowheads="1"/>
          </p:cNvSpPr>
          <p:nvPr/>
        </p:nvSpPr>
        <p:spPr bwMode="auto">
          <a:xfrm>
            <a:off x="6815138" y="3642519"/>
            <a:ext cx="15017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bg2"/>
              </a:buClr>
              <a:buSzPct val="75000"/>
              <a:buFont typeface="Wingdings" pitchFamily="2" charset="2"/>
              <a:buChar char="p"/>
              <a:defRPr sz="2800">
                <a:solidFill>
                  <a:schemeClr val="tx1"/>
                </a:solidFill>
                <a:latin typeface="Verdana" pitchFamily="34" charset="0"/>
                <a:cs typeface="Arial"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cs typeface="Arial"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cs typeface="Arial"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cs typeface="Arial"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cs typeface="Arial"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9pPr>
          </a:lstStyle>
          <a:p>
            <a:pPr algn="ctr" eaLnBrk="1" hangingPunct="1">
              <a:spcBef>
                <a:spcPct val="50000"/>
              </a:spcBef>
              <a:buClrTx/>
              <a:buSzTx/>
              <a:buFontTx/>
              <a:buNone/>
            </a:pPr>
            <a:r>
              <a:rPr lang="fr-FR" altLang="en-US" sz="1400"/>
              <a:t>Surfaces auto-nettoyantes</a:t>
            </a:r>
          </a:p>
        </p:txBody>
      </p:sp>
      <p:pic>
        <p:nvPicPr>
          <p:cNvPr id="10249" name="Picture 53" descr="The gecko is able to defy gravity thanks to billions of tiny, specially shaped hairs on its toes"/>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3813175" y="4453732"/>
            <a:ext cx="1489075" cy="1128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0" name="Text Box 54"/>
          <p:cNvSpPr txBox="1">
            <a:spLocks noChangeArrowheads="1"/>
          </p:cNvSpPr>
          <p:nvPr/>
        </p:nvSpPr>
        <p:spPr bwMode="auto">
          <a:xfrm>
            <a:off x="3808413" y="5795697"/>
            <a:ext cx="15017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bg2"/>
              </a:buClr>
              <a:buSzPct val="75000"/>
              <a:buFont typeface="Wingdings" pitchFamily="2" charset="2"/>
              <a:buChar char="p"/>
              <a:defRPr sz="2800">
                <a:solidFill>
                  <a:schemeClr val="tx1"/>
                </a:solidFill>
                <a:latin typeface="Verdana" pitchFamily="34" charset="0"/>
                <a:cs typeface="Arial"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cs typeface="Arial"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cs typeface="Arial"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cs typeface="Arial"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cs typeface="Arial"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9pPr>
          </a:lstStyle>
          <a:p>
            <a:pPr algn="ctr" eaLnBrk="1" hangingPunct="1">
              <a:spcBef>
                <a:spcPct val="50000"/>
              </a:spcBef>
              <a:buClrTx/>
              <a:buSzTx/>
              <a:buFontTx/>
              <a:buNone/>
            </a:pPr>
            <a:r>
              <a:rPr lang="fr-FR" altLang="en-US" sz="1400" dirty="0"/>
              <a:t>Adhésifs</a:t>
            </a:r>
          </a:p>
        </p:txBody>
      </p:sp>
      <p:sp>
        <p:nvSpPr>
          <p:cNvPr id="10251" name="Text Box 57"/>
          <p:cNvSpPr txBox="1">
            <a:spLocks noChangeArrowheads="1"/>
          </p:cNvSpPr>
          <p:nvPr/>
        </p:nvSpPr>
        <p:spPr bwMode="auto">
          <a:xfrm>
            <a:off x="2743200" y="3642519"/>
            <a:ext cx="15017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bg2"/>
              </a:buClr>
              <a:buSzPct val="75000"/>
              <a:buFont typeface="Wingdings" pitchFamily="2" charset="2"/>
              <a:buChar char="p"/>
              <a:defRPr sz="2800">
                <a:solidFill>
                  <a:schemeClr val="tx1"/>
                </a:solidFill>
                <a:latin typeface="Verdana" pitchFamily="34" charset="0"/>
                <a:cs typeface="Arial"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cs typeface="Arial"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cs typeface="Arial"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cs typeface="Arial"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cs typeface="Arial"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9pPr>
          </a:lstStyle>
          <a:p>
            <a:pPr algn="ctr" eaLnBrk="1" hangingPunct="1">
              <a:spcBef>
                <a:spcPct val="50000"/>
              </a:spcBef>
              <a:buClrTx/>
              <a:buSzTx/>
              <a:buFontTx/>
              <a:buNone/>
            </a:pPr>
            <a:r>
              <a:rPr lang="fr-FR" altLang="en-US" sz="1400"/>
              <a:t>Détecteurs d’incendies</a:t>
            </a:r>
          </a:p>
        </p:txBody>
      </p:sp>
      <p:pic>
        <p:nvPicPr>
          <p:cNvPr id="10252" name="Picture 65"/>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1493838" y="4360863"/>
            <a:ext cx="1677987"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3" name="Text Box 66"/>
          <p:cNvSpPr txBox="1">
            <a:spLocks noChangeArrowheads="1"/>
          </p:cNvSpPr>
          <p:nvPr/>
        </p:nvSpPr>
        <p:spPr bwMode="auto">
          <a:xfrm>
            <a:off x="1582738" y="5795697"/>
            <a:ext cx="15017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bg2"/>
              </a:buClr>
              <a:buSzPct val="75000"/>
              <a:buFont typeface="Wingdings" pitchFamily="2" charset="2"/>
              <a:buChar char="p"/>
              <a:defRPr sz="2800">
                <a:solidFill>
                  <a:schemeClr val="tx1"/>
                </a:solidFill>
                <a:latin typeface="Verdana" pitchFamily="34" charset="0"/>
                <a:cs typeface="Arial"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cs typeface="Arial"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cs typeface="Arial"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cs typeface="Arial"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cs typeface="Arial"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9pPr>
          </a:lstStyle>
          <a:p>
            <a:pPr algn="ctr" eaLnBrk="1" hangingPunct="1">
              <a:spcBef>
                <a:spcPct val="50000"/>
              </a:spcBef>
              <a:buClrTx/>
              <a:buSzTx/>
              <a:buFontTx/>
              <a:buNone/>
            </a:pPr>
            <a:r>
              <a:rPr lang="fr-FR" altLang="en-US" sz="1400"/>
              <a:t>Fibres</a:t>
            </a:r>
          </a:p>
        </p:txBody>
      </p:sp>
      <p:pic>
        <p:nvPicPr>
          <p:cNvPr id="10254" name="Picture 68" descr="sea_sponge"/>
          <p:cNvPicPr>
            <a:picLocks noChangeAspect="1" noChangeArrowheads="1"/>
          </p:cNvPicPr>
          <p:nvPr/>
        </p:nvPicPr>
        <p:blipFill>
          <a:blip r:embed="rId7">
            <a:extLst>
              <a:ext uri="{28A0092B-C50C-407E-A947-70E740481C1C}">
                <a14:useLocalDpi xmlns:a14="http://schemas.microsoft.com/office/drawing/2010/main"/>
              </a:ext>
            </a:extLst>
          </a:blip>
          <a:srcRect/>
          <a:stretch>
            <a:fillRect/>
          </a:stretch>
        </p:blipFill>
        <p:spPr bwMode="auto">
          <a:xfrm>
            <a:off x="4433888" y="2291556"/>
            <a:ext cx="1755775" cy="130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5" name="Text Box 69"/>
          <p:cNvSpPr txBox="1">
            <a:spLocks noChangeArrowheads="1"/>
          </p:cNvSpPr>
          <p:nvPr/>
        </p:nvSpPr>
        <p:spPr bwMode="auto">
          <a:xfrm>
            <a:off x="4397375" y="3748881"/>
            <a:ext cx="1828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bg2"/>
              </a:buClr>
              <a:buSzPct val="75000"/>
              <a:buFont typeface="Wingdings" pitchFamily="2" charset="2"/>
              <a:buChar char="p"/>
              <a:defRPr sz="2800">
                <a:solidFill>
                  <a:schemeClr val="tx1"/>
                </a:solidFill>
                <a:latin typeface="Verdana" pitchFamily="34" charset="0"/>
                <a:cs typeface="Arial"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cs typeface="Arial"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cs typeface="Arial"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cs typeface="Arial"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cs typeface="Arial"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9pPr>
          </a:lstStyle>
          <a:p>
            <a:pPr algn="ctr" eaLnBrk="1" hangingPunct="1">
              <a:spcBef>
                <a:spcPct val="50000"/>
              </a:spcBef>
              <a:buClrTx/>
              <a:buSzTx/>
              <a:buFontTx/>
              <a:buNone/>
            </a:pPr>
            <a:r>
              <a:rPr lang="fr-FR" altLang="en-US" sz="1400"/>
              <a:t>Fibres optiques</a:t>
            </a:r>
          </a:p>
        </p:txBody>
      </p:sp>
      <p:sp>
        <p:nvSpPr>
          <p:cNvPr id="10256" name="Text Box 71"/>
          <p:cNvSpPr txBox="1">
            <a:spLocks noChangeArrowheads="1"/>
          </p:cNvSpPr>
          <p:nvPr/>
        </p:nvSpPr>
        <p:spPr bwMode="auto">
          <a:xfrm>
            <a:off x="6091238" y="5582972"/>
            <a:ext cx="178593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bg2"/>
              </a:buClr>
              <a:buSzPct val="75000"/>
              <a:buFont typeface="Wingdings" pitchFamily="2" charset="2"/>
              <a:buChar char="p"/>
              <a:defRPr sz="2800">
                <a:solidFill>
                  <a:schemeClr val="tx1"/>
                </a:solidFill>
                <a:latin typeface="Verdana" pitchFamily="34" charset="0"/>
                <a:cs typeface="Arial"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cs typeface="Arial"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cs typeface="Arial"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cs typeface="Arial"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cs typeface="Arial"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9pPr>
          </a:lstStyle>
          <a:p>
            <a:pPr algn="ctr" eaLnBrk="1" hangingPunct="1">
              <a:spcBef>
                <a:spcPct val="50000"/>
              </a:spcBef>
              <a:buClrTx/>
              <a:buSzTx/>
              <a:buFontTx/>
              <a:buNone/>
            </a:pPr>
            <a:r>
              <a:rPr lang="fr-FR" altLang="en-US" sz="1400"/>
              <a:t>Pharmaceutique, cosmétiques</a:t>
            </a:r>
          </a:p>
        </p:txBody>
      </p:sp>
      <p:sp>
        <p:nvSpPr>
          <p:cNvPr id="10257" name="Text Box 72"/>
          <p:cNvSpPr txBox="1">
            <a:spLocks noChangeArrowheads="1"/>
          </p:cNvSpPr>
          <p:nvPr/>
        </p:nvSpPr>
        <p:spPr bwMode="auto">
          <a:xfrm>
            <a:off x="293688" y="6553200"/>
            <a:ext cx="29511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bg2"/>
              </a:buClr>
              <a:buSzPct val="75000"/>
              <a:buFont typeface="Wingdings" pitchFamily="2" charset="2"/>
              <a:buChar char="p"/>
              <a:defRPr sz="2800">
                <a:solidFill>
                  <a:schemeClr val="tx1"/>
                </a:solidFill>
                <a:latin typeface="Verdana" pitchFamily="34" charset="0"/>
                <a:cs typeface="Arial"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cs typeface="Arial"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cs typeface="Arial"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cs typeface="Arial"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cs typeface="Arial"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9pPr>
          </a:lstStyle>
          <a:p>
            <a:pPr eaLnBrk="1" hangingPunct="1">
              <a:spcBef>
                <a:spcPct val="50000"/>
              </a:spcBef>
              <a:buClrTx/>
              <a:buSzTx/>
              <a:buFontTx/>
              <a:buNone/>
            </a:pPr>
            <a:r>
              <a:rPr lang="fr-FR" altLang="en-US" sz="1400"/>
              <a:t>Beattie et al. MEA 2005</a:t>
            </a:r>
          </a:p>
        </p:txBody>
      </p:sp>
      <p:pic>
        <p:nvPicPr>
          <p:cNvPr id="10258" name="Picture 20" descr="Taxus%20baccata%203"/>
          <p:cNvPicPr>
            <a:picLocks noChangeAspect="1" noChangeArrowheads="1"/>
          </p:cNvPicPr>
          <p:nvPr/>
        </p:nvPicPr>
        <p:blipFill>
          <a:blip r:embed="rId8">
            <a:extLst>
              <a:ext uri="{28A0092B-C50C-407E-A947-70E740481C1C}">
                <a14:useLocalDpi xmlns:a14="http://schemas.microsoft.com/office/drawing/2010/main"/>
              </a:ext>
            </a:extLst>
          </a:blip>
          <a:srcRect/>
          <a:stretch>
            <a:fillRect/>
          </a:stretch>
        </p:blipFill>
        <p:spPr bwMode="auto">
          <a:xfrm>
            <a:off x="6029325" y="4416426"/>
            <a:ext cx="1782763" cy="120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59" name="Picture 23" descr="UFFZ Melanophila"/>
          <p:cNvPicPr>
            <a:picLocks noChangeAspect="1" noChangeArrowheads="1"/>
          </p:cNvPicPr>
          <p:nvPr/>
        </p:nvPicPr>
        <p:blipFill>
          <a:blip r:embed="rId9">
            <a:extLst>
              <a:ext uri="{28A0092B-C50C-407E-A947-70E740481C1C}">
                <a14:useLocalDpi xmlns:a14="http://schemas.microsoft.com/office/drawing/2010/main"/>
              </a:ext>
            </a:extLst>
          </a:blip>
          <a:srcRect/>
          <a:stretch>
            <a:fillRect/>
          </a:stretch>
        </p:blipFill>
        <p:spPr bwMode="auto">
          <a:xfrm>
            <a:off x="2727325" y="2301081"/>
            <a:ext cx="1535113" cy="128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365125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6"/>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bg2"/>
              </a:buClr>
              <a:buSzPct val="75000"/>
              <a:buFont typeface="Wingdings" pitchFamily="2" charset="2"/>
              <a:buChar char="p"/>
              <a:defRPr sz="2800">
                <a:solidFill>
                  <a:schemeClr val="tx1"/>
                </a:solidFill>
                <a:latin typeface="Verdana" pitchFamily="34" charset="0"/>
                <a:cs typeface="Arial"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cs typeface="Arial"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cs typeface="Arial"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cs typeface="Arial"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cs typeface="Arial"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9pPr>
          </a:lstStyle>
          <a:p>
            <a:pPr eaLnBrk="1" hangingPunct="1">
              <a:spcBef>
                <a:spcPct val="0"/>
              </a:spcBef>
              <a:buClrTx/>
              <a:buSzTx/>
              <a:buFontTx/>
              <a:buNone/>
            </a:pPr>
            <a:fld id="{51FCD6B2-CCF9-49EB-BD1D-72DA8BF63B4F}" type="slidenum">
              <a:rPr lang="fr-FR" altLang="en-US" sz="1000" smtClean="0"/>
              <a:pPr eaLnBrk="1" hangingPunct="1">
                <a:spcBef>
                  <a:spcPct val="0"/>
                </a:spcBef>
                <a:buClrTx/>
                <a:buSzTx/>
                <a:buFontTx/>
                <a:buNone/>
              </a:pPr>
              <a:t>15</a:t>
            </a:fld>
            <a:endParaRPr lang="fr-FR" altLang="en-US" sz="1000"/>
          </a:p>
        </p:txBody>
      </p:sp>
      <p:sp>
        <p:nvSpPr>
          <p:cNvPr id="11267" name="Titre 1"/>
          <p:cNvSpPr>
            <a:spLocks noGrp="1"/>
          </p:cNvSpPr>
          <p:nvPr>
            <p:ph type="title"/>
          </p:nvPr>
        </p:nvSpPr>
        <p:spPr/>
        <p:txBody>
          <a:bodyPr/>
          <a:lstStyle/>
          <a:p>
            <a:r>
              <a:rPr lang="fr-FR" altLang="en-US" sz="4000" dirty="0"/>
              <a:t>Services de régulation environnementale</a:t>
            </a:r>
            <a:endParaRPr lang="en-CA" altLang="en-US" sz="4000" dirty="0"/>
          </a:p>
        </p:txBody>
      </p:sp>
      <p:sp>
        <p:nvSpPr>
          <p:cNvPr id="11268" name="Espace réservé du contenu 2"/>
          <p:cNvSpPr>
            <a:spLocks noGrp="1"/>
          </p:cNvSpPr>
          <p:nvPr>
            <p:ph idx="1"/>
          </p:nvPr>
        </p:nvSpPr>
        <p:spPr/>
        <p:txBody>
          <a:bodyPr/>
          <a:lstStyle/>
          <a:p>
            <a:r>
              <a:rPr lang="fr-FR" altLang="en-US" sz="2000" dirty="0"/>
              <a:t>Stockage du carbone et régulation du climat</a:t>
            </a:r>
          </a:p>
          <a:p>
            <a:pPr lvl="1"/>
            <a:r>
              <a:rPr lang="fr-FR" altLang="en-US" sz="1800" dirty="0"/>
              <a:t>Tout le CO</a:t>
            </a:r>
            <a:r>
              <a:rPr lang="fr-FR" altLang="en-US" sz="1800" baseline="-25000" dirty="0"/>
              <a:t>2</a:t>
            </a:r>
            <a:r>
              <a:rPr lang="fr-FR" altLang="en-US" sz="1800" dirty="0"/>
              <a:t> émis par les humains ne s’accumule pas dans l’atmosphère</a:t>
            </a:r>
          </a:p>
          <a:p>
            <a:pPr lvl="1"/>
            <a:r>
              <a:rPr lang="fr-FR" altLang="en-US" sz="1800" dirty="0"/>
              <a:t>Rôle important des forêts</a:t>
            </a:r>
            <a:endParaRPr lang="en-CA" altLang="en-US" sz="1800" dirty="0"/>
          </a:p>
        </p:txBody>
      </p:sp>
      <p:pic>
        <p:nvPicPr>
          <p:cNvPr id="11269" name="Picture 1028"/>
          <p:cNvPicPr>
            <a:picLocks noChangeAspect="1" noChangeArrowheads="1"/>
          </p:cNvPicPr>
          <p:nvPr/>
        </p:nvPicPr>
        <p:blipFill>
          <a:blip r:embed="rId2" cstate="screen">
            <a:extLst>
              <a:ext uri="{28A0092B-C50C-407E-A947-70E740481C1C}">
                <a14:useLocalDpi xmlns:a14="http://schemas.microsoft.com/office/drawing/2010/main"/>
              </a:ext>
            </a:extLst>
          </a:blip>
          <a:srcRect t="2859"/>
          <a:stretch>
            <a:fillRect/>
          </a:stretch>
        </p:blipFill>
        <p:spPr bwMode="auto">
          <a:xfrm>
            <a:off x="1646223" y="3041678"/>
            <a:ext cx="5851553" cy="3766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109581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r>
              <a:rPr lang="fr-FR" altLang="en-US" sz="4000" dirty="0"/>
              <a:t>Services de régulation environnementale</a:t>
            </a:r>
          </a:p>
        </p:txBody>
      </p:sp>
      <p:sp>
        <p:nvSpPr>
          <p:cNvPr id="25602" name="Rectangle 3"/>
          <p:cNvSpPr>
            <a:spLocks noGrp="1" noChangeArrowheads="1"/>
          </p:cNvSpPr>
          <p:nvPr>
            <p:ph idx="1"/>
          </p:nvPr>
        </p:nvSpPr>
        <p:spPr>
          <a:xfrm>
            <a:off x="3711575" y="4757738"/>
            <a:ext cx="5446713" cy="2095500"/>
          </a:xfrm>
        </p:spPr>
        <p:txBody>
          <a:bodyPr/>
          <a:lstStyle/>
          <a:p>
            <a:pPr>
              <a:lnSpc>
                <a:spcPct val="80000"/>
              </a:lnSpc>
            </a:pPr>
            <a:r>
              <a:rPr lang="fr-FR" altLang="en-US" sz="2000" dirty="0"/>
              <a:t>Ouragans Katrina/Rita (2005), rôle des zones humides</a:t>
            </a:r>
          </a:p>
          <a:p>
            <a:pPr>
              <a:lnSpc>
                <a:spcPct val="80000"/>
              </a:lnSpc>
            </a:pPr>
            <a:endParaRPr lang="fr-FR" altLang="en-US" sz="800" dirty="0"/>
          </a:p>
          <a:p>
            <a:pPr lvl="1">
              <a:lnSpc>
                <a:spcPct val="80000"/>
              </a:lnSpc>
            </a:pPr>
            <a:r>
              <a:rPr lang="fr-FR" altLang="en-US" sz="1800" dirty="0"/>
              <a:t>Katrina : 1200-1800 morts, 125 milliards de $ de dégâts</a:t>
            </a:r>
          </a:p>
          <a:p>
            <a:pPr lvl="1">
              <a:lnSpc>
                <a:spcPct val="80000"/>
              </a:lnSpc>
            </a:pPr>
            <a:r>
              <a:rPr lang="fr-FR" altLang="en-US" sz="1800" dirty="0"/>
              <a:t>Rita (4</a:t>
            </a:r>
            <a:r>
              <a:rPr lang="fr-FR" altLang="en-US" sz="1800" baseline="30000" dirty="0"/>
              <a:t>e</a:t>
            </a:r>
            <a:r>
              <a:rPr lang="fr-FR" altLang="en-US" sz="1800" dirty="0"/>
              <a:t> ouragan le plus fort) : 97-125 morts, 18 milliards de $ de dégâts</a:t>
            </a:r>
          </a:p>
        </p:txBody>
      </p:sp>
      <p:pic>
        <p:nvPicPr>
          <p:cNvPr id="13317" name="Picture 5"/>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353682" y="4562378"/>
            <a:ext cx="34290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8" name="Text Box 7"/>
          <p:cNvSpPr txBox="1">
            <a:spLocks noChangeArrowheads="1"/>
          </p:cNvSpPr>
          <p:nvPr/>
        </p:nvSpPr>
        <p:spPr bwMode="auto">
          <a:xfrm>
            <a:off x="7546975" y="6553200"/>
            <a:ext cx="18192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bg2"/>
              </a:buClr>
              <a:buSzPct val="75000"/>
              <a:buFont typeface="Wingdings" pitchFamily="2" charset="2"/>
              <a:buChar char="p"/>
              <a:defRPr sz="2800">
                <a:solidFill>
                  <a:schemeClr val="tx1"/>
                </a:solidFill>
                <a:latin typeface="Verdana" pitchFamily="34" charset="0"/>
                <a:cs typeface="Arial"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cs typeface="Arial"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cs typeface="Arial"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cs typeface="Arial"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cs typeface="Arial"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9pPr>
          </a:lstStyle>
          <a:p>
            <a:pPr eaLnBrk="1" hangingPunct="1">
              <a:spcBef>
                <a:spcPct val="50000"/>
              </a:spcBef>
              <a:buClrTx/>
              <a:buSzTx/>
              <a:buFontTx/>
              <a:buNone/>
            </a:pPr>
            <a:r>
              <a:rPr lang="fr-FR" altLang="en-US" sz="1400"/>
              <a:t>Day et al. 2007</a:t>
            </a:r>
          </a:p>
        </p:txBody>
      </p:sp>
      <p:sp>
        <p:nvSpPr>
          <p:cNvPr id="13319" name="Rectangle 3"/>
          <p:cNvSpPr>
            <a:spLocks noChangeArrowheads="1"/>
          </p:cNvSpPr>
          <p:nvPr/>
        </p:nvSpPr>
        <p:spPr bwMode="auto">
          <a:xfrm>
            <a:off x="476250" y="1708150"/>
            <a:ext cx="3946894" cy="210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lr>
                <a:schemeClr val="bg2"/>
              </a:buClr>
              <a:buSzPct val="75000"/>
              <a:buFont typeface="Wingdings" pitchFamily="2" charset="2"/>
              <a:buChar char="p"/>
              <a:defRPr sz="2800">
                <a:solidFill>
                  <a:schemeClr val="tx1"/>
                </a:solidFill>
                <a:latin typeface="Verdana" pitchFamily="34" charset="0"/>
                <a:cs typeface="Arial"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cs typeface="Arial"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cs typeface="Arial"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cs typeface="Arial"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cs typeface="Arial"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9pPr>
          </a:lstStyle>
          <a:p>
            <a:pPr>
              <a:lnSpc>
                <a:spcPct val="80000"/>
              </a:lnSpc>
            </a:pPr>
            <a:r>
              <a:rPr lang="fr-FR" altLang="en-US" sz="2000" dirty="0"/>
              <a:t>Atténuation des perturbations par les mangroves</a:t>
            </a:r>
          </a:p>
          <a:p>
            <a:pPr>
              <a:lnSpc>
                <a:spcPct val="80000"/>
              </a:lnSpc>
            </a:pPr>
            <a:r>
              <a:rPr lang="fr-FR" altLang="en-US" sz="2000" dirty="0"/>
              <a:t>Effets des canaux et digues pour limiter les inondations</a:t>
            </a:r>
          </a:p>
          <a:p>
            <a:pPr lvl="1">
              <a:lnSpc>
                <a:spcPct val="80000"/>
              </a:lnSpc>
            </a:pPr>
            <a:r>
              <a:rPr lang="fr-FR" altLang="en-US" sz="1800" dirty="0"/>
              <a:t>Diminution du delta </a:t>
            </a:r>
          </a:p>
          <a:p>
            <a:pPr lvl="1">
              <a:lnSpc>
                <a:spcPct val="80000"/>
              </a:lnSpc>
            </a:pPr>
            <a:r>
              <a:rPr lang="fr-FR" altLang="en-US" sz="1800" dirty="0"/>
              <a:t>Facilitent le passage d’eau salée (tue la végétation)</a:t>
            </a:r>
          </a:p>
          <a:p>
            <a:pPr lvl="1">
              <a:lnSpc>
                <a:spcPct val="80000"/>
              </a:lnSpc>
            </a:pPr>
            <a:r>
              <a:rPr lang="fr-FR" altLang="en-US" sz="1800" dirty="0"/>
              <a:t>Passage du vent</a:t>
            </a:r>
          </a:p>
          <a:p>
            <a:pPr>
              <a:lnSpc>
                <a:spcPct val="80000"/>
              </a:lnSpc>
            </a:pPr>
            <a:endParaRPr lang="fr-FR" altLang="en-US" sz="2000" dirty="0"/>
          </a:p>
        </p:txBody>
      </p:sp>
      <p:pic>
        <p:nvPicPr>
          <p:cNvPr id="25609" name="Picture 9"/>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572000" y="1611313"/>
            <a:ext cx="4024313" cy="291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80036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560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6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Titre 1"/>
          <p:cNvSpPr>
            <a:spLocks noGrp="1"/>
          </p:cNvSpPr>
          <p:nvPr>
            <p:ph type="title"/>
          </p:nvPr>
        </p:nvSpPr>
        <p:spPr/>
        <p:txBody>
          <a:bodyPr/>
          <a:lstStyle/>
          <a:p>
            <a:r>
              <a:rPr lang="fr-FR" altLang="en-US"/>
              <a:t>Recyclage de la matière organique</a:t>
            </a:r>
            <a:endParaRPr lang="en-CA" altLang="en-US"/>
          </a:p>
        </p:txBody>
      </p:sp>
      <p:sp>
        <p:nvSpPr>
          <p:cNvPr id="32770" name="Espace réservé du contenu 3"/>
          <p:cNvSpPr>
            <a:spLocks noGrp="1"/>
          </p:cNvSpPr>
          <p:nvPr>
            <p:ph sz="half" idx="1"/>
          </p:nvPr>
        </p:nvSpPr>
        <p:spPr/>
        <p:txBody>
          <a:bodyPr/>
          <a:lstStyle/>
          <a:p>
            <a:r>
              <a:rPr lang="fr-FR" altLang="en-US" sz="2000"/>
              <a:t>Décomposeurs</a:t>
            </a:r>
          </a:p>
          <a:p>
            <a:pPr lvl="1"/>
            <a:r>
              <a:rPr lang="fr-FR" altLang="en-US" sz="1600"/>
              <a:t>Australie, 1972 : ~ 1 Mha dégradés par an, dû à l’absence de recyclage des bouses de bovins et ovins</a:t>
            </a:r>
          </a:p>
          <a:p>
            <a:pPr lvl="1"/>
            <a:endParaRPr lang="fr-FR" altLang="en-US" sz="1600"/>
          </a:p>
          <a:p>
            <a:pPr lvl="1"/>
            <a:r>
              <a:rPr lang="fr-FR" altLang="en-US" sz="1600"/>
              <a:t>Importation de scarabées coprophages venant d’Afrique du Sud (1 scarabée par tête de bétail pendant 15 ans)</a:t>
            </a:r>
          </a:p>
          <a:p>
            <a:endParaRPr lang="en-CA" altLang="en-US" sz="1600"/>
          </a:p>
        </p:txBody>
      </p:sp>
      <p:sp>
        <p:nvSpPr>
          <p:cNvPr id="32771" name="Espace réservé du contenu 4"/>
          <p:cNvSpPr>
            <a:spLocks noGrp="1"/>
          </p:cNvSpPr>
          <p:nvPr>
            <p:ph sz="half" idx="2"/>
          </p:nvPr>
        </p:nvSpPr>
        <p:spPr>
          <a:xfrm>
            <a:off x="4572000" y="1600200"/>
            <a:ext cx="4038600" cy="4530725"/>
          </a:xfrm>
        </p:spPr>
        <p:txBody>
          <a:bodyPr/>
          <a:lstStyle/>
          <a:p>
            <a:r>
              <a:rPr lang="fr-FR" altLang="en-US" sz="2000"/>
              <a:t>Charognards</a:t>
            </a:r>
          </a:p>
          <a:p>
            <a:pPr lvl="1"/>
            <a:r>
              <a:rPr lang="fr-FR" altLang="en-US" sz="1800"/>
              <a:t>Elimination des cadavres par les vautours chez les Parsis (Inde)</a:t>
            </a:r>
          </a:p>
          <a:p>
            <a:pPr lvl="1"/>
            <a:r>
              <a:rPr lang="fr-FR" altLang="en-US" sz="1800"/>
              <a:t>« Tours du silence »</a:t>
            </a:r>
          </a:p>
        </p:txBody>
      </p:sp>
      <p:pic>
        <p:nvPicPr>
          <p:cNvPr id="32774" name="Picture 6" descr="Fichier:Parsee Tower of Silence, Bombay.jpg"/>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968875" y="3692525"/>
            <a:ext cx="3810000" cy="246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6" name="Picture 8" descr="18099_27_04_12_4_41_08"/>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1047750" y="4613275"/>
            <a:ext cx="2809875" cy="182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322451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2770">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2776"/>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2771">
                                            <p:txEl>
                                              <p:pRg st="0" end="0"/>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32771">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2771">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27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Services culturels</a:t>
            </a:r>
          </a:p>
        </p:txBody>
      </p:sp>
      <p:sp>
        <p:nvSpPr>
          <p:cNvPr id="3" name="Espace réservé du contenu 2"/>
          <p:cNvSpPr>
            <a:spLocks noGrp="1"/>
          </p:cNvSpPr>
          <p:nvPr>
            <p:ph sz="half" idx="1"/>
          </p:nvPr>
        </p:nvSpPr>
        <p:spPr/>
        <p:txBody>
          <a:bodyPr/>
          <a:lstStyle/>
          <a:p>
            <a:r>
              <a:rPr lang="fr-FR" sz="2400" dirty="0"/>
              <a:t>Interactions physiques</a:t>
            </a:r>
          </a:p>
          <a:p>
            <a:pPr lvl="1"/>
            <a:r>
              <a:rPr lang="fr-FR" sz="1800" dirty="0"/>
              <a:t>Utilisation sportive, récréative, éducative, scientifique…</a:t>
            </a:r>
          </a:p>
        </p:txBody>
      </p:sp>
      <p:sp>
        <p:nvSpPr>
          <p:cNvPr id="4" name="Espace réservé du contenu 3"/>
          <p:cNvSpPr>
            <a:spLocks noGrp="1"/>
          </p:cNvSpPr>
          <p:nvPr>
            <p:ph sz="half" idx="2"/>
          </p:nvPr>
        </p:nvSpPr>
        <p:spPr>
          <a:xfrm>
            <a:off x="4648200" y="1600200"/>
            <a:ext cx="4378842" cy="4530725"/>
          </a:xfrm>
        </p:spPr>
        <p:txBody>
          <a:bodyPr/>
          <a:lstStyle/>
          <a:p>
            <a:r>
              <a:rPr lang="fr-FR" sz="2400" dirty="0"/>
              <a:t>Interactions spirituelles</a:t>
            </a:r>
          </a:p>
          <a:p>
            <a:pPr lvl="1"/>
            <a:r>
              <a:rPr lang="fr-FR" sz="1800" dirty="0"/>
              <a:t>Symbolique / religieux</a:t>
            </a: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5109279" y="2525250"/>
            <a:ext cx="3448931" cy="19404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126617" y="5103626"/>
            <a:ext cx="2713518" cy="16281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9" name="Picture 5"/>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869645" y="3040910"/>
            <a:ext cx="3110026" cy="17969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0" name="Picture 6"/>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4776344" y="4611647"/>
            <a:ext cx="4114800" cy="2066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58074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2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z="4000" dirty="0"/>
              <a:t>Rôle de la biodiversité dans la fourniture des services écosystémiques ?</a:t>
            </a:r>
          </a:p>
        </p:txBody>
      </p:sp>
      <p:sp>
        <p:nvSpPr>
          <p:cNvPr id="15" name="Rectangle 3"/>
          <p:cNvSpPr txBox="1">
            <a:spLocks noChangeArrowheads="1"/>
          </p:cNvSpPr>
          <p:nvPr/>
        </p:nvSpPr>
        <p:spPr>
          <a:xfrm>
            <a:off x="457200" y="1600200"/>
            <a:ext cx="8229600" cy="5257800"/>
          </a:xfrm>
          <a:prstGeom prst="rect">
            <a:avLst/>
          </a:prstGeom>
        </p:spPr>
        <p:txBody>
          <a:bodyPr/>
          <a:lstStyle>
            <a:lvl1pPr marL="342900" indent="-342900" algn="l" rtl="0" eaLnBrk="1" fontAlgn="base" hangingPunct="1">
              <a:spcBef>
                <a:spcPct val="20000"/>
              </a:spcBef>
              <a:spcAft>
                <a:spcPct val="0"/>
              </a:spcAft>
              <a:buClr>
                <a:schemeClr val="bg2"/>
              </a:buClr>
              <a:buSzPct val="75000"/>
              <a:buFont typeface="Wingdings"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itchFamily="2" charset="2"/>
              <a:buChar char="§"/>
              <a:defRPr>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r>
              <a:rPr lang="fr-FR" altLang="en-US" sz="2400" kern="0" dirty="0"/>
              <a:t>Ou : de combien d’espèces / d’entités écologiques l’être humain </a:t>
            </a:r>
            <a:r>
              <a:rPr lang="fr-FR" altLang="en-US" sz="2400" kern="0" dirty="0" err="1"/>
              <a:t>a-t-il</a:t>
            </a:r>
            <a:r>
              <a:rPr lang="fr-FR" altLang="en-US" sz="2400" kern="0" dirty="0"/>
              <a:t> besoin ?</a:t>
            </a:r>
          </a:p>
          <a:p>
            <a:pPr>
              <a:buFont typeface="Wingdings" pitchFamily="2" charset="2"/>
              <a:buNone/>
            </a:pPr>
            <a:endParaRPr lang="fr-FR" altLang="en-US" sz="2400" kern="0" dirty="0"/>
          </a:p>
          <a:p>
            <a:endParaRPr lang="fr-FR" altLang="en-US" kern="0" dirty="0"/>
          </a:p>
          <a:p>
            <a:endParaRPr lang="fr-FR" altLang="en-US" kern="0" dirty="0"/>
          </a:p>
          <a:p>
            <a:endParaRPr lang="fr-FR" altLang="en-US" kern="0" dirty="0"/>
          </a:p>
        </p:txBody>
      </p:sp>
      <p:pic>
        <p:nvPicPr>
          <p:cNvPr id="16" name="Picture 4"/>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576263" y="2919413"/>
            <a:ext cx="4359275"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7" name="Picture 5" descr="http://episcoveg.weblogger.com/wp-content/uploads/2008/05/toles-gw-jan1506.gif"/>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218113" y="3082925"/>
            <a:ext cx="3457575" cy="294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08753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0"/>
          <p:cNvGrpSpPr>
            <a:grpSpLocks/>
          </p:cNvGrpSpPr>
          <p:nvPr/>
        </p:nvGrpSpPr>
        <p:grpSpPr bwMode="auto">
          <a:xfrm>
            <a:off x="652463" y="5129213"/>
            <a:ext cx="8334375" cy="1384300"/>
            <a:chOff x="411" y="3231"/>
            <a:chExt cx="5250" cy="872"/>
          </a:xfrm>
        </p:grpSpPr>
        <p:sp>
          <p:nvSpPr>
            <p:cNvPr id="22558" name="Text Box 22"/>
            <p:cNvSpPr txBox="1">
              <a:spLocks noChangeArrowheads="1"/>
            </p:cNvSpPr>
            <p:nvPr/>
          </p:nvSpPr>
          <p:spPr bwMode="auto">
            <a:xfrm>
              <a:off x="3587" y="3921"/>
              <a:ext cx="207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bg2"/>
                </a:buClr>
                <a:buSzPct val="75000"/>
                <a:buFont typeface="Wingdings" pitchFamily="2" charset="2"/>
                <a:buChar char="p"/>
                <a:defRPr sz="2800">
                  <a:solidFill>
                    <a:schemeClr val="tx1"/>
                  </a:solidFill>
                  <a:latin typeface="Verdana" pitchFamily="34" charset="0"/>
                  <a:cs typeface="Arial"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cs typeface="Arial"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cs typeface="Arial"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cs typeface="Arial"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cs typeface="Arial"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9pPr>
            </a:lstStyle>
            <a:p>
              <a:pPr algn="r" eaLnBrk="1" hangingPunct="1">
                <a:spcBef>
                  <a:spcPct val="50000"/>
                </a:spcBef>
                <a:buClrTx/>
                <a:buSzTx/>
                <a:buFontTx/>
                <a:buNone/>
              </a:pPr>
              <a:r>
                <a:rPr lang="fr-FR" altLang="en-US" sz="1200" dirty="0">
                  <a:solidFill>
                    <a:srgbClr val="0000FF"/>
                  </a:solidFill>
                </a:rPr>
                <a:t>Economie, anthropologie, sociologie</a:t>
              </a:r>
            </a:p>
          </p:txBody>
        </p:sp>
        <p:sp>
          <p:nvSpPr>
            <p:cNvPr id="22557" name="Rectangle 21"/>
            <p:cNvSpPr>
              <a:spLocks noChangeArrowheads="1"/>
            </p:cNvSpPr>
            <p:nvPr/>
          </p:nvSpPr>
          <p:spPr bwMode="auto">
            <a:xfrm>
              <a:off x="411" y="3231"/>
              <a:ext cx="5250" cy="872"/>
            </a:xfrm>
            <a:prstGeom prst="rect">
              <a:avLst/>
            </a:prstGeom>
            <a:noFill/>
            <a:ln w="38100">
              <a:solidFill>
                <a:srgbClr val="0000FF"/>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bg2"/>
                </a:buClr>
                <a:buSzPct val="75000"/>
                <a:buFont typeface="Wingdings" pitchFamily="2" charset="2"/>
                <a:buChar char="p"/>
                <a:defRPr sz="2800">
                  <a:solidFill>
                    <a:schemeClr val="tx1"/>
                  </a:solidFill>
                  <a:latin typeface="Verdana" pitchFamily="34" charset="0"/>
                  <a:cs typeface="Arial"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cs typeface="Arial"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cs typeface="Arial"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cs typeface="Arial"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cs typeface="Arial"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9pPr>
            </a:lstStyle>
            <a:p>
              <a:pPr eaLnBrk="1" hangingPunct="1">
                <a:spcBef>
                  <a:spcPct val="0"/>
                </a:spcBef>
                <a:buClrTx/>
                <a:buSzTx/>
                <a:buFontTx/>
                <a:buNone/>
              </a:pPr>
              <a:endParaRPr lang="en-US" altLang="en-US" sz="1800"/>
            </a:p>
          </p:txBody>
        </p:sp>
      </p:grpSp>
      <p:grpSp>
        <p:nvGrpSpPr>
          <p:cNvPr id="3" name="Group 39"/>
          <p:cNvGrpSpPr>
            <a:grpSpLocks/>
          </p:cNvGrpSpPr>
          <p:nvPr/>
        </p:nvGrpSpPr>
        <p:grpSpPr bwMode="auto">
          <a:xfrm>
            <a:off x="374650" y="1576388"/>
            <a:ext cx="5511800" cy="4022725"/>
            <a:chOff x="236" y="993"/>
            <a:chExt cx="3472" cy="2534"/>
          </a:xfrm>
        </p:grpSpPr>
        <p:sp>
          <p:nvSpPr>
            <p:cNvPr id="22555" name="Rectangle 20"/>
            <p:cNvSpPr>
              <a:spLocks noChangeArrowheads="1"/>
            </p:cNvSpPr>
            <p:nvPr/>
          </p:nvSpPr>
          <p:spPr bwMode="auto">
            <a:xfrm>
              <a:off x="236" y="993"/>
              <a:ext cx="3472" cy="2534"/>
            </a:xfrm>
            <a:prstGeom prst="rect">
              <a:avLst/>
            </a:prstGeom>
            <a:noFill/>
            <a:ln w="38100">
              <a:solidFill>
                <a:schemeClr val="accent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bg2"/>
                </a:buClr>
                <a:buSzPct val="75000"/>
                <a:buFont typeface="Wingdings" pitchFamily="2" charset="2"/>
                <a:buChar char="p"/>
                <a:defRPr sz="2800">
                  <a:solidFill>
                    <a:schemeClr val="tx1"/>
                  </a:solidFill>
                  <a:latin typeface="Verdana" pitchFamily="34" charset="0"/>
                  <a:cs typeface="Arial"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cs typeface="Arial"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cs typeface="Arial"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cs typeface="Arial"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cs typeface="Arial"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9pPr>
            </a:lstStyle>
            <a:p>
              <a:pPr eaLnBrk="1" hangingPunct="1">
                <a:spcBef>
                  <a:spcPct val="0"/>
                </a:spcBef>
                <a:buClrTx/>
                <a:buSzTx/>
                <a:buFontTx/>
                <a:buNone/>
              </a:pPr>
              <a:endParaRPr lang="en-US" altLang="en-US" sz="1800"/>
            </a:p>
          </p:txBody>
        </p:sp>
        <p:sp>
          <p:nvSpPr>
            <p:cNvPr id="22556" name="Text Box 23"/>
            <p:cNvSpPr txBox="1">
              <a:spLocks noChangeArrowheads="1"/>
            </p:cNvSpPr>
            <p:nvPr/>
          </p:nvSpPr>
          <p:spPr bwMode="auto">
            <a:xfrm>
              <a:off x="256" y="1029"/>
              <a:ext cx="52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bg2"/>
                </a:buClr>
                <a:buSzPct val="75000"/>
                <a:buFont typeface="Wingdings" pitchFamily="2" charset="2"/>
                <a:buChar char="p"/>
                <a:defRPr sz="2800">
                  <a:solidFill>
                    <a:schemeClr val="tx1"/>
                  </a:solidFill>
                  <a:latin typeface="Verdana" pitchFamily="34" charset="0"/>
                  <a:cs typeface="Arial"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cs typeface="Arial"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cs typeface="Arial"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cs typeface="Arial"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cs typeface="Arial"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9pPr>
            </a:lstStyle>
            <a:p>
              <a:pPr eaLnBrk="1" hangingPunct="1">
                <a:spcBef>
                  <a:spcPct val="50000"/>
                </a:spcBef>
                <a:buClrTx/>
                <a:buSzTx/>
                <a:buFontTx/>
                <a:buNone/>
              </a:pPr>
              <a:r>
                <a:rPr lang="fr-FR" altLang="en-US" sz="1200">
                  <a:solidFill>
                    <a:schemeClr val="accent1"/>
                  </a:solidFill>
                </a:rPr>
                <a:t>Ecologie</a:t>
              </a:r>
            </a:p>
          </p:txBody>
        </p:sp>
      </p:grpSp>
      <p:sp>
        <p:nvSpPr>
          <p:cNvPr id="22533" name="Rectangle 2"/>
          <p:cNvSpPr>
            <a:spLocks noGrp="1" noChangeArrowheads="1"/>
          </p:cNvSpPr>
          <p:nvPr>
            <p:ph type="title"/>
          </p:nvPr>
        </p:nvSpPr>
        <p:spPr/>
        <p:txBody>
          <a:bodyPr/>
          <a:lstStyle/>
          <a:p>
            <a:pPr eaLnBrk="1" hangingPunct="1"/>
            <a:r>
              <a:rPr lang="fr-FR" altLang="en-US" sz="4000"/>
              <a:t>Fonctionnement des écosystèmes et services écosystémiques</a:t>
            </a:r>
          </a:p>
        </p:txBody>
      </p:sp>
      <p:sp>
        <p:nvSpPr>
          <p:cNvPr id="22534" name="Text Box 6"/>
          <p:cNvSpPr txBox="1">
            <a:spLocks noChangeArrowheads="1"/>
          </p:cNvSpPr>
          <p:nvPr/>
        </p:nvSpPr>
        <p:spPr bwMode="auto">
          <a:xfrm>
            <a:off x="574675" y="3060700"/>
            <a:ext cx="1439863" cy="1184275"/>
          </a:xfrm>
          <a:prstGeom prst="rect">
            <a:avLst/>
          </a:prstGeom>
          <a:noFill/>
          <a:ln w="28575">
            <a:solidFill>
              <a:srgbClr val="008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ct val="20000"/>
              </a:spcBef>
              <a:buClr>
                <a:schemeClr val="bg2"/>
              </a:buClr>
              <a:buSzPct val="75000"/>
              <a:buFont typeface="Wingdings" pitchFamily="2" charset="2"/>
              <a:buChar char="p"/>
              <a:defRPr sz="2800">
                <a:solidFill>
                  <a:schemeClr val="tx1"/>
                </a:solidFill>
                <a:latin typeface="Verdana" pitchFamily="34" charset="0"/>
                <a:cs typeface="Arial"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cs typeface="Arial"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cs typeface="Arial"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cs typeface="Arial"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cs typeface="Arial"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9pPr>
          </a:lstStyle>
          <a:p>
            <a:pPr algn="ctr" eaLnBrk="1" hangingPunct="1">
              <a:spcBef>
                <a:spcPct val="0"/>
              </a:spcBef>
              <a:buClrTx/>
              <a:buSzTx/>
              <a:buFontTx/>
              <a:buNone/>
            </a:pPr>
            <a:r>
              <a:rPr lang="fr-FR" altLang="ja-JP" sz="1400" b="1">
                <a:solidFill>
                  <a:srgbClr val="008000"/>
                </a:solidFill>
                <a:latin typeface="Palatino Linotype" pitchFamily="18" charset="0"/>
                <a:ea typeface="MS Mincho" pitchFamily="49" charset="-128"/>
              </a:rPr>
              <a:t>Structure des communautés</a:t>
            </a:r>
          </a:p>
          <a:p>
            <a:pPr algn="ctr" eaLnBrk="1" hangingPunct="1">
              <a:spcBef>
                <a:spcPct val="0"/>
              </a:spcBef>
              <a:buClrTx/>
              <a:buSzTx/>
              <a:buFontTx/>
              <a:buNone/>
            </a:pPr>
            <a:r>
              <a:rPr lang="fr-FR" altLang="ja-JP" sz="1400" b="1">
                <a:solidFill>
                  <a:srgbClr val="008000"/>
                </a:solidFill>
                <a:latin typeface="Palatino Linotype" pitchFamily="18" charset="0"/>
                <a:ea typeface="MS Mincho" pitchFamily="49" charset="-128"/>
              </a:rPr>
              <a:t>(Diversité, présence d’une espèce ….)</a:t>
            </a:r>
            <a:endParaRPr lang="fr-FR" altLang="en-US" sz="1400"/>
          </a:p>
        </p:txBody>
      </p:sp>
      <p:grpSp>
        <p:nvGrpSpPr>
          <p:cNvPr id="4" name="Group 38"/>
          <p:cNvGrpSpPr>
            <a:grpSpLocks/>
          </p:cNvGrpSpPr>
          <p:nvPr/>
        </p:nvGrpSpPr>
        <p:grpSpPr bwMode="auto">
          <a:xfrm>
            <a:off x="971550" y="4262438"/>
            <a:ext cx="5788025" cy="1701800"/>
            <a:chOff x="612" y="2685"/>
            <a:chExt cx="3646" cy="1072"/>
          </a:xfrm>
        </p:grpSpPr>
        <p:sp>
          <p:nvSpPr>
            <p:cNvPr id="22550" name="Text Box 12"/>
            <p:cNvSpPr txBox="1">
              <a:spLocks noChangeArrowheads="1"/>
            </p:cNvSpPr>
            <p:nvPr/>
          </p:nvSpPr>
          <p:spPr bwMode="auto">
            <a:xfrm>
              <a:off x="612" y="3413"/>
              <a:ext cx="774" cy="344"/>
            </a:xfrm>
            <a:prstGeom prst="rect">
              <a:avLst/>
            </a:prstGeom>
            <a:solidFill>
              <a:schemeClr val="bg1"/>
            </a:solidFill>
            <a:ln w="28575">
              <a:solidFill>
                <a:srgbClr val="000000"/>
              </a:solidFill>
              <a:miter lim="800000"/>
              <a:headEnd/>
              <a:tailEnd/>
            </a:ln>
          </p:spPr>
          <p:txBody>
            <a:bodyPr>
              <a:spAutoFit/>
            </a:bodyPr>
            <a:lstStyle>
              <a:lvl1pPr eaLnBrk="0" hangingPunct="0">
                <a:spcBef>
                  <a:spcPct val="20000"/>
                </a:spcBef>
                <a:buClr>
                  <a:schemeClr val="bg2"/>
                </a:buClr>
                <a:buSzPct val="75000"/>
                <a:buFont typeface="Wingdings" pitchFamily="2" charset="2"/>
                <a:buChar char="p"/>
                <a:defRPr sz="2800">
                  <a:solidFill>
                    <a:schemeClr val="tx1"/>
                  </a:solidFill>
                  <a:latin typeface="Verdana" pitchFamily="34" charset="0"/>
                  <a:cs typeface="Arial"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cs typeface="Arial"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cs typeface="Arial"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cs typeface="Arial"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cs typeface="Arial"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9pPr>
            </a:lstStyle>
            <a:p>
              <a:pPr algn="ctr" eaLnBrk="1" hangingPunct="1">
                <a:spcBef>
                  <a:spcPct val="0"/>
                </a:spcBef>
                <a:buClrTx/>
                <a:buSzTx/>
                <a:buFontTx/>
                <a:buNone/>
              </a:pPr>
              <a:r>
                <a:rPr lang="fr-FR" altLang="ja-JP" sz="1400" b="1">
                  <a:latin typeface="Palatino Linotype" pitchFamily="18" charset="0"/>
                  <a:ea typeface="MS Mincho" pitchFamily="49" charset="-128"/>
                </a:rPr>
                <a:t>Activités humaines</a:t>
              </a:r>
              <a:endParaRPr lang="fr-FR" altLang="en-US" sz="1400"/>
            </a:p>
          </p:txBody>
        </p:sp>
        <p:sp>
          <p:nvSpPr>
            <p:cNvPr id="22551" name="AutoShape 13"/>
            <p:cNvSpPr>
              <a:spLocks noChangeArrowheads="1"/>
            </p:cNvSpPr>
            <p:nvPr/>
          </p:nvSpPr>
          <p:spPr bwMode="auto">
            <a:xfrm>
              <a:off x="1396" y="3554"/>
              <a:ext cx="2862" cy="92"/>
            </a:xfrm>
            <a:prstGeom prst="leftArrow">
              <a:avLst>
                <a:gd name="adj1" fmla="val 50000"/>
                <a:gd name="adj2" fmla="val 777717"/>
              </a:avLst>
            </a:prstGeom>
            <a:solidFill>
              <a:srgbClr val="FFFFFF"/>
            </a:solidFill>
            <a:ln w="9525">
              <a:solidFill>
                <a:srgbClr val="000000"/>
              </a:solidFill>
              <a:miter lim="800000"/>
              <a:headEnd/>
              <a:tailEnd/>
            </a:ln>
          </p:spPr>
          <p:txBody>
            <a:bodyPr/>
            <a:lstStyle>
              <a:lvl1pPr eaLnBrk="0" hangingPunct="0">
                <a:spcBef>
                  <a:spcPct val="20000"/>
                </a:spcBef>
                <a:buClr>
                  <a:schemeClr val="bg2"/>
                </a:buClr>
                <a:buSzPct val="75000"/>
                <a:buFont typeface="Wingdings" pitchFamily="2" charset="2"/>
                <a:buChar char="p"/>
                <a:defRPr sz="2800">
                  <a:solidFill>
                    <a:schemeClr val="tx1"/>
                  </a:solidFill>
                  <a:latin typeface="Verdana" pitchFamily="34" charset="0"/>
                  <a:cs typeface="Arial"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cs typeface="Arial"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cs typeface="Arial"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cs typeface="Arial"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cs typeface="Arial"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9pPr>
            </a:lstStyle>
            <a:p>
              <a:pPr eaLnBrk="1" hangingPunct="1">
                <a:spcBef>
                  <a:spcPct val="0"/>
                </a:spcBef>
                <a:buClrTx/>
                <a:buSzTx/>
                <a:buFontTx/>
                <a:buNone/>
              </a:pPr>
              <a:endParaRPr lang="en-US" altLang="en-US" sz="1800"/>
            </a:p>
          </p:txBody>
        </p:sp>
        <p:sp>
          <p:nvSpPr>
            <p:cNvPr id="22552" name="AutoShape 14"/>
            <p:cNvSpPr>
              <a:spLocks noChangeArrowheads="1"/>
            </p:cNvSpPr>
            <p:nvPr/>
          </p:nvSpPr>
          <p:spPr bwMode="auto">
            <a:xfrm>
              <a:off x="880" y="2685"/>
              <a:ext cx="55" cy="727"/>
            </a:xfrm>
            <a:prstGeom prst="upArrow">
              <a:avLst>
                <a:gd name="adj1" fmla="val 50000"/>
                <a:gd name="adj2" fmla="val 330455"/>
              </a:avLst>
            </a:prstGeom>
            <a:solidFill>
              <a:srgbClr val="FFFFFF"/>
            </a:solidFill>
            <a:ln w="9525">
              <a:solidFill>
                <a:srgbClr val="000000"/>
              </a:solidFill>
              <a:miter lim="800000"/>
              <a:headEnd/>
              <a:tailEnd/>
            </a:ln>
          </p:spPr>
          <p:txBody>
            <a:bodyPr vert="eaVert"/>
            <a:lstStyle>
              <a:lvl1pPr eaLnBrk="0" hangingPunct="0">
                <a:spcBef>
                  <a:spcPct val="20000"/>
                </a:spcBef>
                <a:buClr>
                  <a:schemeClr val="bg2"/>
                </a:buClr>
                <a:buSzPct val="75000"/>
                <a:buFont typeface="Wingdings" pitchFamily="2" charset="2"/>
                <a:buChar char="p"/>
                <a:defRPr sz="2800">
                  <a:solidFill>
                    <a:schemeClr val="tx1"/>
                  </a:solidFill>
                  <a:latin typeface="Verdana" pitchFamily="34" charset="0"/>
                  <a:cs typeface="Arial"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cs typeface="Arial"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cs typeface="Arial"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cs typeface="Arial"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cs typeface="Arial"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9pPr>
            </a:lstStyle>
            <a:p>
              <a:pPr eaLnBrk="1" hangingPunct="1">
                <a:spcBef>
                  <a:spcPct val="0"/>
                </a:spcBef>
                <a:buClrTx/>
                <a:buSzTx/>
                <a:buFontTx/>
                <a:buNone/>
              </a:pPr>
              <a:endParaRPr lang="en-US" altLang="en-US" sz="1800"/>
            </a:p>
          </p:txBody>
        </p:sp>
        <p:sp>
          <p:nvSpPr>
            <p:cNvPr id="22553" name="AutoShape 15"/>
            <p:cNvSpPr>
              <a:spLocks noChangeArrowheads="1"/>
            </p:cNvSpPr>
            <p:nvPr/>
          </p:nvSpPr>
          <p:spPr bwMode="auto">
            <a:xfrm>
              <a:off x="702" y="2974"/>
              <a:ext cx="113" cy="148"/>
            </a:xfrm>
            <a:prstGeom prst="plus">
              <a:avLst>
                <a:gd name="adj" fmla="val 36750"/>
              </a:avLst>
            </a:prstGeom>
            <a:solidFill>
              <a:srgbClr val="FFFFFF"/>
            </a:solidFill>
            <a:ln w="9525">
              <a:solidFill>
                <a:srgbClr val="000000"/>
              </a:solidFill>
              <a:miter lim="800000"/>
              <a:headEnd/>
              <a:tailEnd/>
            </a:ln>
          </p:spPr>
          <p:txBody>
            <a:bodyPr/>
            <a:lstStyle>
              <a:lvl1pPr eaLnBrk="0" hangingPunct="0">
                <a:spcBef>
                  <a:spcPct val="20000"/>
                </a:spcBef>
                <a:buClr>
                  <a:schemeClr val="bg2"/>
                </a:buClr>
                <a:buSzPct val="75000"/>
                <a:buFont typeface="Wingdings" pitchFamily="2" charset="2"/>
                <a:buChar char="p"/>
                <a:defRPr sz="2800">
                  <a:solidFill>
                    <a:schemeClr val="tx1"/>
                  </a:solidFill>
                  <a:latin typeface="Verdana" pitchFamily="34" charset="0"/>
                  <a:cs typeface="Arial"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cs typeface="Arial"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cs typeface="Arial"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cs typeface="Arial"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cs typeface="Arial"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9pPr>
            </a:lstStyle>
            <a:p>
              <a:pPr eaLnBrk="1" hangingPunct="1">
                <a:spcBef>
                  <a:spcPct val="0"/>
                </a:spcBef>
                <a:buClrTx/>
                <a:buSzTx/>
                <a:buFontTx/>
                <a:buNone/>
              </a:pPr>
              <a:endParaRPr lang="en-US" altLang="en-US" sz="1800"/>
            </a:p>
          </p:txBody>
        </p:sp>
        <p:sp>
          <p:nvSpPr>
            <p:cNvPr id="22554" name="Rectangle 16"/>
            <p:cNvSpPr>
              <a:spLocks noChangeArrowheads="1"/>
            </p:cNvSpPr>
            <p:nvPr/>
          </p:nvSpPr>
          <p:spPr bwMode="auto">
            <a:xfrm>
              <a:off x="1000" y="3026"/>
              <a:ext cx="113" cy="44"/>
            </a:xfrm>
            <a:prstGeom prst="rect">
              <a:avLst/>
            </a:prstGeom>
            <a:solidFill>
              <a:srgbClr val="FFFFFF"/>
            </a:solidFill>
            <a:ln w="9525">
              <a:solidFill>
                <a:srgbClr val="000000"/>
              </a:solidFill>
              <a:miter lim="800000"/>
              <a:headEnd/>
              <a:tailEnd/>
            </a:ln>
          </p:spPr>
          <p:txBody>
            <a:bodyPr/>
            <a:lstStyle>
              <a:lvl1pPr eaLnBrk="0" hangingPunct="0">
                <a:spcBef>
                  <a:spcPct val="20000"/>
                </a:spcBef>
                <a:buClr>
                  <a:schemeClr val="bg2"/>
                </a:buClr>
                <a:buSzPct val="75000"/>
                <a:buFont typeface="Wingdings" pitchFamily="2" charset="2"/>
                <a:buChar char="p"/>
                <a:defRPr sz="2800">
                  <a:solidFill>
                    <a:schemeClr val="tx1"/>
                  </a:solidFill>
                  <a:latin typeface="Verdana" pitchFamily="34" charset="0"/>
                  <a:cs typeface="Arial"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cs typeface="Arial"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cs typeface="Arial"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cs typeface="Arial"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cs typeface="Arial"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9pPr>
            </a:lstStyle>
            <a:p>
              <a:pPr eaLnBrk="1" hangingPunct="1">
                <a:spcBef>
                  <a:spcPct val="0"/>
                </a:spcBef>
                <a:buClrTx/>
                <a:buSzTx/>
                <a:buFontTx/>
                <a:buNone/>
              </a:pPr>
              <a:endParaRPr lang="en-US" altLang="en-US" sz="1800"/>
            </a:p>
          </p:txBody>
        </p:sp>
      </p:grpSp>
      <p:pic>
        <p:nvPicPr>
          <p:cNvPr id="22536" name="Picture 31"/>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533400" y="1957388"/>
            <a:ext cx="1524000" cy="101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35"/>
          <p:cNvGrpSpPr>
            <a:grpSpLocks/>
          </p:cNvGrpSpPr>
          <p:nvPr/>
        </p:nvGrpSpPr>
        <p:grpSpPr bwMode="auto">
          <a:xfrm>
            <a:off x="2024063" y="2892425"/>
            <a:ext cx="2517775" cy="2101850"/>
            <a:chOff x="1275" y="1822"/>
            <a:chExt cx="1586" cy="1324"/>
          </a:xfrm>
        </p:grpSpPr>
        <p:sp>
          <p:nvSpPr>
            <p:cNvPr id="22547" name="Text Box 5"/>
            <p:cNvSpPr txBox="1">
              <a:spLocks noChangeArrowheads="1"/>
            </p:cNvSpPr>
            <p:nvPr/>
          </p:nvSpPr>
          <p:spPr bwMode="auto">
            <a:xfrm>
              <a:off x="1438" y="2534"/>
              <a:ext cx="1423" cy="612"/>
            </a:xfrm>
            <a:prstGeom prst="rect">
              <a:avLst/>
            </a:prstGeom>
            <a:noFill/>
            <a:ln w="28575">
              <a:solidFill>
                <a:srgbClr val="FF99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ct val="20000"/>
                </a:spcBef>
                <a:buClr>
                  <a:schemeClr val="bg2"/>
                </a:buClr>
                <a:buSzPct val="75000"/>
                <a:buFont typeface="Wingdings" pitchFamily="2" charset="2"/>
                <a:buChar char="p"/>
                <a:defRPr sz="2800">
                  <a:solidFill>
                    <a:schemeClr val="tx1"/>
                  </a:solidFill>
                  <a:latin typeface="Verdana" pitchFamily="34" charset="0"/>
                  <a:cs typeface="Arial"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cs typeface="Arial"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cs typeface="Arial"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cs typeface="Arial"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cs typeface="Arial"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9pPr>
            </a:lstStyle>
            <a:p>
              <a:pPr algn="ctr" eaLnBrk="1" hangingPunct="1">
                <a:spcBef>
                  <a:spcPct val="0"/>
                </a:spcBef>
                <a:buClrTx/>
                <a:buSzTx/>
                <a:buFontTx/>
                <a:buNone/>
              </a:pPr>
              <a:r>
                <a:rPr lang="fr-FR" altLang="ja-JP" sz="1400" b="1" dirty="0">
                  <a:solidFill>
                    <a:srgbClr val="FF9900"/>
                  </a:solidFill>
                  <a:latin typeface="Palatino Linotype" pitchFamily="18" charset="0"/>
                  <a:ea typeface="MS Mincho" pitchFamily="49" charset="-128"/>
                </a:rPr>
                <a:t>Propriété de l’écosystème</a:t>
              </a:r>
            </a:p>
            <a:p>
              <a:pPr algn="ctr" eaLnBrk="1" hangingPunct="1">
                <a:spcBef>
                  <a:spcPct val="0"/>
                </a:spcBef>
                <a:buClrTx/>
                <a:buSzTx/>
                <a:buFontTx/>
                <a:buNone/>
              </a:pPr>
              <a:r>
                <a:rPr lang="fr-FR" altLang="ja-JP" sz="1400" b="1" dirty="0">
                  <a:solidFill>
                    <a:srgbClr val="FF9900"/>
                  </a:solidFill>
                  <a:latin typeface="Palatino Linotype" pitchFamily="18" charset="0"/>
                  <a:ea typeface="MS Mincho" pitchFamily="49" charset="-128"/>
                </a:rPr>
                <a:t>(</a:t>
              </a:r>
              <a:r>
                <a:rPr lang="fr-FR" altLang="ja-JP" sz="1400" b="1" dirty="0" err="1">
                  <a:solidFill>
                    <a:srgbClr val="FF9900"/>
                  </a:solidFill>
                  <a:latin typeface="Palatino Linotype" pitchFamily="18" charset="0"/>
                  <a:ea typeface="MS Mincho" pitchFamily="49" charset="-128"/>
                </a:rPr>
                <a:t>Prod</a:t>
              </a:r>
              <a:r>
                <a:rPr lang="fr-FR" altLang="ja-JP" sz="1400" b="1" dirty="0">
                  <a:solidFill>
                    <a:srgbClr val="FF9900"/>
                  </a:solidFill>
                  <a:latin typeface="Palatino Linotype" pitchFamily="18" charset="0"/>
                  <a:ea typeface="MS Mincho" pitchFamily="49" charset="-128"/>
                </a:rPr>
                <a:t>. primaire, circulation de l’eau…)</a:t>
              </a:r>
              <a:endParaRPr lang="fr-FR" altLang="en-US" sz="1400" dirty="0"/>
            </a:p>
          </p:txBody>
        </p:sp>
        <p:sp>
          <p:nvSpPr>
            <p:cNvPr id="22548" name="AutoShape 19"/>
            <p:cNvSpPr>
              <a:spLocks noChangeArrowheads="1"/>
            </p:cNvSpPr>
            <p:nvPr/>
          </p:nvSpPr>
          <p:spPr bwMode="auto">
            <a:xfrm>
              <a:off x="1275" y="2585"/>
              <a:ext cx="153" cy="85"/>
            </a:xfrm>
            <a:prstGeom prst="rightArrow">
              <a:avLst>
                <a:gd name="adj1" fmla="val 50000"/>
                <a:gd name="adj2" fmla="val 45000"/>
              </a:avLst>
            </a:prstGeom>
            <a:solidFill>
              <a:srgbClr val="FFFFFF"/>
            </a:solidFill>
            <a:ln w="9525">
              <a:solidFill>
                <a:srgbClr val="000000"/>
              </a:solidFill>
              <a:miter lim="800000"/>
              <a:headEnd/>
              <a:tailEnd/>
            </a:ln>
          </p:spPr>
          <p:txBody>
            <a:bodyPr/>
            <a:lstStyle>
              <a:lvl1pPr eaLnBrk="0" hangingPunct="0">
                <a:spcBef>
                  <a:spcPct val="20000"/>
                </a:spcBef>
                <a:buClr>
                  <a:schemeClr val="bg2"/>
                </a:buClr>
                <a:buSzPct val="75000"/>
                <a:buFont typeface="Wingdings" pitchFamily="2" charset="2"/>
                <a:buChar char="p"/>
                <a:defRPr sz="2800">
                  <a:solidFill>
                    <a:schemeClr val="tx1"/>
                  </a:solidFill>
                  <a:latin typeface="Verdana" pitchFamily="34" charset="0"/>
                  <a:cs typeface="Arial"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cs typeface="Arial"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cs typeface="Arial"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cs typeface="Arial"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cs typeface="Arial"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9pPr>
            </a:lstStyle>
            <a:p>
              <a:pPr eaLnBrk="1" hangingPunct="1">
                <a:spcBef>
                  <a:spcPct val="0"/>
                </a:spcBef>
                <a:buClrTx/>
                <a:buSzTx/>
                <a:buFontTx/>
                <a:buNone/>
              </a:pPr>
              <a:endParaRPr lang="en-US" altLang="en-US" sz="1800"/>
            </a:p>
          </p:txBody>
        </p:sp>
        <p:pic>
          <p:nvPicPr>
            <p:cNvPr id="22549" name="Picture 32"/>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699" y="1822"/>
              <a:ext cx="900" cy="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6" name="Group 36"/>
          <p:cNvGrpSpPr>
            <a:grpSpLocks/>
          </p:cNvGrpSpPr>
          <p:nvPr/>
        </p:nvGrpSpPr>
        <p:grpSpPr bwMode="auto">
          <a:xfrm>
            <a:off x="4564063" y="3681413"/>
            <a:ext cx="1930400" cy="1851025"/>
            <a:chOff x="2875" y="2319"/>
            <a:chExt cx="1216" cy="1166"/>
          </a:xfrm>
        </p:grpSpPr>
        <p:sp>
          <p:nvSpPr>
            <p:cNvPr id="22544" name="Text Box 7"/>
            <p:cNvSpPr txBox="1">
              <a:spLocks noChangeArrowheads="1"/>
            </p:cNvSpPr>
            <p:nvPr/>
          </p:nvSpPr>
          <p:spPr bwMode="auto">
            <a:xfrm>
              <a:off x="3035" y="3007"/>
              <a:ext cx="1056" cy="478"/>
            </a:xfrm>
            <a:prstGeom prst="rect">
              <a:avLst/>
            </a:prstGeom>
            <a:solidFill>
              <a:schemeClr val="bg1"/>
            </a:solidFill>
            <a:ln w="28575">
              <a:solidFill>
                <a:srgbClr val="FF0000"/>
              </a:solidFill>
              <a:miter lim="800000"/>
              <a:headEnd/>
              <a:tailEnd/>
            </a:ln>
          </p:spPr>
          <p:txBody>
            <a:bodyPr>
              <a:spAutoFit/>
            </a:bodyPr>
            <a:lstStyle>
              <a:lvl1pPr eaLnBrk="0" hangingPunct="0">
                <a:spcBef>
                  <a:spcPct val="20000"/>
                </a:spcBef>
                <a:buClr>
                  <a:schemeClr val="bg2"/>
                </a:buClr>
                <a:buSzPct val="75000"/>
                <a:buFont typeface="Wingdings" pitchFamily="2" charset="2"/>
                <a:buChar char="p"/>
                <a:defRPr sz="2800">
                  <a:solidFill>
                    <a:schemeClr val="tx1"/>
                  </a:solidFill>
                  <a:latin typeface="Verdana" pitchFamily="34" charset="0"/>
                  <a:cs typeface="Arial"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cs typeface="Arial"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cs typeface="Arial"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cs typeface="Arial"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cs typeface="Arial"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9pPr>
            </a:lstStyle>
            <a:p>
              <a:pPr algn="ctr" eaLnBrk="1" hangingPunct="1">
                <a:spcBef>
                  <a:spcPct val="0"/>
                </a:spcBef>
                <a:buClrTx/>
                <a:buSzTx/>
                <a:buFontTx/>
                <a:buNone/>
              </a:pPr>
              <a:r>
                <a:rPr lang="fr-FR" altLang="ja-JP" sz="1400" b="1" dirty="0">
                  <a:solidFill>
                    <a:srgbClr val="FF0000"/>
                  </a:solidFill>
                  <a:latin typeface="Palatino Linotype" pitchFamily="18" charset="0"/>
                  <a:ea typeface="MS Mincho" pitchFamily="49" charset="-128"/>
                </a:rPr>
                <a:t>Services</a:t>
              </a:r>
            </a:p>
            <a:p>
              <a:pPr algn="ctr" eaLnBrk="1" hangingPunct="1">
                <a:spcBef>
                  <a:spcPct val="0"/>
                </a:spcBef>
                <a:buClrTx/>
                <a:buSzTx/>
                <a:buFontTx/>
                <a:buNone/>
              </a:pPr>
              <a:r>
                <a:rPr lang="fr-FR" altLang="ja-JP" sz="1400" b="1" dirty="0">
                  <a:solidFill>
                    <a:srgbClr val="FF0000"/>
                  </a:solidFill>
                  <a:latin typeface="Palatino Linotype" pitchFamily="18" charset="0"/>
                  <a:ea typeface="MS Mincho" pitchFamily="49" charset="-128"/>
                </a:rPr>
                <a:t>(Biomasse, lutte inondations…)</a:t>
              </a:r>
              <a:endParaRPr lang="fr-FR" altLang="en-US" sz="1400" dirty="0"/>
            </a:p>
          </p:txBody>
        </p:sp>
        <p:sp>
          <p:nvSpPr>
            <p:cNvPr id="22545" name="AutoShape 18"/>
            <p:cNvSpPr>
              <a:spLocks noChangeArrowheads="1"/>
            </p:cNvSpPr>
            <p:nvPr/>
          </p:nvSpPr>
          <p:spPr bwMode="auto">
            <a:xfrm>
              <a:off x="2875" y="3045"/>
              <a:ext cx="153" cy="85"/>
            </a:xfrm>
            <a:prstGeom prst="rightArrow">
              <a:avLst>
                <a:gd name="adj1" fmla="val 50000"/>
                <a:gd name="adj2" fmla="val 45000"/>
              </a:avLst>
            </a:prstGeom>
            <a:solidFill>
              <a:srgbClr val="FFFFFF"/>
            </a:solidFill>
            <a:ln w="9525">
              <a:solidFill>
                <a:srgbClr val="000000"/>
              </a:solidFill>
              <a:miter lim="800000"/>
              <a:headEnd/>
              <a:tailEnd/>
            </a:ln>
          </p:spPr>
          <p:txBody>
            <a:bodyPr/>
            <a:lstStyle>
              <a:lvl1pPr eaLnBrk="0" hangingPunct="0">
                <a:spcBef>
                  <a:spcPct val="20000"/>
                </a:spcBef>
                <a:buClr>
                  <a:schemeClr val="bg2"/>
                </a:buClr>
                <a:buSzPct val="75000"/>
                <a:buFont typeface="Wingdings" pitchFamily="2" charset="2"/>
                <a:buChar char="p"/>
                <a:defRPr sz="2800">
                  <a:solidFill>
                    <a:schemeClr val="tx1"/>
                  </a:solidFill>
                  <a:latin typeface="Verdana" pitchFamily="34" charset="0"/>
                  <a:cs typeface="Arial"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cs typeface="Arial"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cs typeface="Arial"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cs typeface="Arial"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cs typeface="Arial"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9pPr>
            </a:lstStyle>
            <a:p>
              <a:pPr eaLnBrk="1" hangingPunct="1">
                <a:spcBef>
                  <a:spcPct val="0"/>
                </a:spcBef>
                <a:buClrTx/>
                <a:buSzTx/>
                <a:buFontTx/>
                <a:buNone/>
              </a:pPr>
              <a:endParaRPr lang="en-US" altLang="en-US" sz="1800"/>
            </a:p>
          </p:txBody>
        </p:sp>
        <p:pic>
          <p:nvPicPr>
            <p:cNvPr id="22546" name="Picture 33"/>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137" y="2319"/>
              <a:ext cx="851" cy="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 name="Group 37"/>
          <p:cNvGrpSpPr>
            <a:grpSpLocks/>
          </p:cNvGrpSpPr>
          <p:nvPr/>
        </p:nvGrpSpPr>
        <p:grpSpPr bwMode="auto">
          <a:xfrm>
            <a:off x="6510338" y="4030663"/>
            <a:ext cx="2330450" cy="2039937"/>
            <a:chOff x="4101" y="2539"/>
            <a:chExt cx="1468" cy="1285"/>
          </a:xfrm>
        </p:grpSpPr>
        <p:sp>
          <p:nvSpPr>
            <p:cNvPr id="22541" name="Text Box 8"/>
            <p:cNvSpPr txBox="1">
              <a:spLocks noChangeArrowheads="1"/>
            </p:cNvSpPr>
            <p:nvPr/>
          </p:nvSpPr>
          <p:spPr bwMode="auto">
            <a:xfrm>
              <a:off x="4266" y="3346"/>
              <a:ext cx="1303" cy="478"/>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ct val="20000"/>
                </a:spcBef>
                <a:buClr>
                  <a:schemeClr val="bg2"/>
                </a:buClr>
                <a:buSzPct val="75000"/>
                <a:buFont typeface="Wingdings" pitchFamily="2" charset="2"/>
                <a:buChar char="p"/>
                <a:defRPr sz="2800">
                  <a:solidFill>
                    <a:schemeClr val="tx1"/>
                  </a:solidFill>
                  <a:latin typeface="Verdana" pitchFamily="34" charset="0"/>
                  <a:cs typeface="Arial"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cs typeface="Arial"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cs typeface="Arial"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cs typeface="Arial"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cs typeface="Arial"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9pPr>
            </a:lstStyle>
            <a:p>
              <a:pPr algn="ctr" eaLnBrk="1" hangingPunct="1">
                <a:spcBef>
                  <a:spcPct val="0"/>
                </a:spcBef>
                <a:buClrTx/>
                <a:buSzTx/>
                <a:buFontTx/>
                <a:buNone/>
              </a:pPr>
              <a:r>
                <a:rPr lang="fr-FR" altLang="ja-JP" sz="1400" b="1">
                  <a:latin typeface="Palatino Linotype" pitchFamily="18" charset="0"/>
                  <a:ea typeface="MS Mincho" pitchFamily="49" charset="-128"/>
                </a:rPr>
                <a:t>Bénéfices</a:t>
              </a:r>
            </a:p>
            <a:p>
              <a:pPr algn="ctr" eaLnBrk="1" hangingPunct="1">
                <a:spcBef>
                  <a:spcPct val="0"/>
                </a:spcBef>
                <a:buClrTx/>
                <a:buSzTx/>
                <a:buFontTx/>
                <a:buNone/>
              </a:pPr>
              <a:r>
                <a:rPr lang="fr-FR" altLang="ja-JP" sz="1400" b="1">
                  <a:latin typeface="Palatino Linotype" pitchFamily="18" charset="0"/>
                  <a:ea typeface="MS Mincho" pitchFamily="49" charset="-128"/>
                </a:rPr>
                <a:t>(Produits récoltables, dégâts diminués…)</a:t>
              </a:r>
              <a:endParaRPr lang="fr-FR" altLang="en-US" sz="1400"/>
            </a:p>
          </p:txBody>
        </p:sp>
        <p:sp>
          <p:nvSpPr>
            <p:cNvPr id="22542" name="AutoShape 11"/>
            <p:cNvSpPr>
              <a:spLocks noChangeArrowheads="1"/>
            </p:cNvSpPr>
            <p:nvPr/>
          </p:nvSpPr>
          <p:spPr bwMode="auto">
            <a:xfrm>
              <a:off x="4101" y="3393"/>
              <a:ext cx="153" cy="85"/>
            </a:xfrm>
            <a:prstGeom prst="rightArrow">
              <a:avLst>
                <a:gd name="adj1" fmla="val 50000"/>
                <a:gd name="adj2" fmla="val 45000"/>
              </a:avLst>
            </a:prstGeom>
            <a:solidFill>
              <a:srgbClr val="FFFFFF"/>
            </a:solidFill>
            <a:ln w="9525">
              <a:solidFill>
                <a:srgbClr val="000000"/>
              </a:solidFill>
              <a:miter lim="800000"/>
              <a:headEnd/>
              <a:tailEnd/>
            </a:ln>
          </p:spPr>
          <p:txBody>
            <a:bodyPr/>
            <a:lstStyle>
              <a:lvl1pPr eaLnBrk="0" hangingPunct="0">
                <a:spcBef>
                  <a:spcPct val="20000"/>
                </a:spcBef>
                <a:buClr>
                  <a:schemeClr val="bg2"/>
                </a:buClr>
                <a:buSzPct val="75000"/>
                <a:buFont typeface="Wingdings" pitchFamily="2" charset="2"/>
                <a:buChar char="p"/>
                <a:defRPr sz="2800">
                  <a:solidFill>
                    <a:schemeClr val="tx1"/>
                  </a:solidFill>
                  <a:latin typeface="Verdana" pitchFamily="34" charset="0"/>
                  <a:cs typeface="Arial"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cs typeface="Arial"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cs typeface="Arial"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cs typeface="Arial"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cs typeface="Arial"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9pPr>
            </a:lstStyle>
            <a:p>
              <a:pPr eaLnBrk="1" hangingPunct="1">
                <a:spcBef>
                  <a:spcPct val="0"/>
                </a:spcBef>
                <a:buClrTx/>
                <a:buSzTx/>
                <a:buFontTx/>
                <a:buNone/>
              </a:pPr>
              <a:endParaRPr lang="en-US" altLang="en-US" sz="1800"/>
            </a:p>
          </p:txBody>
        </p:sp>
        <p:pic>
          <p:nvPicPr>
            <p:cNvPr id="22543" name="Picture 34"/>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4574" y="2539"/>
              <a:ext cx="687" cy="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74794" name="Rectangle 42"/>
          <p:cNvSpPr>
            <a:spLocks noGrp="1" noChangeArrowheads="1"/>
          </p:cNvSpPr>
          <p:nvPr>
            <p:ph type="body" idx="1"/>
          </p:nvPr>
        </p:nvSpPr>
        <p:spPr>
          <a:xfrm>
            <a:off x="6300788" y="1866900"/>
            <a:ext cx="2524125" cy="1562100"/>
          </a:xfrm>
        </p:spPr>
        <p:txBody>
          <a:bodyPr/>
          <a:lstStyle/>
          <a:p>
            <a:pPr eaLnBrk="1" hangingPunct="1"/>
            <a:r>
              <a:rPr lang="fr-FR" altLang="en-US" sz="1600"/>
              <a:t>Propriétés les plus étudiées :</a:t>
            </a:r>
          </a:p>
          <a:p>
            <a:pPr lvl="1" eaLnBrk="1" hangingPunct="1"/>
            <a:r>
              <a:rPr lang="fr-FR" altLang="en-US" sz="1400"/>
              <a:t>Productivité de biomasse</a:t>
            </a:r>
          </a:p>
          <a:p>
            <a:pPr lvl="1" eaLnBrk="1" hangingPunct="1"/>
            <a:r>
              <a:rPr lang="fr-FR" altLang="en-US" sz="1400"/>
              <a:t>Stabilité</a:t>
            </a:r>
          </a:p>
        </p:txBody>
      </p:sp>
    </p:spTree>
    <p:extLst>
      <p:ext uri="{BB962C8B-B14F-4D97-AF65-F5344CB8AC3E}">
        <p14:creationId xmlns:p14="http://schemas.microsoft.com/office/powerpoint/2010/main" val="2140764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4794">
                                            <p:txEl>
                                              <p:pRg st="0" end="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4794">
                                            <p:txEl>
                                              <p:pRg st="1" end="1"/>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479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94"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p:txBody>
          <a:bodyPr/>
          <a:lstStyle/>
          <a:p>
            <a:pPr eaLnBrk="1" hangingPunct="1"/>
            <a:r>
              <a:rPr lang="fr-FR" altLang="en-US" sz="4000"/>
              <a:t>Relation diversité / productivité des écosystèmes</a:t>
            </a:r>
          </a:p>
        </p:txBody>
      </p:sp>
      <p:sp>
        <p:nvSpPr>
          <p:cNvPr id="23556" name="Rectangle 3"/>
          <p:cNvSpPr>
            <a:spLocks noGrp="1" noChangeArrowheads="1"/>
          </p:cNvSpPr>
          <p:nvPr>
            <p:ph type="body" idx="1"/>
          </p:nvPr>
        </p:nvSpPr>
        <p:spPr/>
        <p:txBody>
          <a:bodyPr/>
          <a:lstStyle/>
          <a:p>
            <a:pPr eaLnBrk="1" hangingPunct="1"/>
            <a:r>
              <a:rPr lang="fr-FR" altLang="en-US" sz="2000"/>
              <a:t>Prairies expérimentales</a:t>
            </a:r>
          </a:p>
          <a:p>
            <a:pPr lvl="1" eaLnBrk="1" hangingPunct="1"/>
            <a:r>
              <a:rPr lang="fr-FR" altLang="en-US" sz="1800"/>
              <a:t>Cedar creek, USA</a:t>
            </a:r>
          </a:p>
          <a:p>
            <a:pPr lvl="1" eaLnBrk="1" hangingPunct="1"/>
            <a:r>
              <a:rPr lang="fr-FR" altLang="en-US" sz="1800"/>
              <a:t>Réseau BIODEPTH, Europe</a:t>
            </a:r>
          </a:p>
        </p:txBody>
      </p:sp>
      <p:pic>
        <p:nvPicPr>
          <p:cNvPr id="23557" name="Picture 5"/>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5734050" y="677863"/>
            <a:ext cx="3227388" cy="2119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8" name="Picture 8" descr="https://images.duckduckgo.com/iu/?u=https%3A%2F%2Fcedarcreek.umn.edu%2Fsites%2Fdefault%2Ffiles%2Fpublic%2Fimages%2Fslideshows%2Fbigbio-green1.jpg&amp;f=1"/>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566863" y="2994025"/>
            <a:ext cx="6467475" cy="3722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121240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t="10568"/>
          <a:stretch/>
        </p:blipFill>
        <p:spPr bwMode="auto">
          <a:xfrm>
            <a:off x="989931" y="4582626"/>
            <a:ext cx="7164137" cy="1883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4"/>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751531" y="1872923"/>
            <a:ext cx="3554663" cy="2694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re 1"/>
          <p:cNvSpPr>
            <a:spLocks noGrp="1"/>
          </p:cNvSpPr>
          <p:nvPr>
            <p:ph type="title"/>
          </p:nvPr>
        </p:nvSpPr>
        <p:spPr/>
        <p:txBody>
          <a:bodyPr/>
          <a:lstStyle/>
          <a:p>
            <a:r>
              <a:rPr lang="fr-FR" sz="3600" dirty="0"/>
              <a:t>Le fonctionnement des écosystèmes (et donc les services) dépend de la biodiversité</a:t>
            </a:r>
          </a:p>
        </p:txBody>
      </p:sp>
      <p:sp>
        <p:nvSpPr>
          <p:cNvPr id="3" name="Espace réservé du contenu 2"/>
          <p:cNvSpPr>
            <a:spLocks noGrp="1"/>
          </p:cNvSpPr>
          <p:nvPr>
            <p:ph sz="half" idx="1"/>
          </p:nvPr>
        </p:nvSpPr>
        <p:spPr/>
        <p:txBody>
          <a:bodyPr/>
          <a:lstStyle/>
          <a:p>
            <a:r>
              <a:rPr lang="fr-FR" sz="2000" dirty="0"/>
              <a:t>Productivité primaire</a:t>
            </a:r>
          </a:p>
        </p:txBody>
      </p:sp>
      <p:sp>
        <p:nvSpPr>
          <p:cNvPr id="4" name="Espace réservé du contenu 3"/>
          <p:cNvSpPr>
            <a:spLocks noGrp="1"/>
          </p:cNvSpPr>
          <p:nvPr>
            <p:ph sz="half" idx="2"/>
          </p:nvPr>
        </p:nvSpPr>
        <p:spPr/>
        <p:txBody>
          <a:bodyPr/>
          <a:lstStyle/>
          <a:p>
            <a:r>
              <a:rPr lang="fr-FR" sz="2000" dirty="0"/>
              <a:t>Stabilité</a:t>
            </a:r>
            <a:endParaRPr lang="fr-FR" sz="2400" dirty="0"/>
          </a:p>
        </p:txBody>
      </p:sp>
      <p:pic>
        <p:nvPicPr>
          <p:cNvPr id="5" name="Picture 4"/>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p:blipFill>
        <p:spPr bwMode="auto">
          <a:xfrm>
            <a:off x="4874236" y="2019300"/>
            <a:ext cx="3493587" cy="25292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ZoneTexte 7"/>
          <p:cNvSpPr txBox="1"/>
          <p:nvPr/>
        </p:nvSpPr>
        <p:spPr>
          <a:xfrm>
            <a:off x="244539" y="6390167"/>
            <a:ext cx="8654902" cy="523220"/>
          </a:xfrm>
          <a:prstGeom prst="rect">
            <a:avLst/>
          </a:prstGeom>
          <a:noFill/>
        </p:spPr>
        <p:txBody>
          <a:bodyPr wrap="square" rtlCol="0">
            <a:spAutoFit/>
          </a:bodyPr>
          <a:lstStyle/>
          <a:p>
            <a:pPr algn="ctr"/>
            <a:r>
              <a:rPr lang="fr-FR" sz="1400" b="1" dirty="0">
                <a:solidFill>
                  <a:schemeClr val="accent1"/>
                </a:solidFill>
              </a:rPr>
              <a:t>Consensus actuel </a:t>
            </a:r>
            <a:r>
              <a:rPr lang="fr-FR" sz="1400" dirty="0"/>
              <a:t>: biodiversité indispensable pour maintenir le bon fonctionnement des écosystèmes dans l’espace, le temps et face à des changements divers</a:t>
            </a:r>
          </a:p>
        </p:txBody>
      </p:sp>
      <p:sp>
        <p:nvSpPr>
          <p:cNvPr id="9" name="Text Box 6"/>
          <p:cNvSpPr txBox="1">
            <a:spLocks noChangeArrowheads="1"/>
          </p:cNvSpPr>
          <p:nvPr/>
        </p:nvSpPr>
        <p:spPr bwMode="auto">
          <a:xfrm>
            <a:off x="5944268" y="3614532"/>
            <a:ext cx="22098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bg2"/>
              </a:buClr>
              <a:buSzPct val="75000"/>
              <a:buFont typeface="Wingdings" pitchFamily="2" charset="2"/>
              <a:buChar char="p"/>
              <a:defRPr sz="2800">
                <a:solidFill>
                  <a:schemeClr val="tx1"/>
                </a:solidFill>
                <a:latin typeface="Verdana" pitchFamily="34" charset="0"/>
                <a:cs typeface="Arial"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cs typeface="Arial"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cs typeface="Arial"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cs typeface="Arial"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cs typeface="Arial"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9pPr>
          </a:lstStyle>
          <a:p>
            <a:pPr algn="r" eaLnBrk="1" hangingPunct="1">
              <a:spcBef>
                <a:spcPct val="50000"/>
              </a:spcBef>
              <a:buClrTx/>
              <a:buSzTx/>
              <a:buFontTx/>
              <a:buNone/>
            </a:pPr>
            <a:r>
              <a:rPr lang="fr-FR" altLang="en-US" sz="1200" dirty="0" err="1"/>
              <a:t>Tilman</a:t>
            </a:r>
            <a:r>
              <a:rPr lang="fr-FR" altLang="en-US" sz="1200" dirty="0"/>
              <a:t> et al. 2014 </a:t>
            </a:r>
          </a:p>
        </p:txBody>
      </p:sp>
      <p:sp>
        <p:nvSpPr>
          <p:cNvPr id="10" name="Text Box 5"/>
          <p:cNvSpPr txBox="1">
            <a:spLocks noChangeArrowheads="1"/>
          </p:cNvSpPr>
          <p:nvPr/>
        </p:nvSpPr>
        <p:spPr bwMode="auto">
          <a:xfrm>
            <a:off x="8112682" y="5580634"/>
            <a:ext cx="103131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bg2"/>
              </a:buClr>
              <a:buSzPct val="75000"/>
              <a:buFont typeface="Wingdings" pitchFamily="2" charset="2"/>
              <a:buChar char="p"/>
              <a:defRPr sz="2800">
                <a:solidFill>
                  <a:schemeClr val="tx1"/>
                </a:solidFill>
                <a:latin typeface="Verdana" pitchFamily="34" charset="0"/>
                <a:cs typeface="Arial"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cs typeface="Arial"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cs typeface="Arial"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cs typeface="Arial"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cs typeface="Arial"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9pPr>
          </a:lstStyle>
          <a:p>
            <a:pPr eaLnBrk="1" hangingPunct="1">
              <a:spcBef>
                <a:spcPct val="50000"/>
              </a:spcBef>
              <a:buClrTx/>
              <a:buSzTx/>
              <a:buFontTx/>
              <a:buNone/>
            </a:pPr>
            <a:r>
              <a:rPr lang="fr-FR" altLang="en-US" sz="1200"/>
              <a:t>Isbell et al. 2011</a:t>
            </a:r>
          </a:p>
        </p:txBody>
      </p:sp>
    </p:spTree>
    <p:extLst>
      <p:ext uri="{BB962C8B-B14F-4D97-AF65-F5344CB8AC3E}">
        <p14:creationId xmlns:p14="http://schemas.microsoft.com/office/powerpoint/2010/main" val="2663818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8" grpId="0"/>
      <p:bldP spid="9" grpId="0"/>
      <p:bldP spid="1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7813"/>
            <a:ext cx="6121730" cy="1139825"/>
          </a:xfrm>
        </p:spPr>
        <p:txBody>
          <a:bodyPr/>
          <a:lstStyle/>
          <a:p>
            <a:r>
              <a:rPr lang="fr-FR" sz="4000" dirty="0"/>
              <a:t>Rôle de la « nature ordinaire » et des espèces communes</a:t>
            </a:r>
          </a:p>
        </p:txBody>
      </p:sp>
      <p:sp>
        <p:nvSpPr>
          <p:cNvPr id="3" name="Espace réservé du contenu 2"/>
          <p:cNvSpPr>
            <a:spLocks noGrp="1"/>
          </p:cNvSpPr>
          <p:nvPr>
            <p:ph sz="half" idx="1"/>
          </p:nvPr>
        </p:nvSpPr>
        <p:spPr/>
        <p:txBody>
          <a:bodyPr/>
          <a:lstStyle/>
          <a:p>
            <a:r>
              <a:rPr lang="fr-FR" sz="2000" dirty="0"/>
              <a:t>Communautés naturelles dominées par quelques espèces abondantes</a:t>
            </a:r>
          </a:p>
          <a:p>
            <a:pPr lvl="1"/>
            <a:r>
              <a:rPr lang="fr-FR" sz="1600" dirty="0"/>
              <a:t>Ex. : Espèces d’arbres en forêt, </a:t>
            </a:r>
            <a:r>
              <a:rPr lang="fr-FR" sz="1600" dirty="0" err="1"/>
              <a:t>Siskiyou</a:t>
            </a:r>
            <a:r>
              <a:rPr lang="fr-FR" sz="1600" dirty="0"/>
              <a:t> </a:t>
            </a:r>
            <a:r>
              <a:rPr lang="fr-FR" sz="1600" dirty="0" err="1"/>
              <a:t>moutains</a:t>
            </a:r>
            <a:r>
              <a:rPr lang="fr-FR" sz="1600" dirty="0"/>
              <a:t>, USA </a:t>
            </a:r>
          </a:p>
          <a:p>
            <a:pPr lvl="1"/>
            <a:endParaRPr lang="fr-FR" sz="1600" dirty="0"/>
          </a:p>
          <a:p>
            <a:pPr lvl="1"/>
            <a:endParaRPr lang="fr-FR" sz="1600" dirty="0"/>
          </a:p>
          <a:p>
            <a:pPr lvl="1"/>
            <a:endParaRPr lang="fr-FR" sz="1600" dirty="0"/>
          </a:p>
          <a:p>
            <a:pPr lvl="1"/>
            <a:endParaRPr lang="fr-FR" sz="1600" dirty="0"/>
          </a:p>
          <a:p>
            <a:pPr lvl="1"/>
            <a:endParaRPr lang="fr-FR" sz="1600" dirty="0"/>
          </a:p>
          <a:p>
            <a:pPr lvl="1"/>
            <a:endParaRPr lang="fr-FR" sz="1600" dirty="0"/>
          </a:p>
          <a:p>
            <a:pPr lvl="1"/>
            <a:endParaRPr lang="fr-FR" sz="1600" dirty="0"/>
          </a:p>
          <a:p>
            <a:pPr lvl="1"/>
            <a:r>
              <a:rPr lang="fr-FR" sz="1600" dirty="0"/>
              <a:t>Effet fort sur le fonctionnement des écosystèmes (et donc certains services)</a:t>
            </a:r>
          </a:p>
        </p:txBody>
      </p:sp>
      <p:sp>
        <p:nvSpPr>
          <p:cNvPr id="4" name="Espace réservé du contenu 3"/>
          <p:cNvSpPr>
            <a:spLocks noGrp="1"/>
          </p:cNvSpPr>
          <p:nvPr>
            <p:ph sz="half" idx="2"/>
          </p:nvPr>
        </p:nvSpPr>
        <p:spPr/>
        <p:txBody>
          <a:bodyPr/>
          <a:lstStyle/>
          <a:p>
            <a:r>
              <a:rPr lang="fr-FR" sz="2000" dirty="0"/>
              <a:t>Territoires couverts par des écosystèmes « ordinaires »</a:t>
            </a:r>
          </a:p>
        </p:txBody>
      </p:sp>
      <p:pic>
        <p:nvPicPr>
          <p:cNvPr id="6" name="Picture 5" descr="mountains_sm"/>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6724630" y="83127"/>
            <a:ext cx="2098735" cy="128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p:cNvPicPr>
            <a:picLocks noChangeAspect="1" noChangeArrowheads="1"/>
          </p:cNvPicPr>
          <p:nvPr/>
        </p:nvPicPr>
        <p:blipFill>
          <a:blip r:embed="rId3" cstate="screen">
            <a:extLst>
              <a:ext uri="{28A0092B-C50C-407E-A947-70E740481C1C}">
                <a14:useLocalDpi xmlns:a14="http://schemas.microsoft.com/office/drawing/2010/main"/>
              </a:ext>
            </a:extLst>
          </a:blip>
          <a:srcRect t="12770" b="4460"/>
          <a:stretch>
            <a:fillRect/>
          </a:stretch>
        </p:blipFill>
        <p:spPr bwMode="auto">
          <a:xfrm>
            <a:off x="954479" y="3203604"/>
            <a:ext cx="3109913" cy="1468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 Box 12"/>
          <p:cNvSpPr txBox="1">
            <a:spLocks noChangeArrowheads="1"/>
          </p:cNvSpPr>
          <p:nvPr/>
        </p:nvSpPr>
        <p:spPr bwMode="auto">
          <a:xfrm>
            <a:off x="211405" y="4413278"/>
            <a:ext cx="1819275"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Verdana" pitchFamily="34" charset="0"/>
              </a:defRPr>
            </a:lvl1pPr>
            <a:lvl2pPr marL="742950" indent="-285750" eaLnBrk="0" hangingPunct="0">
              <a:defRPr>
                <a:solidFill>
                  <a:schemeClr val="tx1"/>
                </a:solidFill>
                <a:latin typeface="Verdana" pitchFamily="34" charset="0"/>
              </a:defRPr>
            </a:lvl2pPr>
            <a:lvl3pPr marL="1143000" indent="-228600" eaLnBrk="0" hangingPunct="0">
              <a:defRPr>
                <a:solidFill>
                  <a:schemeClr val="tx1"/>
                </a:solidFill>
                <a:latin typeface="Verdana" pitchFamily="34" charset="0"/>
              </a:defRPr>
            </a:lvl3pPr>
            <a:lvl4pPr marL="1600200" indent="-228600" eaLnBrk="0" hangingPunct="0">
              <a:defRPr>
                <a:solidFill>
                  <a:schemeClr val="tx1"/>
                </a:solidFill>
                <a:latin typeface="Verdana" pitchFamily="34" charset="0"/>
              </a:defRPr>
            </a:lvl4pPr>
            <a:lvl5pPr marL="2057400" indent="-228600" eaLnBrk="0" hangingPunct="0">
              <a:defRPr>
                <a:solidFill>
                  <a:schemeClr val="tx1"/>
                </a:solidFill>
                <a:latin typeface="Verdana" pitchFamily="34" charset="0"/>
              </a:defRPr>
            </a:lvl5pPr>
            <a:lvl6pPr marL="2514600" indent="-228600" eaLnBrk="0" fontAlgn="base" hangingPunct="0">
              <a:spcBef>
                <a:spcPct val="0"/>
              </a:spcBef>
              <a:spcAft>
                <a:spcPct val="0"/>
              </a:spcAft>
              <a:defRPr>
                <a:solidFill>
                  <a:schemeClr val="tx1"/>
                </a:solidFill>
                <a:latin typeface="Verdana" pitchFamily="34" charset="0"/>
              </a:defRPr>
            </a:lvl6pPr>
            <a:lvl7pPr marL="2971800" indent="-228600" eaLnBrk="0" fontAlgn="base" hangingPunct="0">
              <a:spcBef>
                <a:spcPct val="0"/>
              </a:spcBef>
              <a:spcAft>
                <a:spcPct val="0"/>
              </a:spcAft>
              <a:defRPr>
                <a:solidFill>
                  <a:schemeClr val="tx1"/>
                </a:solidFill>
                <a:latin typeface="Verdana" pitchFamily="34" charset="0"/>
              </a:defRPr>
            </a:lvl7pPr>
            <a:lvl8pPr marL="3429000" indent="-228600" eaLnBrk="0" fontAlgn="base" hangingPunct="0">
              <a:spcBef>
                <a:spcPct val="0"/>
              </a:spcBef>
              <a:spcAft>
                <a:spcPct val="0"/>
              </a:spcAft>
              <a:defRPr>
                <a:solidFill>
                  <a:schemeClr val="tx1"/>
                </a:solidFill>
                <a:latin typeface="Verdana" pitchFamily="34" charset="0"/>
              </a:defRPr>
            </a:lvl8pPr>
            <a:lvl9pPr marL="3886200" indent="-228600" eaLnBrk="0" fontAlgn="base" hangingPunct="0">
              <a:spcBef>
                <a:spcPct val="0"/>
              </a:spcBef>
              <a:spcAft>
                <a:spcPct val="0"/>
              </a:spcAft>
              <a:defRPr>
                <a:solidFill>
                  <a:schemeClr val="tx1"/>
                </a:solidFill>
                <a:latin typeface="Verdana" pitchFamily="34" charset="0"/>
              </a:defRPr>
            </a:lvl9pPr>
          </a:lstStyle>
          <a:p>
            <a:pPr eaLnBrk="1" hangingPunct="1"/>
            <a:r>
              <a:rPr lang="fr-FR" altLang="en-US" sz="1400" i="1" dirty="0" err="1"/>
              <a:t>Whittaker</a:t>
            </a:r>
            <a:r>
              <a:rPr lang="fr-FR" altLang="en-US" sz="1400" i="1" dirty="0"/>
              <a:t> 1965</a:t>
            </a:r>
          </a:p>
          <a:p>
            <a:pPr eaLnBrk="1" hangingPunct="1"/>
            <a:r>
              <a:rPr lang="fr-FR" altLang="en-US" sz="1400" i="1" dirty="0"/>
              <a:t>McGill et al. 2007</a:t>
            </a:r>
          </a:p>
        </p:txBody>
      </p:sp>
      <p:pic>
        <p:nvPicPr>
          <p:cNvPr id="10244" name="Picture 4" descr="https://upload.wikimedia.org/wikipedia/commons/thumb/e/ee/1308_-_Zell_am_See.JPG/800px-1308_-_Zell_am_See.JPG"/>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678875" y="2751708"/>
            <a:ext cx="4382131" cy="3294413"/>
          </a:xfrm>
          <a:prstGeom prst="rect">
            <a:avLst/>
          </a:prstGeom>
          <a:noFill/>
          <a:extLst>
            <a:ext uri="{909E8E84-426E-40DD-AFC4-6F175D3DCCD1}">
              <a14:hiddenFill xmlns:a14="http://schemas.microsoft.com/office/drawing/2010/main">
                <a:solidFill>
                  <a:srgbClr val="FFFFFF"/>
                </a:solidFill>
              </a14:hiddenFill>
            </a:ext>
          </a:extLst>
        </p:spPr>
      </p:pic>
      <p:sp>
        <p:nvSpPr>
          <p:cNvPr id="11" name="ZoneTexte 10"/>
          <p:cNvSpPr txBox="1"/>
          <p:nvPr/>
        </p:nvSpPr>
        <p:spPr>
          <a:xfrm>
            <a:off x="244539" y="6390167"/>
            <a:ext cx="8654902" cy="523220"/>
          </a:xfrm>
          <a:prstGeom prst="rect">
            <a:avLst/>
          </a:prstGeom>
          <a:noFill/>
        </p:spPr>
        <p:txBody>
          <a:bodyPr wrap="square" rtlCol="0">
            <a:spAutoFit/>
          </a:bodyPr>
          <a:lstStyle/>
          <a:p>
            <a:pPr algn="ctr"/>
            <a:r>
              <a:rPr lang="fr-FR" sz="1400" b="1" dirty="0">
                <a:solidFill>
                  <a:schemeClr val="accent1"/>
                </a:solidFill>
              </a:rPr>
              <a:t>Consensus actuel </a:t>
            </a:r>
            <a:r>
              <a:rPr lang="fr-FR" sz="1400" dirty="0"/>
              <a:t>: conserver les services écosystémiques ne suffira pas à conserver la biodiversité dans son intégralité</a:t>
            </a:r>
          </a:p>
        </p:txBody>
      </p:sp>
    </p:spTree>
    <p:extLst>
      <p:ext uri="{BB962C8B-B14F-4D97-AF65-F5344CB8AC3E}">
        <p14:creationId xmlns:p14="http://schemas.microsoft.com/office/powerpoint/2010/main" val="1104477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24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Double constat</a:t>
            </a:r>
          </a:p>
        </p:txBody>
      </p:sp>
      <p:sp>
        <p:nvSpPr>
          <p:cNvPr id="3" name="Espace réservé du contenu 2"/>
          <p:cNvSpPr>
            <a:spLocks noGrp="1"/>
          </p:cNvSpPr>
          <p:nvPr>
            <p:ph sz="half" idx="1"/>
          </p:nvPr>
        </p:nvSpPr>
        <p:spPr/>
        <p:txBody>
          <a:bodyPr/>
          <a:lstStyle/>
          <a:p>
            <a:r>
              <a:rPr lang="fr-FR" sz="2000" dirty="0"/>
              <a:t>La biodiversité est indispensable à la survie et au bien-être des humains</a:t>
            </a:r>
          </a:p>
        </p:txBody>
      </p:sp>
      <p:sp>
        <p:nvSpPr>
          <p:cNvPr id="4" name="Espace réservé du contenu 3"/>
          <p:cNvSpPr>
            <a:spLocks noGrp="1"/>
          </p:cNvSpPr>
          <p:nvPr>
            <p:ph sz="half" idx="2"/>
          </p:nvPr>
        </p:nvSpPr>
        <p:spPr/>
        <p:txBody>
          <a:bodyPr/>
          <a:lstStyle/>
          <a:p>
            <a:r>
              <a:rPr lang="fr-FR" sz="2000" dirty="0"/>
              <a:t>Les sociétés humaines la dégradent rapidement</a:t>
            </a:r>
          </a:p>
        </p:txBody>
      </p:sp>
      <p:sp>
        <p:nvSpPr>
          <p:cNvPr id="5" name="ZoneTexte 4"/>
          <p:cNvSpPr txBox="1"/>
          <p:nvPr/>
        </p:nvSpPr>
        <p:spPr>
          <a:xfrm>
            <a:off x="1020718" y="6305108"/>
            <a:ext cx="7102549" cy="369332"/>
          </a:xfrm>
          <a:prstGeom prst="rect">
            <a:avLst/>
          </a:prstGeom>
          <a:noFill/>
        </p:spPr>
        <p:txBody>
          <a:bodyPr wrap="square" rtlCol="0">
            <a:spAutoFit/>
          </a:bodyPr>
          <a:lstStyle/>
          <a:p>
            <a:pPr algn="ctr"/>
            <a:r>
              <a:rPr lang="fr-FR" dirty="0"/>
              <a:t>Quelles causes ? Quelles solutions ?</a:t>
            </a:r>
          </a:p>
        </p:txBody>
      </p:sp>
      <p:pic>
        <p:nvPicPr>
          <p:cNvPr id="11266" name="Picture 2" descr="Ecosystem Services | Earthwatch FreshWater Watch"/>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749341" y="2677742"/>
            <a:ext cx="3477920" cy="340836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963853" y="2830468"/>
            <a:ext cx="3966389" cy="31029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22034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2"/>
          <p:cNvSpPr>
            <a:spLocks noGrp="1" noChangeArrowheads="1"/>
          </p:cNvSpPr>
          <p:nvPr>
            <p:ph type="title"/>
          </p:nvPr>
        </p:nvSpPr>
        <p:spPr/>
        <p:txBody>
          <a:bodyPr/>
          <a:lstStyle/>
          <a:p>
            <a:pPr eaLnBrk="1" hangingPunct="1"/>
            <a:r>
              <a:rPr lang="fr-FR" altLang="en-US" sz="4000" dirty="0"/>
              <a:t>Compromis entre services</a:t>
            </a:r>
          </a:p>
        </p:txBody>
      </p:sp>
      <p:sp>
        <p:nvSpPr>
          <p:cNvPr id="75787" name="Rectangle 11"/>
          <p:cNvSpPr>
            <a:spLocks noGrp="1" noChangeArrowheads="1"/>
          </p:cNvSpPr>
          <p:nvPr>
            <p:ph sz="half" idx="1"/>
          </p:nvPr>
        </p:nvSpPr>
        <p:spPr/>
        <p:txBody>
          <a:bodyPr/>
          <a:lstStyle/>
          <a:p>
            <a:pPr eaLnBrk="1" hangingPunct="1"/>
            <a:r>
              <a:rPr lang="fr-FR" altLang="en-US" sz="2000" dirty="0"/>
              <a:t>Il y a « forêt » et « forêt »</a:t>
            </a:r>
          </a:p>
          <a:p>
            <a:pPr lvl="1"/>
            <a:r>
              <a:rPr lang="fr-FR" altLang="en-US" sz="1600" dirty="0"/>
              <a:t>Surface &gt;0.5ha et couverte d’au mois 10% d’arbres (FAO)</a:t>
            </a:r>
          </a:p>
        </p:txBody>
      </p:sp>
      <p:sp>
        <p:nvSpPr>
          <p:cNvPr id="2" name="Espace réservé du contenu 1"/>
          <p:cNvSpPr>
            <a:spLocks noGrp="1"/>
          </p:cNvSpPr>
          <p:nvPr>
            <p:ph sz="half" idx="2"/>
          </p:nvPr>
        </p:nvSpPr>
        <p:spPr/>
        <p:txBody>
          <a:bodyPr/>
          <a:lstStyle/>
          <a:p>
            <a:r>
              <a:rPr lang="fr-FR" sz="2000" dirty="0"/>
              <a:t>Différentes forêts n’assurent pas les mêmes services</a:t>
            </a:r>
          </a:p>
        </p:txBody>
      </p:sp>
      <p:grpSp>
        <p:nvGrpSpPr>
          <p:cNvPr id="5" name="Groupe 4"/>
          <p:cNvGrpSpPr/>
          <p:nvPr/>
        </p:nvGrpSpPr>
        <p:grpSpPr>
          <a:xfrm>
            <a:off x="4675155" y="2710459"/>
            <a:ext cx="4394200" cy="3645037"/>
            <a:chOff x="4675155" y="2710459"/>
            <a:chExt cx="4394200" cy="3645037"/>
          </a:xfrm>
        </p:grpSpPr>
        <p:pic>
          <p:nvPicPr>
            <p:cNvPr id="61444" name="Picture 3"/>
            <p:cNvPicPr>
              <a:picLocks noChangeAspect="1" noChangeArrowheads="1"/>
            </p:cNvPicPr>
            <p:nvPr/>
          </p:nvPicPr>
          <p:blipFill>
            <a:blip r:embed="rId3" cstate="screen">
              <a:extLst>
                <a:ext uri="{28A0092B-C50C-407E-A947-70E740481C1C}">
                  <a14:useLocalDpi xmlns:a14="http://schemas.microsoft.com/office/drawing/2010/main"/>
                </a:ext>
              </a:extLst>
            </a:blip>
            <a:srcRect l="27878" t="13704" r="28957" b="7408"/>
            <a:stretch>
              <a:fillRect/>
            </a:stretch>
          </p:blipFill>
          <p:spPr bwMode="auto">
            <a:xfrm>
              <a:off x="5551455" y="2957960"/>
              <a:ext cx="2536825" cy="270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5" name="Text Box 4"/>
            <p:cNvSpPr txBox="1">
              <a:spLocks noChangeArrowheads="1"/>
            </p:cNvSpPr>
            <p:nvPr/>
          </p:nvSpPr>
          <p:spPr bwMode="auto">
            <a:xfrm>
              <a:off x="5655826" y="2710459"/>
              <a:ext cx="23486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lr>
                  <a:schemeClr val="bg2"/>
                </a:buClr>
                <a:buSzPct val="75000"/>
                <a:buFont typeface="Wingdings" pitchFamily="2" charset="2"/>
                <a:buChar char="p"/>
                <a:defRPr sz="2800">
                  <a:solidFill>
                    <a:schemeClr val="tx1"/>
                  </a:solidFill>
                  <a:latin typeface="Verdana" pitchFamily="34" charset="0"/>
                  <a:cs typeface="Arial"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cs typeface="Arial"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cs typeface="Arial"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cs typeface="Arial"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cs typeface="Arial"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9pPr>
            </a:lstStyle>
            <a:p>
              <a:pPr algn="ctr" eaLnBrk="1" hangingPunct="1">
                <a:spcBef>
                  <a:spcPct val="50000"/>
                </a:spcBef>
                <a:buClrTx/>
                <a:buSzTx/>
                <a:buFontTx/>
                <a:buNone/>
              </a:pPr>
              <a:r>
                <a:rPr lang="fr-FR" altLang="en-US" sz="1600" dirty="0"/>
                <a:t>Bois de construction</a:t>
              </a:r>
            </a:p>
          </p:txBody>
        </p:sp>
        <p:sp>
          <p:nvSpPr>
            <p:cNvPr id="61446" name="Text Box 5"/>
            <p:cNvSpPr txBox="1">
              <a:spLocks noChangeArrowheads="1"/>
            </p:cNvSpPr>
            <p:nvPr/>
          </p:nvSpPr>
          <p:spPr bwMode="auto">
            <a:xfrm>
              <a:off x="7761255" y="3619948"/>
              <a:ext cx="13081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bg2"/>
                </a:buClr>
                <a:buSzPct val="75000"/>
                <a:buFont typeface="Wingdings" pitchFamily="2" charset="2"/>
                <a:buChar char="p"/>
                <a:defRPr sz="2800">
                  <a:solidFill>
                    <a:schemeClr val="tx1"/>
                  </a:solidFill>
                  <a:latin typeface="Verdana" pitchFamily="34" charset="0"/>
                  <a:cs typeface="Arial"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cs typeface="Arial"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cs typeface="Arial"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cs typeface="Arial"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cs typeface="Arial"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9pPr>
            </a:lstStyle>
            <a:p>
              <a:pPr algn="ctr" eaLnBrk="1" hangingPunct="1">
                <a:spcBef>
                  <a:spcPct val="50000"/>
                </a:spcBef>
                <a:buClrTx/>
                <a:buSzTx/>
                <a:buFontTx/>
                <a:buNone/>
              </a:pPr>
              <a:r>
                <a:rPr lang="fr-FR" altLang="en-US" sz="1600"/>
                <a:t>Eau potable</a:t>
              </a:r>
            </a:p>
          </p:txBody>
        </p:sp>
        <p:sp>
          <p:nvSpPr>
            <p:cNvPr id="61447" name="Text Box 6"/>
            <p:cNvSpPr txBox="1">
              <a:spLocks noChangeArrowheads="1"/>
            </p:cNvSpPr>
            <p:nvPr/>
          </p:nvSpPr>
          <p:spPr bwMode="auto">
            <a:xfrm>
              <a:off x="7634255" y="5245548"/>
              <a:ext cx="1143000" cy="4889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20000"/>
                </a:spcBef>
                <a:buClr>
                  <a:schemeClr val="bg2"/>
                </a:buClr>
                <a:buSzPct val="75000"/>
                <a:buFont typeface="Wingdings" pitchFamily="2" charset="2"/>
                <a:buChar char="p"/>
                <a:defRPr sz="2800">
                  <a:solidFill>
                    <a:schemeClr val="tx1"/>
                  </a:solidFill>
                  <a:latin typeface="Verdana" pitchFamily="34" charset="0"/>
                  <a:cs typeface="Arial"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cs typeface="Arial"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cs typeface="Arial"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cs typeface="Arial"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cs typeface="Arial"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9pPr>
            </a:lstStyle>
            <a:p>
              <a:pPr algn="ctr" eaLnBrk="1" hangingPunct="1">
                <a:spcBef>
                  <a:spcPct val="50000"/>
                </a:spcBef>
                <a:buClrTx/>
                <a:buSzTx/>
                <a:buFontTx/>
                <a:buNone/>
              </a:pPr>
              <a:r>
                <a:rPr lang="fr-FR" altLang="en-US" sz="1600"/>
                <a:t>Protection des sols</a:t>
              </a:r>
            </a:p>
          </p:txBody>
        </p:sp>
        <p:sp>
          <p:nvSpPr>
            <p:cNvPr id="61448" name="Text Box 7"/>
            <p:cNvSpPr txBox="1">
              <a:spLocks noChangeArrowheads="1"/>
            </p:cNvSpPr>
            <p:nvPr/>
          </p:nvSpPr>
          <p:spPr bwMode="auto">
            <a:xfrm>
              <a:off x="4865655" y="5245548"/>
              <a:ext cx="1143000" cy="4889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20000"/>
                </a:spcBef>
                <a:buClr>
                  <a:schemeClr val="bg2"/>
                </a:buClr>
                <a:buSzPct val="75000"/>
                <a:buFont typeface="Wingdings" pitchFamily="2" charset="2"/>
                <a:buChar char="p"/>
                <a:defRPr sz="2800">
                  <a:solidFill>
                    <a:schemeClr val="tx1"/>
                  </a:solidFill>
                  <a:latin typeface="Verdana" pitchFamily="34" charset="0"/>
                  <a:cs typeface="Arial"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cs typeface="Arial"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cs typeface="Arial"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cs typeface="Arial"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cs typeface="Arial"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9pPr>
            </a:lstStyle>
            <a:p>
              <a:pPr algn="ctr" eaLnBrk="1" hangingPunct="1">
                <a:spcBef>
                  <a:spcPct val="50000"/>
                </a:spcBef>
                <a:buClrTx/>
                <a:buSzTx/>
                <a:buFontTx/>
                <a:buNone/>
              </a:pPr>
              <a:r>
                <a:rPr lang="fr-FR" altLang="en-US" sz="1600"/>
                <a:t>Régulation du climat</a:t>
              </a:r>
            </a:p>
          </p:txBody>
        </p:sp>
        <p:sp>
          <p:nvSpPr>
            <p:cNvPr id="61449" name="Text Box 8"/>
            <p:cNvSpPr txBox="1">
              <a:spLocks noChangeArrowheads="1"/>
            </p:cNvSpPr>
            <p:nvPr/>
          </p:nvSpPr>
          <p:spPr bwMode="auto">
            <a:xfrm>
              <a:off x="4675155" y="3750123"/>
              <a:ext cx="901700" cy="2444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spcBef>
                  <a:spcPct val="20000"/>
                </a:spcBef>
                <a:buClr>
                  <a:schemeClr val="bg2"/>
                </a:buClr>
                <a:buSzPct val="75000"/>
                <a:buFont typeface="Wingdings" pitchFamily="2" charset="2"/>
                <a:buChar char="p"/>
                <a:defRPr sz="2800">
                  <a:solidFill>
                    <a:schemeClr val="tx1"/>
                  </a:solidFill>
                  <a:latin typeface="Verdana" pitchFamily="34" charset="0"/>
                  <a:cs typeface="Arial"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cs typeface="Arial"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cs typeface="Arial"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cs typeface="Arial"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cs typeface="Arial"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9pPr>
            </a:lstStyle>
            <a:p>
              <a:pPr algn="ctr" eaLnBrk="1" hangingPunct="1">
                <a:spcBef>
                  <a:spcPct val="50000"/>
                </a:spcBef>
                <a:buClrTx/>
                <a:buSzTx/>
                <a:buFontTx/>
                <a:buNone/>
              </a:pPr>
              <a:r>
                <a:rPr lang="fr-FR" altLang="en-US" sz="1600"/>
                <a:t>Énergie</a:t>
              </a:r>
            </a:p>
          </p:txBody>
        </p:sp>
        <p:sp>
          <p:nvSpPr>
            <p:cNvPr id="61450" name="Text Box 9"/>
            <p:cNvSpPr txBox="1">
              <a:spLocks noChangeArrowheads="1"/>
            </p:cNvSpPr>
            <p:nvPr/>
          </p:nvSpPr>
          <p:spPr bwMode="auto">
            <a:xfrm>
              <a:off x="5437155" y="5714146"/>
              <a:ext cx="30861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bg2"/>
                </a:buClr>
                <a:buSzPct val="75000"/>
                <a:buFont typeface="Wingdings" pitchFamily="2" charset="2"/>
                <a:buChar char="p"/>
                <a:defRPr sz="2800">
                  <a:solidFill>
                    <a:schemeClr val="tx1"/>
                  </a:solidFill>
                  <a:latin typeface="Verdana" pitchFamily="34" charset="0"/>
                  <a:cs typeface="Arial"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cs typeface="Arial"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cs typeface="Arial"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cs typeface="Arial"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cs typeface="Arial"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9pPr>
            </a:lstStyle>
            <a:p>
              <a:pPr eaLnBrk="1" hangingPunct="1">
                <a:spcBef>
                  <a:spcPct val="0"/>
                </a:spcBef>
                <a:buClrTx/>
                <a:buSzTx/>
                <a:buFontTx/>
                <a:buNone/>
              </a:pPr>
              <a:r>
                <a:rPr lang="fr-FR" altLang="en-US" sz="1800" dirty="0">
                  <a:solidFill>
                    <a:srgbClr val="3333CC"/>
                  </a:solidFill>
                </a:rPr>
                <a:t>Forêt primaire</a:t>
              </a:r>
            </a:p>
            <a:p>
              <a:pPr eaLnBrk="1" hangingPunct="1">
                <a:spcBef>
                  <a:spcPct val="0"/>
                </a:spcBef>
                <a:buClrTx/>
                <a:buSzTx/>
                <a:buFontTx/>
                <a:buNone/>
              </a:pPr>
              <a:r>
                <a:rPr lang="fr-FR" altLang="en-US" sz="1800" dirty="0">
                  <a:solidFill>
                    <a:srgbClr val="FF0000"/>
                  </a:solidFill>
                </a:rPr>
                <a:t>Plantation forestière</a:t>
              </a:r>
            </a:p>
          </p:txBody>
        </p:sp>
        <p:sp>
          <p:nvSpPr>
            <p:cNvPr id="61456" name="Rectangle 15"/>
            <p:cNvSpPr>
              <a:spLocks noChangeArrowheads="1"/>
            </p:cNvSpPr>
            <p:nvPr/>
          </p:nvSpPr>
          <p:spPr bwMode="auto">
            <a:xfrm>
              <a:off x="8821705" y="3259844"/>
              <a:ext cx="119063" cy="2190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spcBef>
                  <a:spcPct val="20000"/>
                </a:spcBef>
                <a:buClr>
                  <a:schemeClr val="bg2"/>
                </a:buClr>
                <a:buSzPct val="75000"/>
                <a:buFont typeface="Wingdings" pitchFamily="2" charset="2"/>
                <a:buChar char="p"/>
                <a:defRPr sz="2800">
                  <a:solidFill>
                    <a:schemeClr val="tx1"/>
                  </a:solidFill>
                  <a:latin typeface="Verdana" pitchFamily="34" charset="0"/>
                  <a:cs typeface="Arial"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cs typeface="Arial"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cs typeface="Arial"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cs typeface="Arial"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cs typeface="Arial"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9pPr>
            </a:lstStyle>
            <a:p>
              <a:pPr eaLnBrk="1" hangingPunct="1">
                <a:spcBef>
                  <a:spcPct val="0"/>
                </a:spcBef>
                <a:buClrTx/>
                <a:buSzTx/>
                <a:buFontTx/>
                <a:buNone/>
              </a:pPr>
              <a:endParaRPr lang="en-US" altLang="en-US" sz="1800"/>
            </a:p>
          </p:txBody>
        </p:sp>
      </p:grpSp>
      <p:grpSp>
        <p:nvGrpSpPr>
          <p:cNvPr id="6" name="Groupe 5"/>
          <p:cNvGrpSpPr/>
          <p:nvPr/>
        </p:nvGrpSpPr>
        <p:grpSpPr>
          <a:xfrm>
            <a:off x="284131" y="2655714"/>
            <a:ext cx="4054452" cy="3808370"/>
            <a:chOff x="284131" y="2655714"/>
            <a:chExt cx="4054452" cy="3808370"/>
          </a:xfrm>
        </p:grpSpPr>
        <p:pic>
          <p:nvPicPr>
            <p:cNvPr id="3074" name="Picture 2"/>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p:blipFill>
          <p:spPr bwMode="auto">
            <a:xfrm>
              <a:off x="349622" y="2655714"/>
              <a:ext cx="1861922" cy="144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rotWithShape="1">
            <a:blip r:embed="rId5" cstate="screen">
              <a:extLst>
                <a:ext uri="{28A0092B-C50C-407E-A947-70E740481C1C}">
                  <a14:useLocalDpi xmlns:a14="http://schemas.microsoft.com/office/drawing/2010/main"/>
                </a:ext>
              </a:extLst>
            </a:blip>
            <a:srcRect/>
            <a:stretch/>
          </p:blipFill>
          <p:spPr bwMode="auto">
            <a:xfrm>
              <a:off x="2290198" y="4545479"/>
              <a:ext cx="1937473" cy="144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ZoneTexte 2"/>
            <p:cNvSpPr txBox="1"/>
            <p:nvPr/>
          </p:nvSpPr>
          <p:spPr>
            <a:xfrm>
              <a:off x="301648" y="4122352"/>
              <a:ext cx="2027226" cy="307777"/>
            </a:xfrm>
            <a:prstGeom prst="rect">
              <a:avLst/>
            </a:prstGeom>
            <a:noFill/>
          </p:spPr>
          <p:txBody>
            <a:bodyPr wrap="square" rtlCol="0">
              <a:spAutoFit/>
            </a:bodyPr>
            <a:lstStyle/>
            <a:p>
              <a:pPr algn="ctr"/>
              <a:r>
                <a:rPr lang="fr-FR" sz="1400" dirty="0"/>
                <a:t>Plantation d’arbres</a:t>
              </a:r>
            </a:p>
          </p:txBody>
        </p:sp>
        <p:sp>
          <p:nvSpPr>
            <p:cNvPr id="21" name="ZoneTexte 20"/>
            <p:cNvSpPr txBox="1"/>
            <p:nvPr/>
          </p:nvSpPr>
          <p:spPr>
            <a:xfrm>
              <a:off x="2311357" y="4122352"/>
              <a:ext cx="2027226" cy="307777"/>
            </a:xfrm>
            <a:prstGeom prst="rect">
              <a:avLst/>
            </a:prstGeom>
            <a:noFill/>
          </p:spPr>
          <p:txBody>
            <a:bodyPr wrap="square" rtlCol="0">
              <a:spAutoFit/>
            </a:bodyPr>
            <a:lstStyle/>
            <a:p>
              <a:pPr algn="ctr"/>
              <a:r>
                <a:rPr lang="fr-FR" sz="1400" dirty="0"/>
                <a:t>Forêt plantée</a:t>
              </a:r>
            </a:p>
          </p:txBody>
        </p:sp>
        <p:sp>
          <p:nvSpPr>
            <p:cNvPr id="22" name="ZoneTexte 21"/>
            <p:cNvSpPr txBox="1"/>
            <p:nvPr/>
          </p:nvSpPr>
          <p:spPr>
            <a:xfrm>
              <a:off x="284131" y="5940864"/>
              <a:ext cx="2027226" cy="523220"/>
            </a:xfrm>
            <a:prstGeom prst="rect">
              <a:avLst/>
            </a:prstGeom>
            <a:noFill/>
          </p:spPr>
          <p:txBody>
            <a:bodyPr wrap="square" rtlCol="0">
              <a:spAutoFit/>
            </a:bodyPr>
            <a:lstStyle/>
            <a:p>
              <a:pPr algn="ctr"/>
              <a:r>
                <a:rPr lang="fr-FR" sz="1400" dirty="0"/>
                <a:t>Forêt à régénération naturelle</a:t>
              </a:r>
            </a:p>
          </p:txBody>
        </p:sp>
        <p:sp>
          <p:nvSpPr>
            <p:cNvPr id="23" name="ZoneTexte 22"/>
            <p:cNvSpPr txBox="1"/>
            <p:nvPr/>
          </p:nvSpPr>
          <p:spPr>
            <a:xfrm>
              <a:off x="2271771" y="6048586"/>
              <a:ext cx="2027226" cy="307777"/>
            </a:xfrm>
            <a:prstGeom prst="rect">
              <a:avLst/>
            </a:prstGeom>
            <a:noFill/>
          </p:spPr>
          <p:txBody>
            <a:bodyPr wrap="square" rtlCol="0">
              <a:spAutoFit/>
            </a:bodyPr>
            <a:lstStyle/>
            <a:p>
              <a:pPr algn="ctr"/>
              <a:r>
                <a:rPr lang="fr-FR" sz="1400" dirty="0"/>
                <a:t>Forêt primaire</a:t>
              </a:r>
            </a:p>
          </p:txBody>
        </p:sp>
        <p:pic>
          <p:nvPicPr>
            <p:cNvPr id="3076" name="Picture 4"/>
            <p:cNvPicPr>
              <a:picLocks noChangeAspect="1" noChangeArrowheads="1"/>
            </p:cNvPicPr>
            <p:nvPr/>
          </p:nvPicPr>
          <p:blipFill rotWithShape="1">
            <a:blip r:embed="rId6" cstate="screen">
              <a:extLst>
                <a:ext uri="{28A0092B-C50C-407E-A947-70E740481C1C}">
                  <a14:useLocalDpi xmlns:a14="http://schemas.microsoft.com/office/drawing/2010/main"/>
                </a:ext>
              </a:extLst>
            </a:blip>
            <a:srcRect/>
            <a:stretch/>
          </p:blipFill>
          <p:spPr bwMode="auto">
            <a:xfrm>
              <a:off x="2337806" y="2655714"/>
              <a:ext cx="1842256" cy="144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7" name="Picture 5"/>
            <p:cNvPicPr>
              <a:picLocks noChangeAspect="1" noChangeArrowheads="1"/>
            </p:cNvPicPr>
            <p:nvPr/>
          </p:nvPicPr>
          <p:blipFill rotWithShape="1">
            <a:blip r:embed="rId7" cstate="screen">
              <a:extLst>
                <a:ext uri="{28A0092B-C50C-407E-A947-70E740481C1C}">
                  <a14:useLocalDpi xmlns:a14="http://schemas.microsoft.com/office/drawing/2010/main"/>
                </a:ext>
              </a:extLst>
            </a:blip>
            <a:srcRect/>
            <a:stretch/>
          </p:blipFill>
          <p:spPr bwMode="auto">
            <a:xfrm>
              <a:off x="403467" y="4545479"/>
              <a:ext cx="1754232" cy="144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4" name="ZoneTexte 3"/>
          <p:cNvSpPr txBox="1"/>
          <p:nvPr/>
        </p:nvSpPr>
        <p:spPr>
          <a:xfrm>
            <a:off x="94430" y="6464084"/>
            <a:ext cx="8943233" cy="369332"/>
          </a:xfrm>
          <a:prstGeom prst="rect">
            <a:avLst/>
          </a:prstGeom>
          <a:noFill/>
        </p:spPr>
        <p:txBody>
          <a:bodyPr wrap="square" rtlCol="0">
            <a:spAutoFit/>
          </a:bodyPr>
          <a:lstStyle/>
          <a:p>
            <a:pPr algn="ctr"/>
            <a:r>
              <a:rPr lang="fr-FR" dirty="0">
                <a:sym typeface="Wingdings"/>
              </a:rPr>
              <a:t> </a:t>
            </a:r>
            <a:r>
              <a:rPr lang="fr-FR" dirty="0"/>
              <a:t>La monétarisation des services comme mesure commune</a:t>
            </a:r>
          </a:p>
        </p:txBody>
      </p:sp>
    </p:spTree>
    <p:extLst>
      <p:ext uri="{BB962C8B-B14F-4D97-AF65-F5344CB8AC3E}">
        <p14:creationId xmlns:p14="http://schemas.microsoft.com/office/powerpoint/2010/main" val="2247193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78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578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Approches pour la monétarisation</a:t>
            </a:r>
          </a:p>
        </p:txBody>
      </p:sp>
      <p:sp>
        <p:nvSpPr>
          <p:cNvPr id="7" name="ZoneTexte 6"/>
          <p:cNvSpPr txBox="1"/>
          <p:nvPr/>
        </p:nvSpPr>
        <p:spPr>
          <a:xfrm>
            <a:off x="2286904" y="1690577"/>
            <a:ext cx="4795284" cy="408623"/>
          </a:xfrm>
          <a:prstGeom prst="roundRect">
            <a:avLst/>
          </a:prstGeom>
          <a:solidFill>
            <a:schemeClr val="accent1"/>
          </a:solidFill>
        </p:spPr>
        <p:txBody>
          <a:bodyPr wrap="square" rtlCol="0">
            <a:spAutoFit/>
          </a:bodyPr>
          <a:lstStyle/>
          <a:p>
            <a:pPr algn="ctr"/>
            <a:r>
              <a:rPr lang="fr-FR" b="1" dirty="0">
                <a:solidFill>
                  <a:schemeClr val="bg1"/>
                </a:solidFill>
              </a:rPr>
              <a:t>Valeur économique totale</a:t>
            </a:r>
          </a:p>
        </p:txBody>
      </p:sp>
      <p:sp>
        <p:nvSpPr>
          <p:cNvPr id="9" name="ZoneTexte 8"/>
          <p:cNvSpPr txBox="1"/>
          <p:nvPr/>
        </p:nvSpPr>
        <p:spPr>
          <a:xfrm>
            <a:off x="1423027" y="2713595"/>
            <a:ext cx="2957623" cy="408623"/>
          </a:xfrm>
          <a:prstGeom prst="roundRect">
            <a:avLst/>
          </a:prstGeom>
          <a:noFill/>
          <a:ln w="28575">
            <a:solidFill>
              <a:schemeClr val="accent1"/>
            </a:solidFill>
          </a:ln>
        </p:spPr>
        <p:txBody>
          <a:bodyPr wrap="square" rtlCol="0">
            <a:spAutoFit/>
          </a:bodyPr>
          <a:lstStyle/>
          <a:p>
            <a:pPr algn="ctr"/>
            <a:r>
              <a:rPr lang="fr-FR" dirty="0"/>
              <a:t>Valeur d’usage</a:t>
            </a:r>
          </a:p>
        </p:txBody>
      </p:sp>
      <p:sp>
        <p:nvSpPr>
          <p:cNvPr id="10" name="ZoneTexte 9"/>
          <p:cNvSpPr txBox="1"/>
          <p:nvPr/>
        </p:nvSpPr>
        <p:spPr>
          <a:xfrm>
            <a:off x="4977810" y="2713593"/>
            <a:ext cx="2957623" cy="408623"/>
          </a:xfrm>
          <a:prstGeom prst="roundRect">
            <a:avLst/>
          </a:prstGeom>
          <a:noFill/>
          <a:ln w="28575">
            <a:solidFill>
              <a:schemeClr val="accent1"/>
            </a:solidFill>
          </a:ln>
        </p:spPr>
        <p:txBody>
          <a:bodyPr wrap="square" rtlCol="0">
            <a:spAutoFit/>
          </a:bodyPr>
          <a:lstStyle/>
          <a:p>
            <a:pPr algn="ctr"/>
            <a:r>
              <a:rPr lang="fr-FR" dirty="0"/>
              <a:t>Valeur de non-usage</a:t>
            </a:r>
          </a:p>
        </p:txBody>
      </p:sp>
      <p:sp>
        <p:nvSpPr>
          <p:cNvPr id="12" name="ZoneTexte 11"/>
          <p:cNvSpPr txBox="1"/>
          <p:nvPr/>
        </p:nvSpPr>
        <p:spPr>
          <a:xfrm>
            <a:off x="278215" y="3705965"/>
            <a:ext cx="1692000" cy="684000"/>
          </a:xfrm>
          <a:prstGeom prst="roundRect">
            <a:avLst/>
          </a:prstGeom>
          <a:noFill/>
          <a:ln w="28575">
            <a:solidFill>
              <a:schemeClr val="accent1"/>
            </a:solidFill>
          </a:ln>
        </p:spPr>
        <p:txBody>
          <a:bodyPr wrap="square" rtlCol="0">
            <a:spAutoFit/>
          </a:bodyPr>
          <a:lstStyle/>
          <a:p>
            <a:pPr algn="ctr"/>
            <a:r>
              <a:rPr lang="fr-FR" dirty="0"/>
              <a:t>Valeurs directes</a:t>
            </a:r>
          </a:p>
        </p:txBody>
      </p:sp>
      <p:sp>
        <p:nvSpPr>
          <p:cNvPr id="13" name="ZoneTexte 12"/>
          <p:cNvSpPr txBox="1"/>
          <p:nvPr/>
        </p:nvSpPr>
        <p:spPr>
          <a:xfrm>
            <a:off x="2055376" y="3705965"/>
            <a:ext cx="1692000" cy="684000"/>
          </a:xfrm>
          <a:prstGeom prst="roundRect">
            <a:avLst/>
          </a:prstGeom>
          <a:noFill/>
          <a:ln w="28575">
            <a:solidFill>
              <a:schemeClr val="accent1"/>
            </a:solidFill>
          </a:ln>
        </p:spPr>
        <p:txBody>
          <a:bodyPr wrap="square" rtlCol="0">
            <a:spAutoFit/>
          </a:bodyPr>
          <a:lstStyle/>
          <a:p>
            <a:pPr algn="ctr"/>
            <a:r>
              <a:rPr lang="fr-FR" dirty="0"/>
              <a:t>Valeurs indirectes</a:t>
            </a:r>
          </a:p>
        </p:txBody>
      </p:sp>
      <p:sp>
        <p:nvSpPr>
          <p:cNvPr id="14" name="ZoneTexte 13"/>
          <p:cNvSpPr txBox="1"/>
          <p:nvPr/>
        </p:nvSpPr>
        <p:spPr>
          <a:xfrm>
            <a:off x="5609697" y="3705965"/>
            <a:ext cx="1692000" cy="684000"/>
          </a:xfrm>
          <a:prstGeom prst="roundRect">
            <a:avLst/>
          </a:prstGeom>
          <a:noFill/>
          <a:ln w="28575">
            <a:solidFill>
              <a:schemeClr val="accent1"/>
            </a:solidFill>
          </a:ln>
        </p:spPr>
        <p:txBody>
          <a:bodyPr wrap="square" rtlCol="0">
            <a:spAutoFit/>
          </a:bodyPr>
          <a:lstStyle/>
          <a:p>
            <a:pPr algn="ctr"/>
            <a:r>
              <a:rPr lang="fr-FR" dirty="0"/>
              <a:t>Valeur d’existence</a:t>
            </a:r>
          </a:p>
        </p:txBody>
      </p:sp>
      <p:sp>
        <p:nvSpPr>
          <p:cNvPr id="15" name="ZoneTexte 14"/>
          <p:cNvSpPr txBox="1"/>
          <p:nvPr/>
        </p:nvSpPr>
        <p:spPr>
          <a:xfrm>
            <a:off x="7386857" y="3705965"/>
            <a:ext cx="1692000" cy="684000"/>
          </a:xfrm>
          <a:prstGeom prst="roundRect">
            <a:avLst/>
          </a:prstGeom>
          <a:noFill/>
          <a:ln w="28575">
            <a:solidFill>
              <a:schemeClr val="accent1"/>
            </a:solidFill>
          </a:ln>
        </p:spPr>
        <p:txBody>
          <a:bodyPr wrap="square" rtlCol="0">
            <a:spAutoFit/>
          </a:bodyPr>
          <a:lstStyle/>
          <a:p>
            <a:pPr algn="ctr"/>
            <a:r>
              <a:rPr lang="fr-FR" dirty="0"/>
              <a:t>Valeur de legs</a:t>
            </a:r>
          </a:p>
        </p:txBody>
      </p:sp>
      <p:sp>
        <p:nvSpPr>
          <p:cNvPr id="16" name="ZoneTexte 15"/>
          <p:cNvSpPr txBox="1"/>
          <p:nvPr/>
        </p:nvSpPr>
        <p:spPr>
          <a:xfrm>
            <a:off x="3838546" y="3705965"/>
            <a:ext cx="1692000" cy="684000"/>
          </a:xfrm>
          <a:prstGeom prst="roundRect">
            <a:avLst/>
          </a:prstGeom>
          <a:noFill/>
          <a:ln w="28575">
            <a:solidFill>
              <a:schemeClr val="accent1"/>
            </a:solidFill>
          </a:ln>
        </p:spPr>
        <p:txBody>
          <a:bodyPr wrap="square" rtlCol="0">
            <a:spAutoFit/>
          </a:bodyPr>
          <a:lstStyle/>
          <a:p>
            <a:pPr algn="ctr"/>
            <a:r>
              <a:rPr lang="fr-FR" dirty="0"/>
              <a:t>Valeur d’option</a:t>
            </a:r>
          </a:p>
        </p:txBody>
      </p:sp>
      <p:cxnSp>
        <p:nvCxnSpPr>
          <p:cNvPr id="17" name="Connecteur droit avec flèche 16"/>
          <p:cNvCxnSpPr>
            <a:stCxn id="7" idx="2"/>
            <a:endCxn id="9" idx="0"/>
          </p:cNvCxnSpPr>
          <p:nvPr/>
        </p:nvCxnSpPr>
        <p:spPr>
          <a:xfrm flipH="1">
            <a:off x="2901839" y="2099200"/>
            <a:ext cx="1782707" cy="614395"/>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Connecteur droit avec flèche 19"/>
          <p:cNvCxnSpPr>
            <a:stCxn id="7" idx="2"/>
            <a:endCxn id="10" idx="0"/>
          </p:cNvCxnSpPr>
          <p:nvPr/>
        </p:nvCxnSpPr>
        <p:spPr>
          <a:xfrm>
            <a:off x="4684546" y="2099200"/>
            <a:ext cx="1772076" cy="614393"/>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Connecteur droit avec flèche 23"/>
          <p:cNvCxnSpPr>
            <a:stCxn id="9" idx="2"/>
            <a:endCxn id="12" idx="0"/>
          </p:cNvCxnSpPr>
          <p:nvPr/>
        </p:nvCxnSpPr>
        <p:spPr>
          <a:xfrm flipH="1">
            <a:off x="1124215" y="3122218"/>
            <a:ext cx="1777624" cy="583747"/>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 name="Connecteur droit avec flèche 26"/>
          <p:cNvCxnSpPr>
            <a:stCxn id="9" idx="2"/>
            <a:endCxn id="13" idx="0"/>
          </p:cNvCxnSpPr>
          <p:nvPr/>
        </p:nvCxnSpPr>
        <p:spPr>
          <a:xfrm flipH="1">
            <a:off x="2901376" y="3122218"/>
            <a:ext cx="463" cy="583747"/>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Connecteur droit avec flèche 29"/>
          <p:cNvCxnSpPr>
            <a:stCxn id="9" idx="2"/>
            <a:endCxn id="16" idx="0"/>
          </p:cNvCxnSpPr>
          <p:nvPr/>
        </p:nvCxnSpPr>
        <p:spPr>
          <a:xfrm>
            <a:off x="2901839" y="3122218"/>
            <a:ext cx="1782707" cy="583747"/>
          </a:xfrm>
          <a:prstGeom prst="straightConnector1">
            <a:avLst/>
          </a:prstGeom>
          <a:ln w="28575">
            <a:solidFill>
              <a:schemeClr val="tx1"/>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3" name="Connecteur droit avec flèche 32"/>
          <p:cNvCxnSpPr>
            <a:stCxn id="10" idx="2"/>
            <a:endCxn id="16" idx="0"/>
          </p:cNvCxnSpPr>
          <p:nvPr/>
        </p:nvCxnSpPr>
        <p:spPr>
          <a:xfrm flipH="1">
            <a:off x="4684546" y="3122216"/>
            <a:ext cx="1772076" cy="583749"/>
          </a:xfrm>
          <a:prstGeom prst="straightConnector1">
            <a:avLst/>
          </a:prstGeom>
          <a:ln w="28575">
            <a:solidFill>
              <a:schemeClr val="tx1"/>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Connecteur droit avec flèche 35"/>
          <p:cNvCxnSpPr>
            <a:stCxn id="10" idx="2"/>
            <a:endCxn id="14" idx="0"/>
          </p:cNvCxnSpPr>
          <p:nvPr/>
        </p:nvCxnSpPr>
        <p:spPr>
          <a:xfrm flipH="1">
            <a:off x="6455697" y="3122216"/>
            <a:ext cx="925" cy="583749"/>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9" name="Connecteur droit avec flèche 38"/>
          <p:cNvCxnSpPr>
            <a:stCxn id="10" idx="2"/>
            <a:endCxn id="15" idx="0"/>
          </p:cNvCxnSpPr>
          <p:nvPr/>
        </p:nvCxnSpPr>
        <p:spPr>
          <a:xfrm>
            <a:off x="6456622" y="3122216"/>
            <a:ext cx="1776235" cy="583749"/>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52" name="Picture 4"/>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408631" y="4585396"/>
            <a:ext cx="1441190" cy="1440000"/>
          </a:xfrm>
          <a:prstGeom prst="ellipse">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3" name="Picture 5"/>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p:blipFill>
        <p:spPr bwMode="auto">
          <a:xfrm>
            <a:off x="2181888" y="4585396"/>
            <a:ext cx="1414436" cy="1440000"/>
          </a:xfrm>
          <a:prstGeom prst="ellipse">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4" name="Picture 7" descr="ForêtTropRose"/>
          <p:cNvPicPr>
            <a:picLocks noChangeAspect="1" noChangeArrowheads="1"/>
          </p:cNvPicPr>
          <p:nvPr/>
        </p:nvPicPr>
        <p:blipFill rotWithShape="1">
          <a:blip r:embed="rId5" cstate="screen">
            <a:extLst>
              <a:ext uri="{28A0092B-C50C-407E-A947-70E740481C1C}">
                <a14:useLocalDpi xmlns:a14="http://schemas.microsoft.com/office/drawing/2010/main"/>
              </a:ext>
            </a:extLst>
          </a:blip>
          <a:srcRect/>
          <a:stretch/>
        </p:blipFill>
        <p:spPr bwMode="auto">
          <a:xfrm>
            <a:off x="5700458" y="4585396"/>
            <a:ext cx="1469585" cy="14400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65" name="Picture 3"/>
          <p:cNvPicPr>
            <a:picLocks noChangeAspect="1" noChangeArrowheads="1"/>
          </p:cNvPicPr>
          <p:nvPr/>
        </p:nvPicPr>
        <p:blipFill rotWithShape="1">
          <a:blip r:embed="rId6" cstate="screen">
            <a:extLst>
              <a:ext uri="{28A0092B-C50C-407E-A947-70E740481C1C}">
                <a14:useLocalDpi xmlns:a14="http://schemas.microsoft.com/office/drawing/2010/main"/>
              </a:ext>
            </a:extLst>
          </a:blip>
          <a:srcRect/>
          <a:stretch/>
        </p:blipFill>
        <p:spPr bwMode="auto">
          <a:xfrm>
            <a:off x="7502110" y="4585396"/>
            <a:ext cx="1459819" cy="1440000"/>
          </a:xfrm>
          <a:prstGeom prst="ellipse">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066" name="Ellipse 2065"/>
          <p:cNvSpPr/>
          <p:nvPr/>
        </p:nvSpPr>
        <p:spPr>
          <a:xfrm>
            <a:off x="3928391" y="4585396"/>
            <a:ext cx="1440000" cy="1440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67" name="ZoneTexte 2066"/>
          <p:cNvSpPr txBox="1"/>
          <p:nvPr/>
        </p:nvSpPr>
        <p:spPr>
          <a:xfrm>
            <a:off x="4324098" y="4582121"/>
            <a:ext cx="648586" cy="1446550"/>
          </a:xfrm>
          <a:prstGeom prst="rect">
            <a:avLst/>
          </a:prstGeom>
          <a:noFill/>
        </p:spPr>
        <p:txBody>
          <a:bodyPr wrap="square" rtlCol="0">
            <a:spAutoFit/>
          </a:bodyPr>
          <a:lstStyle/>
          <a:p>
            <a:pPr algn="ctr"/>
            <a:r>
              <a:rPr lang="fr-FR" sz="8800" dirty="0"/>
              <a:t>?</a:t>
            </a:r>
          </a:p>
        </p:txBody>
      </p:sp>
    </p:spTree>
    <p:extLst>
      <p:ext uri="{BB962C8B-B14F-4D97-AF65-F5344CB8AC3E}">
        <p14:creationId xmlns:p14="http://schemas.microsoft.com/office/powerpoint/2010/main" val="13313918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9" name="Picture 6" descr="Rapport TEEB : dix propositions pour préserver la biodiversité"/>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6399213" y="144463"/>
            <a:ext cx="2689225" cy="1055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1" name="Rectangle 2"/>
          <p:cNvSpPr>
            <a:spLocks noGrp="1" noChangeArrowheads="1"/>
          </p:cNvSpPr>
          <p:nvPr>
            <p:ph type="title"/>
          </p:nvPr>
        </p:nvSpPr>
        <p:spPr/>
        <p:txBody>
          <a:bodyPr/>
          <a:lstStyle/>
          <a:p>
            <a:r>
              <a:rPr lang="fr-FR" altLang="en-US" sz="3600" dirty="0"/>
              <a:t>Etude TEEB (The </a:t>
            </a:r>
            <a:r>
              <a:rPr lang="fr-FR" altLang="en-US" sz="3600" dirty="0" err="1"/>
              <a:t>Economics</a:t>
            </a:r>
            <a:r>
              <a:rPr lang="fr-FR" altLang="en-US" sz="3600" dirty="0"/>
              <a:t> of </a:t>
            </a:r>
            <a:r>
              <a:rPr lang="fr-FR" altLang="en-US" sz="3600" dirty="0" err="1"/>
              <a:t>Ecosystems</a:t>
            </a:r>
            <a:r>
              <a:rPr lang="fr-FR" altLang="en-US" sz="3600" dirty="0"/>
              <a:t> and </a:t>
            </a:r>
            <a:r>
              <a:rPr lang="fr-FR" altLang="en-US" sz="3600" dirty="0" err="1"/>
              <a:t>Biodiversity</a:t>
            </a:r>
            <a:r>
              <a:rPr lang="fr-FR" altLang="en-US" sz="3600" dirty="0"/>
              <a:t>)</a:t>
            </a:r>
          </a:p>
        </p:txBody>
      </p:sp>
      <p:sp>
        <p:nvSpPr>
          <p:cNvPr id="86019" name="Rectangle 3"/>
          <p:cNvSpPr>
            <a:spLocks noGrp="1" noChangeArrowheads="1"/>
          </p:cNvSpPr>
          <p:nvPr>
            <p:ph sz="half" idx="1"/>
          </p:nvPr>
        </p:nvSpPr>
        <p:spPr/>
        <p:txBody>
          <a:bodyPr/>
          <a:lstStyle/>
          <a:p>
            <a:r>
              <a:rPr lang="fr-FR" altLang="en-US" sz="2000" dirty="0"/>
              <a:t>Beaucoup de travaux préexistants</a:t>
            </a:r>
          </a:p>
        </p:txBody>
      </p:sp>
      <p:sp>
        <p:nvSpPr>
          <p:cNvPr id="2" name="Espace réservé du contenu 1"/>
          <p:cNvSpPr>
            <a:spLocks noGrp="1"/>
          </p:cNvSpPr>
          <p:nvPr>
            <p:ph sz="half" idx="2"/>
          </p:nvPr>
        </p:nvSpPr>
        <p:spPr>
          <a:xfrm>
            <a:off x="4648200" y="1600200"/>
            <a:ext cx="4495800" cy="4530725"/>
          </a:xfrm>
        </p:spPr>
        <p:txBody>
          <a:bodyPr/>
          <a:lstStyle/>
          <a:p>
            <a:r>
              <a:rPr lang="fr-FR" altLang="en-US" sz="1800" dirty="0"/>
              <a:t>Groupe d’experts internationaux</a:t>
            </a:r>
          </a:p>
          <a:p>
            <a:pPr lvl="1"/>
            <a:r>
              <a:rPr lang="fr-FR" altLang="en-US" sz="1400" dirty="0"/>
              <a:t>Nagoya 2010</a:t>
            </a:r>
          </a:p>
          <a:p>
            <a:r>
              <a:rPr lang="fr-FR" altLang="en-US" sz="1800" dirty="0"/>
              <a:t>Quelques évaluations</a:t>
            </a:r>
          </a:p>
          <a:p>
            <a:pPr lvl="1"/>
            <a:r>
              <a:rPr lang="fr-FR" altLang="en-US" sz="1600" dirty="0"/>
              <a:t>Surexploitation pêcheries = -50 G$/an </a:t>
            </a:r>
          </a:p>
          <a:p>
            <a:pPr lvl="1"/>
            <a:r>
              <a:rPr lang="fr-FR" altLang="en-US" sz="1600" dirty="0"/>
              <a:t>Insectes pollinisateurs : 153G$/an (10% total agricole) </a:t>
            </a:r>
          </a:p>
          <a:p>
            <a:pPr lvl="1"/>
            <a:r>
              <a:rPr lang="fr-FR" altLang="en-US" sz="1600" dirty="0"/>
              <a:t>Récifs coralliens : 30 à 172 G$/an </a:t>
            </a:r>
          </a:p>
          <a:p>
            <a:r>
              <a:rPr lang="fr-FR" altLang="en-US" sz="1800" dirty="0"/>
              <a:t>Recommandations</a:t>
            </a:r>
            <a:endParaRPr lang="fr-FR" altLang="en-US" sz="2200" dirty="0"/>
          </a:p>
          <a:p>
            <a:pPr lvl="1"/>
            <a:r>
              <a:rPr lang="fr-FR" altLang="en-US" sz="1600" dirty="0"/>
              <a:t>Mettre en évidence les valeurs de la nature</a:t>
            </a:r>
          </a:p>
          <a:p>
            <a:pPr lvl="1"/>
            <a:r>
              <a:rPr lang="fr-FR" altLang="en-US" sz="1600" dirty="0"/>
              <a:t>Mise en place d’indicateurs</a:t>
            </a:r>
          </a:p>
          <a:p>
            <a:pPr lvl="1"/>
            <a:r>
              <a:rPr lang="fr-FR" altLang="en-US" sz="1600" dirty="0"/>
              <a:t>Investissement de 1% du PIB pourrait éviter une perte future de 20 % du PIB dus aux changements climatiques</a:t>
            </a:r>
          </a:p>
          <a:p>
            <a:endParaRPr lang="fr-FR" sz="2400" dirty="0"/>
          </a:p>
        </p:txBody>
      </p:sp>
      <p:pic>
        <p:nvPicPr>
          <p:cNvPr id="3074" name="Picture 2"/>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52423" y="2376377"/>
            <a:ext cx="4219577" cy="13096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2438400" y="3579406"/>
            <a:ext cx="2133600" cy="247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6" name="Picture 4"/>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438149" y="3892764"/>
            <a:ext cx="3921199" cy="26698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74280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2"/>
          <p:cNvSpPr>
            <a:spLocks noGrp="1" noChangeArrowheads="1"/>
          </p:cNvSpPr>
          <p:nvPr>
            <p:ph type="title"/>
          </p:nvPr>
        </p:nvSpPr>
        <p:spPr/>
        <p:txBody>
          <a:bodyPr/>
          <a:lstStyle/>
          <a:p>
            <a:pPr eaLnBrk="1" hangingPunct="1"/>
            <a:r>
              <a:rPr lang="fr-FR" altLang="en-US" sz="3600"/>
              <a:t>Un exemple d’arbitrage en faveur de la régulation environnementale</a:t>
            </a:r>
          </a:p>
        </p:txBody>
      </p:sp>
      <p:sp>
        <p:nvSpPr>
          <p:cNvPr id="66564" name="Rectangle 3"/>
          <p:cNvSpPr>
            <a:spLocks noGrp="1" noChangeArrowheads="1"/>
          </p:cNvSpPr>
          <p:nvPr>
            <p:ph type="body" idx="1"/>
          </p:nvPr>
        </p:nvSpPr>
        <p:spPr>
          <a:xfrm>
            <a:off x="444500" y="1600200"/>
            <a:ext cx="5461000" cy="1828800"/>
          </a:xfrm>
        </p:spPr>
        <p:txBody>
          <a:bodyPr/>
          <a:lstStyle/>
          <a:p>
            <a:pPr eaLnBrk="1" hangingPunct="1"/>
            <a:r>
              <a:rPr lang="fr-FR" altLang="en-US" sz="2000"/>
              <a:t>Les Cat-skills, bassin versant de la ville de New York</a:t>
            </a:r>
          </a:p>
          <a:p>
            <a:pPr lvl="1" eaLnBrk="1" hangingPunct="1"/>
            <a:r>
              <a:rPr lang="fr-FR" altLang="en-US" sz="1800"/>
              <a:t>1996 : Qualité insuffisante de l’eau</a:t>
            </a:r>
          </a:p>
          <a:p>
            <a:pPr lvl="1" eaLnBrk="1" hangingPunct="1"/>
            <a:r>
              <a:rPr lang="fr-FR" altLang="en-US" sz="1800"/>
              <a:t>Urbanisation et intensification de l’agriculture</a:t>
            </a:r>
          </a:p>
        </p:txBody>
      </p:sp>
      <p:pic>
        <p:nvPicPr>
          <p:cNvPr id="66565" name="Picture 4"/>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491163" y="1490663"/>
            <a:ext cx="3328987" cy="221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1" name="Rectangle 5"/>
          <p:cNvSpPr>
            <a:spLocks noChangeArrowheads="1"/>
          </p:cNvSpPr>
          <p:nvPr/>
        </p:nvSpPr>
        <p:spPr bwMode="auto">
          <a:xfrm>
            <a:off x="444500" y="4022725"/>
            <a:ext cx="8229600" cy="247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Clr>
                <a:schemeClr val="bg2"/>
              </a:buClr>
              <a:buSzPct val="75000"/>
              <a:buFont typeface="Wingdings" pitchFamily="2" charset="2"/>
              <a:buChar char="p"/>
              <a:defRPr sz="2800">
                <a:solidFill>
                  <a:schemeClr val="tx1"/>
                </a:solidFill>
                <a:latin typeface="Verdana" pitchFamily="34" charset="0"/>
                <a:cs typeface="Arial" charset="0"/>
              </a:defRPr>
            </a:lvl1pPr>
            <a:lvl2pPr marL="742950" indent="-285750" eaLnBrk="0" hangingPunct="0">
              <a:spcBef>
                <a:spcPct val="20000"/>
              </a:spcBef>
              <a:buClr>
                <a:schemeClr val="tx2"/>
              </a:buClr>
              <a:buSzPct val="75000"/>
              <a:buFont typeface="Wingdings" pitchFamily="2" charset="2"/>
              <a:buChar char="n"/>
              <a:defRPr sz="2400">
                <a:solidFill>
                  <a:schemeClr val="tx1"/>
                </a:solidFill>
                <a:latin typeface="Verdana" pitchFamily="34" charset="0"/>
                <a:cs typeface="Arial" charset="0"/>
              </a:defRPr>
            </a:lvl2pPr>
            <a:lvl3pPr marL="1143000" indent="-228600" eaLnBrk="0" hangingPunct="0">
              <a:spcBef>
                <a:spcPct val="20000"/>
              </a:spcBef>
              <a:buClr>
                <a:schemeClr val="accent1"/>
              </a:buClr>
              <a:buSzPct val="65000"/>
              <a:buFont typeface="Wingdings" pitchFamily="2" charset="2"/>
              <a:buChar char="p"/>
              <a:defRPr sz="2000">
                <a:solidFill>
                  <a:schemeClr val="tx1"/>
                </a:solidFill>
                <a:latin typeface="Verdana" pitchFamily="34" charset="0"/>
                <a:cs typeface="Arial" charset="0"/>
              </a:defRPr>
            </a:lvl3pPr>
            <a:lvl4pPr marL="1600200" indent="-228600" eaLnBrk="0" hangingPunct="0">
              <a:spcBef>
                <a:spcPct val="20000"/>
              </a:spcBef>
              <a:buClr>
                <a:schemeClr val="bg2"/>
              </a:buClr>
              <a:buFont typeface="Wingdings" pitchFamily="2" charset="2"/>
              <a:buChar char="§"/>
              <a:defRPr>
                <a:solidFill>
                  <a:schemeClr val="tx1"/>
                </a:solidFill>
                <a:latin typeface="Verdana" pitchFamily="34" charset="0"/>
                <a:cs typeface="Arial" charset="0"/>
              </a:defRPr>
            </a:lvl4pPr>
            <a:lvl5pPr marL="2057400" indent="-228600" eaLnBrk="0" hangingPunct="0">
              <a:spcBef>
                <a:spcPct val="20000"/>
              </a:spcBef>
              <a:buClr>
                <a:schemeClr val="tx2"/>
              </a:buClr>
              <a:buSzPct val="80000"/>
              <a:buFont typeface="Wingdings" pitchFamily="2" charset="2"/>
              <a:buChar char="§"/>
              <a:defRPr>
                <a:solidFill>
                  <a:schemeClr val="tx1"/>
                </a:solidFill>
                <a:latin typeface="Verdana" pitchFamily="34" charset="0"/>
                <a:cs typeface="Arial" charset="0"/>
              </a:defRPr>
            </a:lvl5pPr>
            <a:lvl6pPr marL="25146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6pPr>
            <a:lvl7pPr marL="29718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7pPr>
            <a:lvl8pPr marL="34290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8pPr>
            <a:lvl9pPr marL="3886200" indent="-228600" eaLnBrk="0" fontAlgn="base" hangingPunct="0">
              <a:spcBef>
                <a:spcPct val="20000"/>
              </a:spcBef>
              <a:spcAft>
                <a:spcPct val="0"/>
              </a:spcAft>
              <a:buClr>
                <a:schemeClr val="tx2"/>
              </a:buClr>
              <a:buSzPct val="80000"/>
              <a:buFont typeface="Wingdings" pitchFamily="2" charset="2"/>
              <a:buChar char="§"/>
              <a:defRPr>
                <a:solidFill>
                  <a:schemeClr val="tx1"/>
                </a:solidFill>
                <a:latin typeface="Verdana" pitchFamily="34" charset="0"/>
                <a:cs typeface="Arial" charset="0"/>
              </a:defRPr>
            </a:lvl9pPr>
          </a:lstStyle>
          <a:p>
            <a:pPr eaLnBrk="1" hangingPunct="1"/>
            <a:r>
              <a:rPr lang="fr-FR" altLang="en-US" sz="2000" dirty="0"/>
              <a:t>Coûts de restauration de la qualité de l’eau (1996)</a:t>
            </a:r>
          </a:p>
          <a:p>
            <a:pPr lvl="1" eaLnBrk="1" hangingPunct="1"/>
            <a:r>
              <a:rPr lang="fr-FR" altLang="en-US" sz="1600" dirty="0"/>
              <a:t>Usine de retraitement des eaux : 10 milliards €</a:t>
            </a:r>
          </a:p>
          <a:p>
            <a:pPr lvl="1" eaLnBrk="1" hangingPunct="1"/>
            <a:r>
              <a:rPr lang="fr-FR" altLang="en-US" sz="1600" dirty="0"/>
              <a:t>Restauration de l’écosystème : 1.5 milliards €</a:t>
            </a:r>
          </a:p>
          <a:p>
            <a:pPr lvl="1" eaLnBrk="1" hangingPunct="1"/>
            <a:endParaRPr lang="fr-FR" altLang="en-US" sz="1600" dirty="0"/>
          </a:p>
          <a:p>
            <a:pPr eaLnBrk="1" hangingPunct="1"/>
            <a:r>
              <a:rPr lang="fr-FR" altLang="en-US" sz="2000" dirty="0"/>
              <a:t>Solutions : réduction des pesticides et fertilisants, ralentissement de l’urbanisation… </a:t>
            </a:r>
          </a:p>
          <a:p>
            <a:pPr eaLnBrk="1" hangingPunct="1">
              <a:buFont typeface="Wingdings" pitchFamily="2" charset="2"/>
              <a:buNone/>
            </a:pPr>
            <a:endParaRPr lang="fr-FR" altLang="en-US" sz="1800" dirty="0"/>
          </a:p>
        </p:txBody>
      </p:sp>
    </p:spTree>
    <p:extLst>
      <p:ext uri="{BB962C8B-B14F-4D97-AF65-F5344CB8AC3E}">
        <p14:creationId xmlns:p14="http://schemas.microsoft.com/office/powerpoint/2010/main" val="34416887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018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0181">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018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018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7813"/>
            <a:ext cx="6923314" cy="1139825"/>
          </a:xfrm>
        </p:spPr>
        <p:txBody>
          <a:bodyPr/>
          <a:lstStyle/>
          <a:p>
            <a:r>
              <a:rPr lang="fr-FR" dirty="0"/>
              <a:t>Un exemple d’évaluation des services culturels</a:t>
            </a:r>
          </a:p>
        </p:txBody>
      </p:sp>
      <p:sp>
        <p:nvSpPr>
          <p:cNvPr id="3" name="Espace réservé du contenu 2"/>
          <p:cNvSpPr>
            <a:spLocks noGrp="1"/>
          </p:cNvSpPr>
          <p:nvPr>
            <p:ph sz="half" idx="1"/>
          </p:nvPr>
        </p:nvSpPr>
        <p:spPr/>
        <p:txBody>
          <a:bodyPr/>
          <a:lstStyle/>
          <a:p>
            <a:r>
              <a:rPr lang="fr-FR" sz="2400" dirty="0"/>
              <a:t>Epidémie de fièvre aphteuse au Royaume-Uni (2001)</a:t>
            </a:r>
          </a:p>
          <a:p>
            <a:endParaRPr lang="fr-FR" sz="2400" dirty="0"/>
          </a:p>
          <a:p>
            <a:r>
              <a:rPr lang="fr-FR" sz="2400" dirty="0"/>
              <a:t>Quarantaine d’une grande partie des campagnes</a:t>
            </a:r>
          </a:p>
          <a:p>
            <a:endParaRPr lang="fr-FR" sz="2400" dirty="0"/>
          </a:p>
          <a:p>
            <a:r>
              <a:rPr lang="fr-FR" sz="2400" dirty="0"/>
              <a:t>Pertes économiques</a:t>
            </a:r>
          </a:p>
          <a:p>
            <a:pPr lvl="1"/>
            <a:r>
              <a:rPr lang="fr-FR" sz="2000" dirty="0"/>
              <a:t>~3 milliards £ pour l’agriculture</a:t>
            </a:r>
          </a:p>
          <a:p>
            <a:pPr lvl="1"/>
            <a:r>
              <a:rPr lang="fr-FR" sz="2000" dirty="0"/>
              <a:t>~3 milliards £ pour le tourisme</a:t>
            </a:r>
          </a:p>
          <a:p>
            <a:pPr lvl="1"/>
            <a:endParaRPr lang="fr-FR" sz="2000" dirty="0"/>
          </a:p>
          <a:p>
            <a:pPr lvl="1"/>
            <a:endParaRPr lang="fr-FR" sz="2000" dirty="0"/>
          </a:p>
          <a:p>
            <a:pPr marL="0" indent="0">
              <a:buNone/>
            </a:pPr>
            <a:endParaRPr lang="fr-FR" sz="2400" dirty="0"/>
          </a:p>
        </p:txBody>
      </p:sp>
      <p:sp>
        <p:nvSpPr>
          <p:cNvPr id="4" name="Espace réservé du numéro de diapositive 3"/>
          <p:cNvSpPr>
            <a:spLocks noGrp="1"/>
          </p:cNvSpPr>
          <p:nvPr>
            <p:ph type="sldNum" sz="quarter" idx="12"/>
          </p:nvPr>
        </p:nvSpPr>
        <p:spPr/>
        <p:txBody>
          <a:bodyPr/>
          <a:lstStyle/>
          <a:p>
            <a:pPr>
              <a:defRPr/>
            </a:pPr>
            <a:fld id="{08074BB1-D4E6-4D2F-8B23-77687855497C}" type="slidenum">
              <a:rPr lang="fr-FR" smtClean="0"/>
              <a:pPr>
                <a:defRPr/>
              </a:pPr>
              <a:t>29</a:t>
            </a:fld>
            <a:endParaRPr lang="fr-FR" dirty="0"/>
          </a:p>
        </p:txBody>
      </p:sp>
      <p:pic>
        <p:nvPicPr>
          <p:cNvPr id="34818" name="Picture 2" descr="https://upload.wikimedia.org/wikipedia/commons/0/05/FMD_note.jp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206546" y="1807027"/>
            <a:ext cx="3441031" cy="2521631"/>
          </a:xfrm>
          <a:prstGeom prst="rect">
            <a:avLst/>
          </a:prstGeom>
          <a:noFill/>
          <a:extLst>
            <a:ext uri="{909E8E84-426E-40DD-AFC4-6F175D3DCCD1}">
              <a14:hiddenFill xmlns:a14="http://schemas.microsoft.com/office/drawing/2010/main">
                <a:solidFill>
                  <a:srgbClr val="FFFFFF"/>
                </a:solidFill>
              </a14:hiddenFill>
            </a:ext>
          </a:extLst>
        </p:spPr>
      </p:pic>
      <p:pic>
        <p:nvPicPr>
          <p:cNvPr id="34820" name="Picture 4" descr="https://upload.wikimedia.org/wikipedia/commons/thumb/a/a4/FMD_outbreaks_UK_2001.png/220px-FMD_outbreaks_UK_2001.png"/>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6927061" y="296862"/>
            <a:ext cx="2095500" cy="2238376"/>
          </a:xfrm>
          <a:prstGeom prst="rect">
            <a:avLst/>
          </a:prstGeom>
          <a:noFill/>
          <a:extLst>
            <a:ext uri="{909E8E84-426E-40DD-AFC4-6F175D3DCCD1}">
              <a14:hiddenFill xmlns:a14="http://schemas.microsoft.com/office/drawing/2010/main">
                <a:solidFill>
                  <a:srgbClr val="FFFFFF"/>
                </a:solidFill>
              </a14:hiddenFill>
            </a:ext>
          </a:extLst>
        </p:spPr>
      </p:pic>
      <p:pic>
        <p:nvPicPr>
          <p:cNvPr id="34822" name="Picture 6" descr="Keswick Panorama - Oct 2009.jpg"/>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5028077" y="4767943"/>
            <a:ext cx="3619500" cy="1276350"/>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p:cNvSpPr txBox="1"/>
          <p:nvPr/>
        </p:nvSpPr>
        <p:spPr>
          <a:xfrm>
            <a:off x="5648050" y="6220795"/>
            <a:ext cx="2379554" cy="369332"/>
          </a:xfrm>
          <a:prstGeom prst="rect">
            <a:avLst/>
          </a:prstGeom>
          <a:noFill/>
        </p:spPr>
        <p:txBody>
          <a:bodyPr wrap="square" rtlCol="0">
            <a:spAutoFit/>
          </a:bodyPr>
          <a:lstStyle/>
          <a:p>
            <a:pPr algn="ctr"/>
            <a:r>
              <a:rPr lang="en-US" dirty="0"/>
              <a:t>Lake District</a:t>
            </a:r>
          </a:p>
        </p:txBody>
      </p:sp>
      <p:cxnSp>
        <p:nvCxnSpPr>
          <p:cNvPr id="8" name="Connecteur en angle 7"/>
          <p:cNvCxnSpPr>
            <a:endCxn id="6" idx="3"/>
          </p:cNvCxnSpPr>
          <p:nvPr/>
        </p:nvCxnSpPr>
        <p:spPr>
          <a:xfrm rot="16200000" flipH="1">
            <a:off x="5461792" y="3839648"/>
            <a:ext cx="5078831" cy="52794"/>
          </a:xfrm>
          <a:prstGeom prst="bentConnector4">
            <a:avLst>
              <a:gd name="adj1" fmla="val -258"/>
              <a:gd name="adj2" fmla="val 1770158"/>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21382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Controverse autour de </a:t>
            </a:r>
            <a:br>
              <a:rPr lang="fr-FR" dirty="0"/>
            </a:br>
            <a:r>
              <a:rPr lang="fr-FR" dirty="0"/>
              <a:t>(la monétarisation des) services</a:t>
            </a:r>
          </a:p>
        </p:txBody>
      </p:sp>
      <p:sp>
        <p:nvSpPr>
          <p:cNvPr id="3" name="Espace réservé du contenu 2"/>
          <p:cNvSpPr>
            <a:spLocks noGrp="1"/>
          </p:cNvSpPr>
          <p:nvPr>
            <p:ph sz="half" idx="1"/>
          </p:nvPr>
        </p:nvSpPr>
        <p:spPr/>
        <p:txBody>
          <a:bodyPr/>
          <a:lstStyle/>
          <a:p>
            <a:r>
              <a:rPr lang="fr-FR" sz="2200" dirty="0"/>
              <a:t>Une façon de comparer des entités a priori incommensurables</a:t>
            </a:r>
          </a:p>
          <a:p>
            <a:endParaRPr lang="fr-FR" sz="2400" dirty="0"/>
          </a:p>
          <a:p>
            <a:r>
              <a:rPr lang="fr-FR" sz="2200" dirty="0"/>
              <a:t>Justifications</a:t>
            </a:r>
          </a:p>
          <a:p>
            <a:pPr lvl="1"/>
            <a:r>
              <a:rPr lang="fr-FR" sz="1800" dirty="0"/>
              <a:t>Pragmatisme </a:t>
            </a:r>
          </a:p>
          <a:p>
            <a:pPr lvl="2"/>
            <a:r>
              <a:rPr lang="fr-FR" sz="1400" dirty="0"/>
              <a:t>« Rien d’autre ne fonctionne »</a:t>
            </a:r>
          </a:p>
          <a:p>
            <a:pPr lvl="1"/>
            <a:r>
              <a:rPr lang="fr-FR" sz="1800" dirty="0"/>
              <a:t>Idéalisme</a:t>
            </a:r>
          </a:p>
          <a:p>
            <a:pPr lvl="2"/>
            <a:r>
              <a:rPr lang="fr-FR" sz="1400" dirty="0"/>
              <a:t>Verdir la main des marchés</a:t>
            </a:r>
          </a:p>
          <a:p>
            <a:pPr lvl="1"/>
            <a:r>
              <a:rPr lang="fr-FR" sz="1800" dirty="0">
                <a:sym typeface="Wingdings" panose="05000000000000000000" pitchFamily="2" charset="2"/>
              </a:rPr>
              <a:t>Empirisme / Scientisme</a:t>
            </a:r>
          </a:p>
          <a:p>
            <a:pPr lvl="2"/>
            <a:r>
              <a:rPr lang="fr-FR" sz="1400" dirty="0">
                <a:sym typeface="Wingdings" panose="05000000000000000000" pitchFamily="2" charset="2"/>
              </a:rPr>
              <a:t>Méthodes éprouvées, dont les résultats sont le reflet d’une réalité</a:t>
            </a:r>
            <a:endParaRPr lang="fr-FR" sz="1400" dirty="0"/>
          </a:p>
        </p:txBody>
      </p:sp>
      <p:sp>
        <p:nvSpPr>
          <p:cNvPr id="4" name="Espace réservé du contenu 3"/>
          <p:cNvSpPr>
            <a:spLocks noGrp="1"/>
          </p:cNvSpPr>
          <p:nvPr>
            <p:ph sz="half" idx="2"/>
          </p:nvPr>
        </p:nvSpPr>
        <p:spPr/>
        <p:txBody>
          <a:bodyPr/>
          <a:lstStyle/>
          <a:p>
            <a:r>
              <a:rPr lang="fr-FR" sz="2000" dirty="0"/>
              <a:t>Différence prix/valeur</a:t>
            </a:r>
          </a:p>
          <a:p>
            <a:pPr lvl="1"/>
            <a:r>
              <a:rPr lang="fr-FR" sz="1800" dirty="0"/>
              <a:t>Valeur marginale</a:t>
            </a:r>
          </a:p>
          <a:p>
            <a:pPr lvl="1"/>
            <a:endParaRPr lang="fr-FR" sz="1800" dirty="0"/>
          </a:p>
          <a:p>
            <a:pPr lvl="1"/>
            <a:endParaRPr lang="fr-FR" sz="1800" dirty="0"/>
          </a:p>
          <a:p>
            <a:pPr lvl="1"/>
            <a:endParaRPr lang="fr-FR" sz="2000" dirty="0"/>
          </a:p>
          <a:p>
            <a:pPr lvl="1"/>
            <a:endParaRPr lang="fr-FR" sz="2000" dirty="0"/>
          </a:p>
          <a:p>
            <a:r>
              <a:rPr lang="fr-FR" sz="2000" dirty="0"/>
              <a:t>Indication de ressources additionnelles</a:t>
            </a:r>
          </a:p>
          <a:p>
            <a:pPr lvl="1"/>
            <a:r>
              <a:rPr lang="fr-FR" sz="1600" dirty="0"/>
              <a:t>Marché pour des drones pollinisateurs ?</a:t>
            </a:r>
          </a:p>
          <a:p>
            <a:endParaRPr lang="fr-FR" sz="2000" dirty="0"/>
          </a:p>
          <a:p>
            <a:endParaRPr lang="fr-FR" sz="2000" dirty="0"/>
          </a:p>
          <a:p>
            <a:endParaRPr lang="fr-FR" sz="2000" dirty="0"/>
          </a:p>
          <a:p>
            <a:endParaRPr lang="fr-FR" sz="2000" dirty="0"/>
          </a:p>
          <a:p>
            <a:endParaRPr lang="fr-FR" sz="2000" dirty="0"/>
          </a:p>
          <a:p>
            <a:endParaRPr lang="fr-FR" sz="2000" dirty="0"/>
          </a:p>
        </p:txBody>
      </p:sp>
      <p:pic>
        <p:nvPicPr>
          <p:cNvPr id="5" name="Picture 4" descr="'Bee drone' could soon pollinate the Earth's plants ..."/>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5775547" y="4957178"/>
            <a:ext cx="1965839" cy="1770769"/>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830000" y="2387165"/>
            <a:ext cx="1856932" cy="12409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70408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09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Controverses Nord/Sud</a:t>
            </a:r>
          </a:p>
        </p:txBody>
      </p:sp>
      <p:sp>
        <p:nvSpPr>
          <p:cNvPr id="3" name="Espace réservé du contenu 2"/>
          <p:cNvSpPr>
            <a:spLocks noGrp="1"/>
          </p:cNvSpPr>
          <p:nvPr>
            <p:ph sz="half" idx="1"/>
          </p:nvPr>
        </p:nvSpPr>
        <p:spPr/>
        <p:txBody>
          <a:bodyPr/>
          <a:lstStyle/>
          <a:p>
            <a:r>
              <a:rPr lang="fr-FR" sz="2000" dirty="0"/>
              <a:t>Paiements pour services environnementaux</a:t>
            </a:r>
          </a:p>
          <a:p>
            <a:pPr lvl="1"/>
            <a:r>
              <a:rPr lang="fr-FR" sz="1600" dirty="0"/>
              <a:t>Renforcement des élites locales ?</a:t>
            </a:r>
          </a:p>
          <a:p>
            <a:endParaRPr lang="fr-FR" dirty="0"/>
          </a:p>
          <a:p>
            <a:endParaRPr lang="fr-FR" dirty="0"/>
          </a:p>
          <a:p>
            <a:r>
              <a:rPr lang="fr-FR" sz="2000" dirty="0"/>
              <a:t>Différences :</a:t>
            </a:r>
          </a:p>
          <a:p>
            <a:pPr lvl="1"/>
            <a:r>
              <a:rPr lang="fr-FR" sz="1600" dirty="0"/>
              <a:t>Services écosystémiques : Bénéfices que les humains tirent des écosystèmes</a:t>
            </a:r>
          </a:p>
          <a:p>
            <a:pPr lvl="1"/>
            <a:r>
              <a:rPr lang="fr-FR" sz="1600" dirty="0"/>
              <a:t>Services environnementaux : services que les humains se rendent entre eux pour améliorer ou maintenir les écosystèmes  </a:t>
            </a:r>
          </a:p>
        </p:txBody>
      </p:sp>
      <p:sp>
        <p:nvSpPr>
          <p:cNvPr id="4" name="Espace réservé du contenu 3"/>
          <p:cNvSpPr>
            <a:spLocks noGrp="1"/>
          </p:cNvSpPr>
          <p:nvPr>
            <p:ph sz="half" idx="2"/>
          </p:nvPr>
        </p:nvSpPr>
        <p:spPr/>
        <p:txBody>
          <a:bodyPr/>
          <a:lstStyle/>
          <a:p>
            <a:r>
              <a:rPr lang="fr-FR" sz="2000" dirty="0"/>
              <a:t>Place disproportionnée des sciences du vivant et de l’économie</a:t>
            </a:r>
          </a:p>
          <a:p>
            <a:r>
              <a:rPr lang="fr-FR" sz="2000" dirty="0"/>
              <a:t>Pas de prise en compte des savoirs locaux</a:t>
            </a:r>
          </a:p>
          <a:p>
            <a:pPr lvl="1"/>
            <a:r>
              <a:rPr lang="fr-FR" sz="1600" dirty="0"/>
              <a:t>Vision souvent plus holiste que la vision occidentale réductionniste</a:t>
            </a:r>
          </a:p>
          <a:p>
            <a:pPr lvl="1"/>
            <a:r>
              <a:rPr lang="fr-FR" sz="1600" dirty="0"/>
              <a:t>Peu de sens de donner un prix à une partie d’un tout</a:t>
            </a:r>
          </a:p>
        </p:txBody>
      </p:sp>
      <p:pic>
        <p:nvPicPr>
          <p:cNvPr id="5123" name="Picture 3"/>
          <p:cNvPicPr>
            <a:picLocks noChangeAspect="1" noChangeArrowheads="1"/>
          </p:cNvPicPr>
          <p:nvPr/>
        </p:nvPicPr>
        <p:blipFill>
          <a:blip r:embed="rId3">
            <a:clrChange>
              <a:clrFrom>
                <a:srgbClr val="000000"/>
              </a:clrFrom>
              <a:clrTo>
                <a:srgbClr val="000000">
                  <a:alpha val="0"/>
                </a:srgbClr>
              </a:clrTo>
            </a:clrChange>
            <a:extLst>
              <a:ext uri="{28A0092B-C50C-407E-A947-70E740481C1C}">
                <a14:useLocalDpi xmlns:a14="http://schemas.microsoft.com/office/drawing/2010/main"/>
              </a:ext>
            </a:extLst>
          </a:blip>
          <a:srcRect/>
          <a:stretch>
            <a:fillRect/>
          </a:stretch>
        </p:blipFill>
        <p:spPr bwMode="auto">
          <a:xfrm>
            <a:off x="1376473" y="2924634"/>
            <a:ext cx="2238597" cy="6207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4" name="Picture 4"/>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5358808" y="4615336"/>
            <a:ext cx="3168503" cy="21257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7" name="Picture 7"/>
          <p:cNvPicPr>
            <a:picLocks noChangeAspect="1" noChangeArrowheads="1"/>
          </p:cNvPicPr>
          <p:nvPr/>
        </p:nvPicPr>
        <p:blipFill rotWithShape="1">
          <a:blip r:embed="rId5" cstate="screen">
            <a:extLst>
              <a:ext uri="{28A0092B-C50C-407E-A947-70E740481C1C}">
                <a14:useLocalDpi xmlns:a14="http://schemas.microsoft.com/office/drawing/2010/main"/>
              </a:ext>
            </a:extLst>
          </a:blip>
          <a:srcRect/>
          <a:stretch/>
        </p:blipFill>
        <p:spPr bwMode="auto">
          <a:xfrm>
            <a:off x="44091" y="5393669"/>
            <a:ext cx="1159234" cy="11052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8" name="Picture 8"/>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0" y="4320289"/>
            <a:ext cx="971882" cy="8518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29933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12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1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1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Des désaccords entre chercheurs sur (la monétarisation des) services</a:t>
            </a:r>
          </a:p>
        </p:txBody>
      </p:sp>
      <p:sp>
        <p:nvSpPr>
          <p:cNvPr id="3" name="Espace réservé du contenu 2"/>
          <p:cNvSpPr>
            <a:spLocks noGrp="1"/>
          </p:cNvSpPr>
          <p:nvPr>
            <p:ph idx="1"/>
          </p:nvPr>
        </p:nvSpPr>
        <p:spPr>
          <a:xfrm>
            <a:off x="5369442" y="1573667"/>
            <a:ext cx="3774558" cy="5044847"/>
          </a:xfrm>
        </p:spPr>
        <p:txBody>
          <a:bodyPr/>
          <a:lstStyle/>
          <a:p>
            <a:r>
              <a:rPr lang="fr-FR" sz="2000" dirty="0"/>
              <a:t>Au sein de l’IPBES (</a:t>
            </a:r>
            <a:r>
              <a:rPr lang="fr-FR" sz="2000" dirty="0" err="1"/>
              <a:t>Intergovernmental</a:t>
            </a:r>
            <a:r>
              <a:rPr lang="fr-FR" sz="2000" dirty="0"/>
              <a:t> Panel on </a:t>
            </a:r>
            <a:r>
              <a:rPr lang="fr-FR" sz="2000" dirty="0" err="1"/>
              <a:t>Biodiversity</a:t>
            </a:r>
            <a:r>
              <a:rPr lang="fr-FR" sz="2000" dirty="0"/>
              <a:t> and </a:t>
            </a:r>
            <a:r>
              <a:rPr lang="fr-FR" sz="2000" dirty="0" err="1"/>
              <a:t>Ecosystem</a:t>
            </a:r>
            <a:r>
              <a:rPr lang="fr-FR" sz="2000" dirty="0"/>
              <a:t> Services)</a:t>
            </a:r>
          </a:p>
          <a:p>
            <a:endParaRPr lang="fr-FR" sz="2000" dirty="0"/>
          </a:p>
          <a:p>
            <a:r>
              <a:rPr lang="fr-FR" sz="2000" i="1" dirty="0" err="1"/>
              <a:t>Ecosystem</a:t>
            </a:r>
            <a:r>
              <a:rPr lang="fr-FR" sz="2000" i="1" dirty="0"/>
              <a:t> Services </a:t>
            </a:r>
            <a:r>
              <a:rPr lang="fr-FR" sz="2000" dirty="0"/>
              <a:t>ou </a:t>
            </a:r>
            <a:r>
              <a:rPr lang="fr-FR" sz="2000" i="1" dirty="0"/>
              <a:t>Nature Contribution to People </a:t>
            </a:r>
            <a:r>
              <a:rPr lang="fr-FR" sz="2000" dirty="0"/>
              <a:t>?</a:t>
            </a:r>
          </a:p>
          <a:p>
            <a:endParaRPr lang="fr-FR" sz="2000" i="1" dirty="0"/>
          </a:p>
          <a:p>
            <a:pPr marL="0" indent="0">
              <a:buNone/>
            </a:pPr>
            <a:r>
              <a:rPr lang="fr-FR" sz="2000" i="1" dirty="0"/>
              <a:t>“Toutes les contributions positives, et parfois négatives, que les humains obtiennent de la nature”</a:t>
            </a:r>
          </a:p>
        </p:txBody>
      </p:sp>
      <p:pic>
        <p:nvPicPr>
          <p:cNvPr id="34818" name="Picture 2"/>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304802" y="1988280"/>
            <a:ext cx="4935459" cy="46126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069658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Quelles solutions pour conserver la biodiversité et les services ?</a:t>
            </a:r>
          </a:p>
        </p:txBody>
      </p:sp>
      <p:sp>
        <p:nvSpPr>
          <p:cNvPr id="3" name="Espace réservé du contenu 2"/>
          <p:cNvSpPr>
            <a:spLocks noGrp="1"/>
          </p:cNvSpPr>
          <p:nvPr>
            <p:ph idx="1"/>
          </p:nvPr>
        </p:nvSpPr>
        <p:spPr/>
        <p:txBody>
          <a:bodyPr/>
          <a:lstStyle/>
          <a:p>
            <a:r>
              <a:rPr lang="fr-FR" sz="2400" dirty="0"/>
              <a:t>Essayer de prendre en compte toutes les valeurs</a:t>
            </a:r>
          </a:p>
          <a:p>
            <a:pPr lvl="1"/>
            <a:r>
              <a:rPr lang="fr-FR" sz="2000" dirty="0"/>
              <a:t>Valeur instrumentale</a:t>
            </a:r>
          </a:p>
          <a:p>
            <a:pPr lvl="1"/>
            <a:r>
              <a:rPr lang="fr-FR" sz="2000" dirty="0"/>
              <a:t>Valeur culturelle / relationnelle</a:t>
            </a:r>
          </a:p>
          <a:p>
            <a:pPr lvl="1"/>
            <a:r>
              <a:rPr lang="fr-FR" sz="2000" dirty="0"/>
              <a:t>Valeur intrinsèque</a:t>
            </a:r>
          </a:p>
          <a:p>
            <a:pPr lvl="1"/>
            <a:endParaRPr lang="fr-FR" sz="2000" dirty="0"/>
          </a:p>
          <a:p>
            <a:pPr lvl="1"/>
            <a:endParaRPr lang="fr-FR" sz="2000" dirty="0"/>
          </a:p>
          <a:p>
            <a:pPr lvl="1"/>
            <a:endParaRPr lang="fr-FR" sz="2000" dirty="0"/>
          </a:p>
          <a:p>
            <a:r>
              <a:rPr lang="fr-FR" sz="2400" dirty="0"/>
              <a:t>Transformer le « Que conserver » en « Que détruire ? »</a:t>
            </a:r>
          </a:p>
          <a:p>
            <a:pPr lvl="1"/>
            <a:r>
              <a:rPr lang="fr-FR" sz="2000" dirty="0"/>
              <a:t>Protéger par défaut, ne détruire que quand c’est vraiment indispensable</a:t>
            </a:r>
          </a:p>
          <a:p>
            <a:r>
              <a:rPr lang="fr-FR" sz="2400" dirty="0"/>
              <a:t>Reconnecter les humains à la nature</a:t>
            </a:r>
          </a:p>
          <a:p>
            <a:pPr lvl="1"/>
            <a:r>
              <a:rPr lang="fr-FR" sz="2000" dirty="0"/>
              <a:t>« On prend d’abord soin de ce qu’on aime »</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696197" y="2094103"/>
            <a:ext cx="2818410" cy="2105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27119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Vigie-nature école, </a:t>
            </a:r>
            <a:br>
              <a:rPr lang="fr-FR" dirty="0"/>
            </a:br>
            <a:r>
              <a:rPr lang="fr-FR" dirty="0"/>
              <a:t>une solution de reconnexion ?</a:t>
            </a:r>
          </a:p>
        </p:txBody>
      </p:sp>
      <p:sp>
        <p:nvSpPr>
          <p:cNvPr id="3" name="Espace réservé du contenu 2"/>
          <p:cNvSpPr>
            <a:spLocks noGrp="1"/>
          </p:cNvSpPr>
          <p:nvPr>
            <p:ph sz="half" idx="1"/>
          </p:nvPr>
        </p:nvSpPr>
        <p:spPr/>
        <p:txBody>
          <a:bodyPr/>
          <a:lstStyle/>
          <a:p>
            <a:r>
              <a:rPr lang="fr-FR" sz="2000" dirty="0"/>
              <a:t>Objectifs :</a:t>
            </a:r>
          </a:p>
          <a:p>
            <a:pPr lvl="1"/>
            <a:r>
              <a:rPr lang="fr-FR" sz="1600" dirty="0"/>
              <a:t>Proposer des protocoles simples, adaptés au contexte scolaire et motivants</a:t>
            </a:r>
            <a:endParaRPr lang="fr-FR" dirty="0"/>
          </a:p>
          <a:p>
            <a:pPr lvl="1"/>
            <a:r>
              <a:rPr lang="fr-FR" sz="1600" dirty="0"/>
              <a:t>Favoriser ainsi les sorties de terrain pour amener les élèves à découvrir la biodiversité locale</a:t>
            </a:r>
          </a:p>
          <a:p>
            <a:pPr lvl="1"/>
            <a:r>
              <a:rPr lang="fr-FR" sz="1600" dirty="0"/>
              <a:t>Amener les élèves à agir localement en faveur de la biodiversité</a:t>
            </a:r>
          </a:p>
          <a:p>
            <a:pPr lvl="1"/>
            <a:r>
              <a:rPr lang="fr-FR" sz="1600" dirty="0"/>
              <a:t>Mieux comprendre la démarche scientifique et le travail des chercheurs</a:t>
            </a:r>
          </a:p>
          <a:p>
            <a:pPr lvl="1"/>
            <a:endParaRPr lang="fr-FR" sz="1600" dirty="0"/>
          </a:p>
          <a:p>
            <a:r>
              <a:rPr lang="fr-FR" sz="2000" dirty="0"/>
              <a:t>Quelle déclinaison pour parler de services écosystémiques ?</a:t>
            </a:r>
          </a:p>
        </p:txBody>
      </p:sp>
      <p:pic>
        <p:nvPicPr>
          <p:cNvPr id="9218" name="Picture 2" descr="logo_vne.png"/>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778452" y="195025"/>
            <a:ext cx="3162300" cy="1028701"/>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 5">
            <a:hlinkClick r:id="" action="ppaction://noaction"/>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4593837" y="5090903"/>
            <a:ext cx="996985" cy="948224"/>
          </a:xfrm>
          <a:prstGeom prst="rect">
            <a:avLst/>
          </a:prstGeom>
        </p:spPr>
      </p:pic>
      <p:pic>
        <p:nvPicPr>
          <p:cNvPr id="7" name="Image 6">
            <a:hlinkClick r:id="" action="ppaction://noaction"/>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6941024" y="2786647"/>
            <a:ext cx="1108953" cy="948224"/>
          </a:xfrm>
          <a:prstGeom prst="rect">
            <a:avLst/>
          </a:prstGeom>
        </p:spPr>
      </p:pic>
      <p:pic>
        <p:nvPicPr>
          <p:cNvPr id="8" name="Image 7">
            <a:hlinkClick r:id="" action="ppaction://noaction"/>
          </p:cNvPr>
          <p:cNvPicPr>
            <a:picLocks noChangeAspect="1"/>
          </p:cNvPicPr>
          <p:nvPr/>
        </p:nvPicPr>
        <p:blipFill rotWithShape="1">
          <a:blip r:embed="rId6" cstate="screen">
            <a:extLst>
              <a:ext uri="{28A0092B-C50C-407E-A947-70E740481C1C}">
                <a14:useLocalDpi xmlns:a14="http://schemas.microsoft.com/office/drawing/2010/main"/>
              </a:ext>
            </a:extLst>
          </a:blip>
          <a:srcRect/>
          <a:stretch/>
        </p:blipFill>
        <p:spPr>
          <a:xfrm>
            <a:off x="6957524" y="1646639"/>
            <a:ext cx="1108954" cy="948224"/>
          </a:xfrm>
          <a:prstGeom prst="rect">
            <a:avLst/>
          </a:prstGeom>
        </p:spPr>
      </p:pic>
      <p:pic>
        <p:nvPicPr>
          <p:cNvPr id="9" name="Image 8">
            <a:hlinkClick r:id="" action="ppaction://noaction"/>
          </p:cNvPr>
          <p:cNvPicPr>
            <a:picLocks noChangeAspect="1"/>
          </p:cNvPicPr>
          <p:nvPr/>
        </p:nvPicPr>
        <p:blipFill rotWithShape="1">
          <a:blip r:embed="rId7" cstate="screen">
            <a:extLst>
              <a:ext uri="{28A0092B-C50C-407E-A947-70E740481C1C}">
                <a14:useLocalDpi xmlns:a14="http://schemas.microsoft.com/office/drawing/2010/main"/>
              </a:ext>
            </a:extLst>
          </a:blip>
          <a:srcRect/>
          <a:stretch/>
        </p:blipFill>
        <p:spPr>
          <a:xfrm>
            <a:off x="6768407" y="3952702"/>
            <a:ext cx="1274324" cy="948224"/>
          </a:xfrm>
          <a:prstGeom prst="rect">
            <a:avLst/>
          </a:prstGeom>
        </p:spPr>
      </p:pic>
      <p:pic>
        <p:nvPicPr>
          <p:cNvPr id="10" name="Image 9">
            <a:hlinkClick r:id="" action="ppaction://noaction"/>
          </p:cNvPr>
          <p:cNvPicPr>
            <a:picLocks noChangeAspect="1"/>
          </p:cNvPicPr>
          <p:nvPr/>
        </p:nvPicPr>
        <p:blipFill rotWithShape="1">
          <a:blip r:embed="rId8" cstate="screen">
            <a:extLst>
              <a:ext uri="{28A0092B-C50C-407E-A947-70E740481C1C}">
                <a14:useLocalDpi xmlns:a14="http://schemas.microsoft.com/office/drawing/2010/main"/>
              </a:ext>
            </a:extLst>
          </a:blip>
          <a:srcRect/>
          <a:stretch/>
        </p:blipFill>
        <p:spPr>
          <a:xfrm>
            <a:off x="4593837" y="2786647"/>
            <a:ext cx="1050587" cy="948224"/>
          </a:xfrm>
          <a:prstGeom prst="rect">
            <a:avLst/>
          </a:prstGeom>
        </p:spPr>
      </p:pic>
      <p:pic>
        <p:nvPicPr>
          <p:cNvPr id="11" name="Image 10">
            <a:hlinkClick r:id="" action="ppaction://noaction"/>
          </p:cNvPr>
          <p:cNvPicPr>
            <a:picLocks noChangeAspect="1"/>
          </p:cNvPicPr>
          <p:nvPr/>
        </p:nvPicPr>
        <p:blipFill rotWithShape="1">
          <a:blip r:embed="rId9" cstate="screen">
            <a:extLst>
              <a:ext uri="{28A0092B-C50C-407E-A947-70E740481C1C}">
                <a14:useLocalDpi xmlns:a14="http://schemas.microsoft.com/office/drawing/2010/main"/>
              </a:ext>
            </a:extLst>
          </a:blip>
          <a:srcRect/>
          <a:stretch/>
        </p:blipFill>
        <p:spPr>
          <a:xfrm>
            <a:off x="4503760" y="1646639"/>
            <a:ext cx="1060315" cy="948224"/>
          </a:xfrm>
          <a:prstGeom prst="rect">
            <a:avLst/>
          </a:prstGeom>
        </p:spPr>
      </p:pic>
      <p:pic>
        <p:nvPicPr>
          <p:cNvPr id="12" name="Image 11">
            <a:hlinkClick r:id="" action="ppaction://noaction"/>
          </p:cNvPr>
          <p:cNvPicPr>
            <a:picLocks noChangeAspect="1"/>
          </p:cNvPicPr>
          <p:nvPr/>
        </p:nvPicPr>
        <p:blipFill rotWithShape="1">
          <a:blip r:embed="rId10" cstate="screen">
            <a:extLst>
              <a:ext uri="{28A0092B-C50C-407E-A947-70E740481C1C}">
                <a14:useLocalDpi xmlns:a14="http://schemas.microsoft.com/office/drawing/2010/main"/>
              </a:ext>
            </a:extLst>
          </a:blip>
          <a:srcRect/>
          <a:stretch/>
        </p:blipFill>
        <p:spPr>
          <a:xfrm>
            <a:off x="4657018" y="3952702"/>
            <a:ext cx="1026368" cy="948224"/>
          </a:xfrm>
          <a:prstGeom prst="rect">
            <a:avLst/>
          </a:prstGeom>
        </p:spPr>
      </p:pic>
      <p:sp>
        <p:nvSpPr>
          <p:cNvPr id="13" name="Espace réservé du contenu 2"/>
          <p:cNvSpPr txBox="1">
            <a:spLocks/>
          </p:cNvSpPr>
          <p:nvPr/>
        </p:nvSpPr>
        <p:spPr bwMode="auto">
          <a:xfrm>
            <a:off x="5610871" y="1797586"/>
            <a:ext cx="2124000" cy="646331"/>
          </a:xfrm>
          <a:prstGeom prst="rect">
            <a:avLst/>
          </a:prstGeom>
          <a:noFill/>
          <a:ln w="25400" cap="flat" cmpd="sng" algn="ctr">
            <a:noFill/>
            <a:prstDash val="solid"/>
            <a:miter lim="800000"/>
            <a:headEnd/>
            <a:tailEnd/>
          </a:ln>
        </p:spPr>
        <p:style>
          <a:lnRef idx="2">
            <a:schemeClr val="accent3"/>
          </a:lnRef>
          <a:fillRef idx="1">
            <a:schemeClr val="lt1"/>
          </a:fillRef>
          <a:effectRef idx="0">
            <a:schemeClr val="accent3"/>
          </a:effectRef>
          <a:fontRef idx="minor">
            <a:schemeClr val="dk1"/>
          </a:fontRef>
        </p:style>
        <p:txBody>
          <a:bodyPr>
            <a:spAutoFit/>
          </a:bodyPr>
          <a:lstStyle>
            <a:defPPr>
              <a:defRPr lang="fr-F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defRPr/>
            </a:pPr>
            <a:r>
              <a:rPr lang="fr-FR" b="1" dirty="0">
                <a:solidFill>
                  <a:schemeClr val="tx1"/>
                </a:solidFill>
                <a:latin typeface="Calibri" panose="020F0502020204030204" pitchFamily="34" charset="0"/>
              </a:rPr>
              <a:t>OPÉRATION ESCARGOTS</a:t>
            </a:r>
          </a:p>
        </p:txBody>
      </p:sp>
      <p:sp>
        <p:nvSpPr>
          <p:cNvPr id="14" name="Espace réservé du contenu 2"/>
          <p:cNvSpPr txBox="1">
            <a:spLocks/>
          </p:cNvSpPr>
          <p:nvPr/>
        </p:nvSpPr>
        <p:spPr bwMode="auto">
          <a:xfrm>
            <a:off x="5610871" y="2937594"/>
            <a:ext cx="1368000" cy="646331"/>
          </a:xfrm>
          <a:prstGeom prst="rect">
            <a:avLst/>
          </a:prstGeom>
          <a:noFill/>
          <a:ln w="25400" cap="flat" cmpd="sng" algn="ctr">
            <a:noFill/>
            <a:prstDash val="solid"/>
            <a:miter lim="800000"/>
            <a:headEnd/>
            <a:tailEnd/>
          </a:ln>
        </p:spPr>
        <p:style>
          <a:lnRef idx="2">
            <a:schemeClr val="accent3"/>
          </a:lnRef>
          <a:fillRef idx="1">
            <a:schemeClr val="lt1"/>
          </a:fillRef>
          <a:effectRef idx="0">
            <a:schemeClr val="accent3"/>
          </a:effectRef>
          <a:fontRef idx="minor">
            <a:schemeClr val="dk1"/>
          </a:fontRef>
        </p:style>
        <p:txBody>
          <a:bodyPr>
            <a:spAutoFit/>
          </a:bodyPr>
          <a:lstStyle>
            <a:defPPr>
              <a:defRPr lang="fr-F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defRPr/>
            </a:pPr>
            <a:r>
              <a:rPr lang="fr-FR" b="1" dirty="0">
                <a:solidFill>
                  <a:schemeClr val="tx1"/>
                </a:solidFill>
                <a:latin typeface="Calibri" panose="020F0502020204030204" pitchFamily="34" charset="0"/>
              </a:rPr>
              <a:t>SAUVAGES DE MA RUE</a:t>
            </a:r>
          </a:p>
        </p:txBody>
      </p:sp>
      <p:sp>
        <p:nvSpPr>
          <p:cNvPr id="15" name="Espace réservé du contenu 2"/>
          <p:cNvSpPr txBox="1">
            <a:spLocks/>
          </p:cNvSpPr>
          <p:nvPr/>
        </p:nvSpPr>
        <p:spPr bwMode="auto">
          <a:xfrm>
            <a:off x="5610871" y="4242148"/>
            <a:ext cx="2739606" cy="369332"/>
          </a:xfrm>
          <a:prstGeom prst="rect">
            <a:avLst/>
          </a:prstGeom>
          <a:noFill/>
          <a:ln w="25400" cap="flat" cmpd="sng" algn="ctr">
            <a:noFill/>
            <a:prstDash val="solid"/>
            <a:miter lim="800000"/>
            <a:headEnd/>
            <a:tailEnd/>
          </a:ln>
        </p:spPr>
        <p:style>
          <a:lnRef idx="2">
            <a:schemeClr val="accent3"/>
          </a:lnRef>
          <a:fillRef idx="1">
            <a:schemeClr val="lt1"/>
          </a:fillRef>
          <a:effectRef idx="0">
            <a:schemeClr val="accent3"/>
          </a:effectRef>
          <a:fontRef idx="minor">
            <a:schemeClr val="dk1"/>
          </a:fontRef>
        </p:style>
        <p:txBody>
          <a:bodyPr>
            <a:spAutoFit/>
          </a:bodyPr>
          <a:lstStyle>
            <a:defPPr>
              <a:defRPr lang="fr-F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defRPr/>
            </a:pPr>
            <a:r>
              <a:rPr lang="fr-FR" b="1" dirty="0">
                <a:solidFill>
                  <a:schemeClr val="tx1"/>
                </a:solidFill>
                <a:latin typeface="Calibri" panose="020F0502020204030204" pitchFamily="34" charset="0"/>
              </a:rPr>
              <a:t>SPIPOLL</a:t>
            </a:r>
          </a:p>
        </p:txBody>
      </p:sp>
      <p:sp>
        <p:nvSpPr>
          <p:cNvPr id="16" name="Espace réservé du contenu 2"/>
          <p:cNvSpPr txBox="1">
            <a:spLocks/>
          </p:cNvSpPr>
          <p:nvPr/>
        </p:nvSpPr>
        <p:spPr bwMode="auto">
          <a:xfrm>
            <a:off x="5610871" y="5241850"/>
            <a:ext cx="1728000" cy="646331"/>
          </a:xfrm>
          <a:prstGeom prst="rect">
            <a:avLst/>
          </a:prstGeom>
          <a:noFill/>
          <a:ln w="25400" cap="flat" cmpd="sng" algn="ctr">
            <a:noFill/>
            <a:prstDash val="solid"/>
            <a:miter lim="800000"/>
            <a:headEnd/>
            <a:tailEnd/>
          </a:ln>
        </p:spPr>
        <p:style>
          <a:lnRef idx="2">
            <a:schemeClr val="accent3"/>
          </a:lnRef>
          <a:fillRef idx="1">
            <a:schemeClr val="lt1"/>
          </a:fillRef>
          <a:effectRef idx="0">
            <a:schemeClr val="accent3"/>
          </a:effectRef>
          <a:fontRef idx="minor">
            <a:schemeClr val="dk1"/>
          </a:fontRef>
        </p:style>
        <p:txBody>
          <a:bodyPr>
            <a:spAutoFit/>
          </a:bodyPr>
          <a:lstStyle>
            <a:defPPr>
              <a:defRPr lang="fr-F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defRPr/>
            </a:pPr>
            <a:r>
              <a:rPr lang="fr-FR" b="1" dirty="0">
                <a:solidFill>
                  <a:schemeClr val="tx1"/>
                </a:solidFill>
                <a:latin typeface="Calibri" panose="020F0502020204030204" pitchFamily="34" charset="0"/>
              </a:rPr>
              <a:t>PLACETTES À VERS DE TERRE</a:t>
            </a:r>
          </a:p>
        </p:txBody>
      </p:sp>
      <p:sp>
        <p:nvSpPr>
          <p:cNvPr id="17" name="Espace réservé du contenu 2"/>
          <p:cNvSpPr txBox="1">
            <a:spLocks/>
          </p:cNvSpPr>
          <p:nvPr/>
        </p:nvSpPr>
        <p:spPr bwMode="auto">
          <a:xfrm>
            <a:off x="8036606" y="1797586"/>
            <a:ext cx="1260000" cy="646331"/>
          </a:xfrm>
          <a:prstGeom prst="rect">
            <a:avLst/>
          </a:prstGeom>
          <a:noFill/>
          <a:ln w="25400" cap="flat" cmpd="sng" algn="ctr">
            <a:noFill/>
            <a:prstDash val="solid"/>
            <a:miter lim="800000"/>
            <a:headEnd/>
            <a:tailEnd/>
          </a:ln>
        </p:spPr>
        <p:style>
          <a:lnRef idx="2">
            <a:schemeClr val="accent3"/>
          </a:lnRef>
          <a:fillRef idx="1">
            <a:schemeClr val="lt1"/>
          </a:fillRef>
          <a:effectRef idx="0">
            <a:schemeClr val="accent3"/>
          </a:effectRef>
          <a:fontRef idx="minor">
            <a:schemeClr val="dk1"/>
          </a:fontRef>
        </p:style>
        <p:txBody>
          <a:bodyPr>
            <a:spAutoFit/>
          </a:bodyPr>
          <a:lstStyle>
            <a:defPPr>
              <a:defRPr lang="fr-F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defRPr/>
            </a:pPr>
            <a:r>
              <a:rPr lang="fr-FR" b="1" dirty="0">
                <a:solidFill>
                  <a:schemeClr val="tx1"/>
                </a:solidFill>
                <a:latin typeface="Calibri" panose="020F0502020204030204" pitchFamily="34" charset="0"/>
              </a:rPr>
              <a:t>VIGIE-CHIRO</a:t>
            </a:r>
          </a:p>
        </p:txBody>
      </p:sp>
      <p:sp>
        <p:nvSpPr>
          <p:cNvPr id="18" name="Espace réservé du contenu 2"/>
          <p:cNvSpPr txBox="1">
            <a:spLocks/>
          </p:cNvSpPr>
          <p:nvPr/>
        </p:nvSpPr>
        <p:spPr bwMode="auto">
          <a:xfrm>
            <a:off x="8036606" y="3076093"/>
            <a:ext cx="1369803" cy="369332"/>
          </a:xfrm>
          <a:prstGeom prst="rect">
            <a:avLst/>
          </a:prstGeom>
          <a:noFill/>
          <a:ln w="25400" cap="flat" cmpd="sng" algn="ctr">
            <a:noFill/>
            <a:prstDash val="solid"/>
            <a:miter lim="800000"/>
            <a:headEnd/>
            <a:tailEnd/>
          </a:ln>
        </p:spPr>
        <p:style>
          <a:lnRef idx="2">
            <a:schemeClr val="accent3"/>
          </a:lnRef>
          <a:fillRef idx="1">
            <a:schemeClr val="lt1"/>
          </a:fillRef>
          <a:effectRef idx="0">
            <a:schemeClr val="accent3"/>
          </a:effectRef>
          <a:fontRef idx="minor">
            <a:schemeClr val="dk1"/>
          </a:fontRef>
        </p:style>
        <p:txBody>
          <a:bodyPr>
            <a:spAutoFit/>
          </a:bodyPr>
          <a:lstStyle>
            <a:defPPr>
              <a:defRPr lang="fr-F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defRPr/>
            </a:pPr>
            <a:r>
              <a:rPr lang="fr-FR" b="1" dirty="0">
                <a:solidFill>
                  <a:schemeClr val="tx1"/>
                </a:solidFill>
                <a:latin typeface="Calibri" panose="020F0502020204030204" pitchFamily="34" charset="0"/>
              </a:rPr>
              <a:t>BIOLIT</a:t>
            </a:r>
          </a:p>
        </p:txBody>
      </p:sp>
      <p:sp>
        <p:nvSpPr>
          <p:cNvPr id="19" name="Espace réservé du contenu 2"/>
          <p:cNvSpPr txBox="1">
            <a:spLocks/>
          </p:cNvSpPr>
          <p:nvPr/>
        </p:nvSpPr>
        <p:spPr bwMode="auto">
          <a:xfrm>
            <a:off x="8036606" y="3965149"/>
            <a:ext cx="1257522" cy="923330"/>
          </a:xfrm>
          <a:prstGeom prst="rect">
            <a:avLst/>
          </a:prstGeom>
          <a:noFill/>
          <a:ln w="25400" cap="flat" cmpd="sng" algn="ctr">
            <a:noFill/>
            <a:prstDash val="solid"/>
            <a:miter lim="800000"/>
            <a:headEnd/>
            <a:tailEnd/>
          </a:ln>
        </p:spPr>
        <p:style>
          <a:lnRef idx="2">
            <a:schemeClr val="accent3"/>
          </a:lnRef>
          <a:fillRef idx="1">
            <a:schemeClr val="lt1"/>
          </a:fillRef>
          <a:effectRef idx="0">
            <a:schemeClr val="accent3"/>
          </a:effectRef>
          <a:fontRef idx="minor">
            <a:schemeClr val="dk1"/>
          </a:fontRef>
        </p:style>
        <p:txBody>
          <a:bodyPr>
            <a:spAutoFit/>
          </a:bodyPr>
          <a:lstStyle>
            <a:defPPr>
              <a:defRPr lang="fr-F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defRPr/>
            </a:pPr>
            <a:r>
              <a:rPr lang="fr-FR" b="1" dirty="0">
                <a:solidFill>
                  <a:schemeClr val="tx1"/>
                </a:solidFill>
                <a:latin typeface="Calibri" panose="020F0502020204030204" pitchFamily="34" charset="0"/>
              </a:rPr>
              <a:t>OISEAUX DES JARDINS</a:t>
            </a:r>
          </a:p>
        </p:txBody>
      </p:sp>
    </p:spTree>
    <p:extLst>
      <p:ext uri="{BB962C8B-B14F-4D97-AF65-F5344CB8AC3E}">
        <p14:creationId xmlns:p14="http://schemas.microsoft.com/office/powerpoint/2010/main" val="13386146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Conclusions</a:t>
            </a:r>
          </a:p>
        </p:txBody>
      </p:sp>
      <p:sp>
        <p:nvSpPr>
          <p:cNvPr id="5" name="Espace réservé du contenu 4"/>
          <p:cNvSpPr>
            <a:spLocks noGrp="1"/>
          </p:cNvSpPr>
          <p:nvPr>
            <p:ph idx="1"/>
          </p:nvPr>
        </p:nvSpPr>
        <p:spPr/>
        <p:txBody>
          <a:bodyPr/>
          <a:lstStyle/>
          <a:p>
            <a:r>
              <a:rPr lang="fr-FR" sz="2400" dirty="0"/>
              <a:t>Le concept de services écosystémiques a aidé à exporter la biodiversité de la sphère scientifique à l’ensemble de la société</a:t>
            </a:r>
          </a:p>
          <a:p>
            <a:endParaRPr lang="fr-FR" sz="2400" dirty="0"/>
          </a:p>
          <a:p>
            <a:r>
              <a:rPr lang="fr-FR" sz="2400" dirty="0"/>
              <a:t>La plus-value de la monétarisation reste encore à démontrer</a:t>
            </a:r>
          </a:p>
          <a:p>
            <a:endParaRPr lang="fr-FR" sz="2400" dirty="0"/>
          </a:p>
          <a:p>
            <a:r>
              <a:rPr lang="fr-FR" sz="2400" dirty="0"/>
              <a:t>Pour que les autres valeurs soient mieux prises en compte, il faut que les humains se reconnectent avec la nature</a:t>
            </a:r>
          </a:p>
          <a:p>
            <a:endParaRPr lang="fr-FR" dirty="0"/>
          </a:p>
        </p:txBody>
      </p:sp>
    </p:spTree>
    <p:extLst>
      <p:ext uri="{BB962C8B-B14F-4D97-AF65-F5344CB8AC3E}">
        <p14:creationId xmlns:p14="http://schemas.microsoft.com/office/powerpoint/2010/main" val="5139859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p:nvPr>
        </p:nvSpPr>
        <p:spPr/>
        <p:txBody>
          <a:bodyPr/>
          <a:lstStyle/>
          <a:p>
            <a:r>
              <a:rPr lang="fr-FR" dirty="0"/>
              <a:t>Bibliographie et ressources</a:t>
            </a:r>
          </a:p>
        </p:txBody>
      </p:sp>
      <p:sp>
        <p:nvSpPr>
          <p:cNvPr id="6" name="Espace réservé du contenu 5"/>
          <p:cNvSpPr>
            <a:spLocks noGrp="1"/>
          </p:cNvSpPr>
          <p:nvPr>
            <p:ph idx="1"/>
          </p:nvPr>
        </p:nvSpPr>
        <p:spPr/>
        <p:txBody>
          <a:bodyPr/>
          <a:lstStyle/>
          <a:p>
            <a:r>
              <a:rPr lang="fr-FR" sz="2000" dirty="0"/>
              <a:t>Valeurs de la biodiversité et services écosystémiques. Roche et al. 2016. </a:t>
            </a:r>
            <a:r>
              <a:rPr lang="fr-FR" sz="2000" dirty="0" err="1"/>
              <a:t>Quæ</a:t>
            </a:r>
            <a:r>
              <a:rPr lang="fr-FR" sz="2000" dirty="0"/>
              <a:t>.</a:t>
            </a:r>
          </a:p>
          <a:p>
            <a:endParaRPr lang="fr-FR" sz="2000" dirty="0"/>
          </a:p>
          <a:p>
            <a:r>
              <a:rPr lang="fr-FR" sz="2000" dirty="0"/>
              <a:t>L’évaluation française des écosystèmes et services écosystémiques (EFESE)</a:t>
            </a:r>
          </a:p>
          <a:p>
            <a:pPr lvl="1"/>
            <a:r>
              <a:rPr lang="fr-FR" sz="1800" dirty="0"/>
              <a:t>https://www.ecologique-solidaire.gouv.fr/levaluation-francaise-des-ecosystemes-et-des-services-ecosystemiques#e1</a:t>
            </a:r>
          </a:p>
          <a:p>
            <a:pPr marL="0" indent="0">
              <a:buNone/>
            </a:pPr>
            <a:endParaRPr lang="fr-FR" sz="2400" dirty="0"/>
          </a:p>
          <a:p>
            <a:r>
              <a:rPr lang="fr-FR" sz="2000" dirty="0"/>
              <a:t>Les services écosystémiques. Repenser les relations nature et société. </a:t>
            </a:r>
            <a:r>
              <a:rPr lang="fr-FR" sz="2000" dirty="0" err="1"/>
              <a:t>Méral</a:t>
            </a:r>
            <a:r>
              <a:rPr lang="fr-FR" sz="2000" dirty="0"/>
              <a:t> et </a:t>
            </a:r>
            <a:r>
              <a:rPr lang="fr-FR" sz="2000" dirty="0" err="1"/>
              <a:t>Pesche</a:t>
            </a:r>
            <a:r>
              <a:rPr lang="fr-FR" sz="2000" dirty="0"/>
              <a:t>. 2016. </a:t>
            </a:r>
            <a:r>
              <a:rPr lang="fr-FR" sz="2000" dirty="0" err="1"/>
              <a:t>Quæ</a:t>
            </a:r>
            <a:endParaRPr lang="fr-FR" sz="2000" dirty="0"/>
          </a:p>
          <a:p>
            <a:endParaRPr lang="fr-FR" sz="2000" dirty="0"/>
          </a:p>
          <a:p>
            <a:r>
              <a:rPr lang="fr-FR" sz="2000" dirty="0"/>
              <a:t>La première fleur du printemps. Wendell Berry. L’écologiste n°13 (juillet-septembre 2004)</a:t>
            </a:r>
          </a:p>
        </p:txBody>
      </p:sp>
    </p:spTree>
    <p:extLst>
      <p:ext uri="{BB962C8B-B14F-4D97-AF65-F5344CB8AC3E}">
        <p14:creationId xmlns:p14="http://schemas.microsoft.com/office/powerpoint/2010/main" val="17840613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dirty="0"/>
              <a:t>Merci !</a:t>
            </a:r>
          </a:p>
        </p:txBody>
      </p:sp>
      <p:pic>
        <p:nvPicPr>
          <p:cNvPr id="3074" name="Picture 2" descr="L’image contient peut-être : texte"/>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256222" y="1847063"/>
            <a:ext cx="4351403" cy="4351404"/>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643250" y="1638794"/>
            <a:ext cx="4460972" cy="4767943"/>
          </a:xfrm>
          <a:prstGeom prst="rect">
            <a:avLst/>
          </a:prstGeom>
        </p:spPr>
      </p:pic>
      <p:sp>
        <p:nvSpPr>
          <p:cNvPr id="6" name="Rectangle 5"/>
          <p:cNvSpPr/>
          <p:nvPr/>
        </p:nvSpPr>
        <p:spPr>
          <a:xfrm>
            <a:off x="6873736" y="6252848"/>
            <a:ext cx="2076209" cy="307777"/>
          </a:xfrm>
          <a:prstGeom prst="rect">
            <a:avLst/>
          </a:prstGeom>
        </p:spPr>
        <p:txBody>
          <a:bodyPr wrap="none">
            <a:spAutoFit/>
          </a:bodyPr>
          <a:lstStyle/>
          <a:p>
            <a:r>
              <a:rPr lang="fr-FR" sz="1400" dirty="0"/>
              <a:t>Alessandro </a:t>
            </a:r>
            <a:r>
              <a:rPr lang="fr-FR" sz="1400" dirty="0" err="1"/>
              <a:t>Pignocchi</a:t>
            </a:r>
            <a:endParaRPr lang="fr-FR" sz="1400" dirty="0"/>
          </a:p>
        </p:txBody>
      </p:sp>
    </p:spTree>
    <p:extLst>
      <p:ext uri="{BB962C8B-B14F-4D97-AF65-F5344CB8AC3E}">
        <p14:creationId xmlns:p14="http://schemas.microsoft.com/office/powerpoint/2010/main" val="2941876594"/>
      </p:ext>
    </p:extLst>
  </p:cSld>
  <p:clrMapOvr>
    <a:masterClrMapping/>
  </p:clrMapOvr>
</p:sld>
</file>

<file path=ppt/theme/theme1.xml><?xml version="1.0" encoding="utf-8"?>
<a:theme xmlns:a="http://schemas.openxmlformats.org/drawingml/2006/main" name="ThèmeEP">
  <a:themeElements>
    <a:clrScheme name="Niveau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Niveau">
      <a:majorFont>
        <a:latin typeface="Garamond"/>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iveau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Niveau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Niveau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Niveau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Niveau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Niveau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Niveau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Niveau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ThèmeEP</Template>
  <TotalTime>1917</TotalTime>
  <Words>2350</Words>
  <Application>Microsoft Office PowerPoint</Application>
  <PresentationFormat>Apresentação na tela (4:3)</PresentationFormat>
  <Paragraphs>451</Paragraphs>
  <Slides>37</Slides>
  <Notes>12</Notes>
  <HiddenSlides>0</HiddenSlides>
  <MMClips>0</MMClips>
  <ScaleCrop>false</ScaleCrop>
  <HeadingPairs>
    <vt:vector size="4" baseType="variant">
      <vt:variant>
        <vt:lpstr>Tema</vt:lpstr>
      </vt:variant>
      <vt:variant>
        <vt:i4>1</vt:i4>
      </vt:variant>
      <vt:variant>
        <vt:lpstr>Títulos de slides</vt:lpstr>
      </vt:variant>
      <vt:variant>
        <vt:i4>37</vt:i4>
      </vt:variant>
    </vt:vector>
  </HeadingPairs>
  <TitlesOfParts>
    <vt:vector size="38" baseType="lpstr">
      <vt:lpstr>ThèmeEP</vt:lpstr>
      <vt:lpstr>(Ecosystèmes et) Services écosystémiques</vt:lpstr>
      <vt:lpstr>La biodiversité, un objet hiérarchisé</vt:lpstr>
      <vt:lpstr>La biodiversité comme tissu vivant de la planète</vt:lpstr>
      <vt:lpstr>Ecosystèmes</vt:lpstr>
      <vt:lpstr>Historiquement, deux façons « biologiques » d’aborder la biodiversité</vt:lpstr>
      <vt:lpstr>Crise de la biodiversité (1)</vt:lpstr>
      <vt:lpstr>Crise de la biodiversité (2)</vt:lpstr>
      <vt:lpstr>Dépendance des sociétés humaines vis-à-vis de la biodiversité/nature</vt:lpstr>
      <vt:lpstr>Apparition de la notion de service écosystémique</vt:lpstr>
      <vt:lpstr>Valeur instrumentale (utilitaire)</vt:lpstr>
      <vt:lpstr>Millennium Ecosystem Assessment</vt:lpstr>
      <vt:lpstr>Les différents types de services écosystémiques</vt:lpstr>
      <vt:lpstr>Services d’approvisionnement</vt:lpstr>
      <vt:lpstr>Services d’approvisionnement</vt:lpstr>
      <vt:lpstr>Services de régulation environnementale</vt:lpstr>
      <vt:lpstr>Services de régulation environnementale</vt:lpstr>
      <vt:lpstr>Recyclage de la matière organique</vt:lpstr>
      <vt:lpstr>Services culturels</vt:lpstr>
      <vt:lpstr>Rôle de la biodiversité dans la fourniture des services écosystémiques ?</vt:lpstr>
      <vt:lpstr>Fonctionnement des écosystèmes et services écosystémiques</vt:lpstr>
      <vt:lpstr>Relation diversité / productivité des écosystèmes</vt:lpstr>
      <vt:lpstr>Le fonctionnement des écosystèmes (et donc les services) dépend de la biodiversité</vt:lpstr>
      <vt:lpstr>Rôle de la « nature ordinaire » et des espèces communes</vt:lpstr>
      <vt:lpstr>Double constat</vt:lpstr>
      <vt:lpstr>Compromis entre services</vt:lpstr>
      <vt:lpstr>Approches pour la monétarisation</vt:lpstr>
      <vt:lpstr>Etude TEEB (The Economics of Ecosystems and Biodiversity)</vt:lpstr>
      <vt:lpstr>Un exemple d’arbitrage en faveur de la régulation environnementale</vt:lpstr>
      <vt:lpstr>Un exemple d’évaluation des services culturels</vt:lpstr>
      <vt:lpstr>Controverse autour de  (la monétarisation des) services</vt:lpstr>
      <vt:lpstr>Controverses Nord/Sud</vt:lpstr>
      <vt:lpstr>Des désaccords entre chercheurs sur (la monétarisation des) services</vt:lpstr>
      <vt:lpstr>Quelles solutions pour conserver la biodiversité et les services ?</vt:lpstr>
      <vt:lpstr>Vigie-nature école,  une solution de reconnexion ?</vt:lpstr>
      <vt:lpstr>Conclusions</vt:lpstr>
      <vt:lpstr>Bibliographie et ressources</vt:lpstr>
      <vt:lpstr>Merci !</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Conférence “Services écosystémiques”</dc:title>
  <dc:creator/>
  <cp:lastModifiedBy/>
  <cp:revision>87</cp:revision>
  <cp:lastPrinted>2019-03-20T18:08:10Z</cp:lastPrinted>
  <dcterms:created xsi:type="dcterms:W3CDTF">2019-02-18T10:13:58Z</dcterms:created>
  <dcterms:modified xsi:type="dcterms:W3CDTF">2019-05-26T06:21:20Z</dcterms:modified>
</cp:coreProperties>
</file>